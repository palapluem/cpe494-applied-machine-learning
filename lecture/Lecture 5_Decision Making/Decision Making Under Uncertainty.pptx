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65"/>
  </p:notesMasterIdLst>
  <p:handoutMasterIdLst>
    <p:handoutMasterId r:id="rId66"/>
  </p:handoutMasterIdLst>
  <p:sldIdLst>
    <p:sldId id="293" r:id="rId2"/>
    <p:sldId id="370" r:id="rId3"/>
    <p:sldId id="371" r:id="rId4"/>
    <p:sldId id="425" r:id="rId5"/>
    <p:sldId id="421" r:id="rId6"/>
    <p:sldId id="422" r:id="rId7"/>
    <p:sldId id="423" r:id="rId8"/>
    <p:sldId id="424" r:id="rId9"/>
    <p:sldId id="426" r:id="rId10"/>
    <p:sldId id="427" r:id="rId11"/>
    <p:sldId id="428" r:id="rId12"/>
    <p:sldId id="431" r:id="rId13"/>
    <p:sldId id="432" r:id="rId14"/>
    <p:sldId id="441" r:id="rId15"/>
    <p:sldId id="435" r:id="rId16"/>
    <p:sldId id="442" r:id="rId17"/>
    <p:sldId id="443" r:id="rId18"/>
    <p:sldId id="454" r:id="rId19"/>
    <p:sldId id="455" r:id="rId20"/>
    <p:sldId id="450" r:id="rId21"/>
    <p:sldId id="448" r:id="rId22"/>
    <p:sldId id="444" r:id="rId23"/>
    <p:sldId id="447" r:id="rId24"/>
    <p:sldId id="452" r:id="rId25"/>
    <p:sldId id="453" r:id="rId26"/>
    <p:sldId id="446" r:id="rId27"/>
    <p:sldId id="451" r:id="rId28"/>
    <p:sldId id="430" r:id="rId29"/>
    <p:sldId id="372" r:id="rId30"/>
    <p:sldId id="375" r:id="rId31"/>
    <p:sldId id="376" r:id="rId32"/>
    <p:sldId id="377" r:id="rId33"/>
    <p:sldId id="378" r:id="rId34"/>
    <p:sldId id="379" r:id="rId35"/>
    <p:sldId id="380" r:id="rId36"/>
    <p:sldId id="381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89" r:id="rId45"/>
    <p:sldId id="390" r:id="rId46"/>
    <p:sldId id="391" r:id="rId47"/>
    <p:sldId id="392" r:id="rId48"/>
    <p:sldId id="393" r:id="rId49"/>
    <p:sldId id="394" r:id="rId50"/>
    <p:sldId id="395" r:id="rId51"/>
    <p:sldId id="396" r:id="rId52"/>
    <p:sldId id="397" r:id="rId53"/>
    <p:sldId id="398" r:id="rId54"/>
    <p:sldId id="399" r:id="rId55"/>
    <p:sldId id="403" r:id="rId56"/>
    <p:sldId id="409" r:id="rId57"/>
    <p:sldId id="410" r:id="rId58"/>
    <p:sldId id="411" r:id="rId59"/>
    <p:sldId id="420" r:id="rId60"/>
    <p:sldId id="412" r:id="rId61"/>
    <p:sldId id="456" r:id="rId62"/>
    <p:sldId id="413" r:id="rId63"/>
    <p:sldId id="414" r:id="rId64"/>
  </p:sldIdLst>
  <p:sldSz cx="9144000" cy="6858000" type="screen4x3"/>
  <p:notesSz cx="6648450" cy="97821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3800"/>
    <a:srgbClr val="99FFCC"/>
    <a:srgbClr val="FFF4E9"/>
    <a:srgbClr val="CC6600"/>
    <a:srgbClr val="CC0000"/>
    <a:srgbClr val="442D00"/>
    <a:srgbClr val="F4F7FE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07" autoAdjust="0"/>
    <p:restoredTop sz="94660"/>
  </p:normalViewPr>
  <p:slideViewPr>
    <p:cSldViewPr>
      <p:cViewPr varScale="1">
        <p:scale>
          <a:sx n="126" d="100"/>
          <a:sy n="126" d="100"/>
        </p:scale>
        <p:origin x="1744" y="192"/>
      </p:cViewPr>
      <p:guideLst>
        <p:guide orient="horz" pos="2592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3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5.xml"/><Relationship Id="rId2" Type="http://schemas.openxmlformats.org/officeDocument/2006/relationships/slide" Target="slides/slide31.xml"/><Relationship Id="rId1" Type="http://schemas.openxmlformats.org/officeDocument/2006/relationships/slide" Target="slides/slide3.xml"/><Relationship Id="rId5" Type="http://schemas.openxmlformats.org/officeDocument/2006/relationships/slide" Target="slides/slide60.xml"/><Relationship Id="rId4" Type="http://schemas.openxmlformats.org/officeDocument/2006/relationships/slide" Target="slides/slide5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5" tIns="46678" rIns="93355" bIns="46678" numCol="1" anchor="t" anchorCtr="0" compatLnSpc="1">
            <a:prstTxWarp prst="textNoShape">
              <a:avLst/>
            </a:prstTxWarp>
          </a:bodyPr>
          <a:lstStyle>
            <a:lvl1pPr defTabSz="933450" eaLnBrk="1" hangingPunct="1"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5" tIns="46678" rIns="93355" bIns="46678" numCol="1" anchor="t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5" tIns="46678" rIns="93355" bIns="46678" numCol="1" anchor="b" anchorCtr="0" compatLnSpc="1">
            <a:prstTxWarp prst="textNoShape">
              <a:avLst/>
            </a:prstTxWarp>
          </a:bodyPr>
          <a:lstStyle>
            <a:lvl1pPr defTabSz="933450" eaLnBrk="1" hangingPunct="1"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5" tIns="46678" rIns="93355" bIns="46678" numCol="1" anchor="b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fld id="{CD7B5905-C718-453B-B689-5252E82B66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5" tIns="46678" rIns="93355" bIns="46678" numCol="1" anchor="t" anchorCtr="0" compatLnSpc="1">
            <a:prstTxWarp prst="textNoShape">
              <a:avLst/>
            </a:prstTxWarp>
          </a:bodyPr>
          <a:lstStyle>
            <a:lvl1pPr defTabSz="933450" eaLnBrk="1" hangingPunct="1"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5" tIns="46678" rIns="93355" bIns="46678" numCol="1" anchor="t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3425"/>
            <a:ext cx="4889500" cy="3668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8200"/>
            <a:ext cx="48768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5" tIns="46678" rIns="93355" bIns="46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5" tIns="46678" rIns="93355" bIns="46678" numCol="1" anchor="b" anchorCtr="0" compatLnSpc="1">
            <a:prstTxWarp prst="textNoShape">
              <a:avLst/>
            </a:prstTxWarp>
          </a:bodyPr>
          <a:lstStyle>
            <a:lvl1pPr defTabSz="933450" eaLnBrk="1" hangingPunct="1"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5" tIns="46678" rIns="93355" bIns="46678" numCol="1" anchor="b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fld id="{91496E10-F940-4610-8BE7-1FC5370E7C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E31902-5D0D-42A5-AA34-BAD1B2C4334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53187A-B4A8-47DF-BF9E-8D7D48D3C1B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592930-4C4E-42F5-9FEB-C184FFECEC3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CBD1A2-6BA4-45B4-8EDA-B0398EE1EB7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61C369-371A-4CDA-864B-B1411B701CD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20C272-58CD-46AC-A0C4-56354D8E2A9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7771A5-45DC-4B5F-99FB-62317A36FFD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0682C3-507E-4EF6-9993-79E09CCA0E3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9B8385-BAC3-4677-BFE5-9761B386DFD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C3F711-D1E9-4FF5-90F9-8924725B507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7742C8-9AF8-4368-B954-1396AB97821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FC6D1-0FB0-4C56-8692-E7BCACCFF98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BEF7ED-7CCC-4F09-9ED5-262574C2D180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BE0D7A-9B7B-451D-81AB-44B610FF314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599642-3941-4418-90A0-151C47AA7C5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A1CB37-DE03-4231-803A-FD3FB1A95AC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A8AE33-2B66-4605-8A8D-0966E18EE7F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C39469-3867-4721-8AD9-5A5639B0762E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5D22F4-4662-454F-9D8B-DB59C46D67B2}" type="slidenum">
              <a:rPr lang="he-IL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698A49-1237-4241-81C9-7A1719BA780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5EBC2A-326B-418D-96CB-D4A0493663B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575768-3C1F-4893-9A8B-88D98EFCA917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56103F-DBC0-462D-93D1-2171267EEA3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399736-D05F-4E55-BC3A-81AA40C13AF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BA33E8-F424-4661-BB3C-274AE5088CA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DB8004-BD30-4EA7-83D8-CC3A50CC083E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915135-3F01-4211-8404-39A3D07371BF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298C45-F9B2-4297-B5EB-0928D03517B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810CF2-F73D-4B20-862D-E079284F37DD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F76E18-0FCD-4272-94CE-D3AAB9D9A644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3DE048-A95F-49C0-9BBE-DAF4C937C1E5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A12DD9-E652-4BC9-ACA5-0A2160247908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F8E9ED-A24F-432D-96CC-3D1EAB70C55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012B5D-D8BE-4FE0-95E9-C17FE42135C6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70C435-DF6C-48E0-82B2-52EDCEEE194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D27C89-D57F-4CF4-B36E-DFC310C10252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05C52D-1D5F-462E-A9C1-5A06C05AE332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DBF632-C235-43FD-8397-A2644F21B130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7684EF-A4E3-4885-B0A2-8C0247661E6B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2E1409-756A-4E06-99D9-BA2CE4135C93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E1317D-88F4-4532-82C9-EF1ECC5FE519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BE8009-ED95-4089-864B-79475187EBE0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18F82A-C4E9-44F6-B439-9B28D7784019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3D12CA-63E4-43A0-8FF4-643393687B37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F852F9-CD4D-485B-B943-75C16944D8B8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9EEB0D-B284-46C1-9C27-6885274A3620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2EE7F1-A239-4197-AD9A-C9B20D59FED0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57FF96-4EB9-4C15-BD89-E0E31A71ED8F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B30127-2EC8-47AE-97C8-621F8D4465D5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1EB186-1C3F-407F-98DE-4B5D62052E86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CE0819-720C-49A9-8460-75C81751DC24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117C9D-B622-490A-9B08-1B5C93648D61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827A4-DFDC-49C5-A4EE-DF180AB4ED90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95CD3-C493-4D7E-97FC-B95A3B9A7C9B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8922C1-FC17-4AFC-A7C6-C8CAA66B4907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249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2C451B-25EB-417A-947D-EF8FF8C63297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513E54-8192-428A-855D-1949B35C8836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85C3CD-31C8-4EBF-8CD1-8CA9B19109F3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222582-F559-41DD-B834-0A133EA58F52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97D046-2A67-4AD5-B45A-9054974BDA46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300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F35D4C-5A11-4E8D-9D6B-8BA49ADD329C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24D97-B14C-420A-829E-D3029ABEE1F1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h-TH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121785-08A2-4D65-8142-C3BC782901CE}" type="slidenum">
              <a:rPr lang="en-US" smtClean="0"/>
              <a:pPr/>
              <a:t>63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</p:grpSp>
      </p:grpSp>
      <p:sp>
        <p:nvSpPr>
          <p:cNvPr id="2857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57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9E5BC-69E7-4219-B2C0-8A0258C594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FF287D-7ED2-4308-8063-29B1FBC486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B54B4-B098-43E5-8DDD-B089DE2296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E49D4-F137-44F7-97A0-5437AAE73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300FA-FBA2-423F-B299-1E21868D1A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1123C-07E6-4F7F-8483-16D1F0FBC3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BB44D-0F12-456E-982D-BF64D7D30E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86064-95E1-4795-8C9C-DF087598C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h-TH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8BF06-A021-407F-A868-3D87EAB24E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7212F-9533-4ADF-93EB-A93FF3F5D9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D41C5-8879-4F8B-A56B-35A857A31B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6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2063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2846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6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</p:grpSp>
          <p:grpSp>
            <p:nvGrpSpPr>
              <p:cNvPr id="2064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2847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  <p:sp>
              <p:nvSpPr>
                <p:cNvPr id="2847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th-TH"/>
                </a:p>
              </p:txBody>
            </p:sp>
          </p:grpSp>
        </p:grpSp>
        <p:sp>
          <p:nvSpPr>
            <p:cNvPr id="2847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th-TH"/>
            </a:p>
          </p:txBody>
        </p:sp>
        <p:sp>
          <p:nvSpPr>
            <p:cNvPr id="2847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th-TH"/>
            </a:p>
          </p:txBody>
        </p:sp>
        <p:grpSp>
          <p:nvGrpSpPr>
            <p:cNvPr id="2059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2847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  <p:sp>
            <p:nvSpPr>
              <p:cNvPr id="2847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  <p:sp>
            <p:nvSpPr>
              <p:cNvPr id="2847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th-TH"/>
              </a:p>
            </p:txBody>
          </p:sp>
        </p:grpSp>
      </p:grpSp>
      <p:sp>
        <p:nvSpPr>
          <p:cNvPr id="2051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2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47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47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47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fld id="{57A704EE-6764-4382-AD72-80AD0C35AF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4.xml"/><Relationship Id="rId1" Type="http://schemas.openxmlformats.org/officeDocument/2006/relationships/video" Target="file:///C:/jc/Old/latombe/ao/ttracking/mov/ser.avi" TargetMode="External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4.xml"/><Relationship Id="rId1" Type="http://schemas.openxmlformats.org/officeDocument/2006/relationships/video" Target="file:///C:/jc/Old/latombe/ao/ttracking/mov/pla.avi" TargetMode="External"/><Relationship Id="rId4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51460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br>
              <a:rPr 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Decision Making Under Uncertainty</a:t>
            </a:r>
            <a:endParaRPr lang="en-US" sz="28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9" name="Rectangle 7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4267200"/>
            <a:ext cx="7162800" cy="1752600"/>
          </a:xfrm>
        </p:spPr>
        <p:txBody>
          <a:bodyPr/>
          <a:lstStyle/>
          <a:p>
            <a:pPr algn="l" eaLnBrk="1" hangingPunct="1"/>
            <a:r>
              <a:rPr lang="en-US" sz="2800" b="1">
                <a:solidFill>
                  <a:srgbClr val="CC6600"/>
                </a:solidFill>
                <a:latin typeface="Courier New" pitchFamily="49" charset="0"/>
              </a:rPr>
              <a:t>Russell and Norvig: ch 16, 17</a:t>
            </a:r>
            <a:endParaRPr lang="en-US" sz="2800" b="1">
              <a:solidFill>
                <a:srgbClr val="CC66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Utility-Based Agent</a:t>
            </a:r>
          </a:p>
        </p:txBody>
      </p:sp>
      <p:grpSp>
        <p:nvGrpSpPr>
          <p:cNvPr id="5123" name="Group 3"/>
          <p:cNvGrpSpPr>
            <a:grpSpLocks/>
          </p:cNvGrpSpPr>
          <p:nvPr/>
        </p:nvGrpSpPr>
        <p:grpSpPr bwMode="auto">
          <a:xfrm>
            <a:off x="1828800" y="1905000"/>
            <a:ext cx="5943600" cy="3548063"/>
            <a:chOff x="1152" y="1221"/>
            <a:chExt cx="3744" cy="2235"/>
          </a:xfrm>
        </p:grpSpPr>
        <p:grpSp>
          <p:nvGrpSpPr>
            <p:cNvPr id="5129" name="Group 4"/>
            <p:cNvGrpSpPr>
              <a:grpSpLocks/>
            </p:cNvGrpSpPr>
            <p:nvPr/>
          </p:nvGrpSpPr>
          <p:grpSpPr bwMode="auto">
            <a:xfrm>
              <a:off x="2160" y="1480"/>
              <a:ext cx="2736" cy="1288"/>
              <a:chOff x="1968" y="1480"/>
              <a:chExt cx="2736" cy="1288"/>
            </a:xfrm>
          </p:grpSpPr>
          <p:sp>
            <p:nvSpPr>
              <p:cNvPr id="5154" name="Oval 5"/>
              <p:cNvSpPr>
                <a:spLocks noChangeArrowheads="1"/>
              </p:cNvSpPr>
              <p:nvPr/>
            </p:nvSpPr>
            <p:spPr bwMode="auto">
              <a:xfrm>
                <a:off x="3360" y="1824"/>
                <a:ext cx="1344" cy="912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r>
                  <a:rPr lang="en-US" sz="2400">
                    <a:latin typeface="Tahoma" pitchFamily="34" charset="0"/>
                  </a:rPr>
                  <a:t>environment</a:t>
                </a:r>
              </a:p>
            </p:txBody>
          </p:sp>
          <p:sp>
            <p:nvSpPr>
              <p:cNvPr id="5155" name="Freeform 6"/>
              <p:cNvSpPr>
                <a:spLocks/>
              </p:cNvSpPr>
              <p:nvPr/>
            </p:nvSpPr>
            <p:spPr bwMode="auto">
              <a:xfrm>
                <a:off x="1968" y="1480"/>
                <a:ext cx="1584" cy="488"/>
              </a:xfrm>
              <a:custGeom>
                <a:avLst/>
                <a:gdLst>
                  <a:gd name="T0" fmla="*/ 1584 w 1584"/>
                  <a:gd name="T1" fmla="*/ 488 h 488"/>
                  <a:gd name="T2" fmla="*/ 1296 w 1584"/>
                  <a:gd name="T3" fmla="*/ 152 h 488"/>
                  <a:gd name="T4" fmla="*/ 768 w 1584"/>
                  <a:gd name="T5" fmla="*/ 8 h 488"/>
                  <a:gd name="T6" fmla="*/ 288 w 1584"/>
                  <a:gd name="T7" fmla="*/ 104 h 488"/>
                  <a:gd name="T8" fmla="*/ 0 w 1584"/>
                  <a:gd name="T9" fmla="*/ 248 h 4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4"/>
                  <a:gd name="T16" fmla="*/ 0 h 488"/>
                  <a:gd name="T17" fmla="*/ 1584 w 1584"/>
                  <a:gd name="T18" fmla="*/ 488 h 4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4" h="488">
                    <a:moveTo>
                      <a:pt x="1584" y="488"/>
                    </a:moveTo>
                    <a:cubicBezTo>
                      <a:pt x="1508" y="360"/>
                      <a:pt x="1432" y="232"/>
                      <a:pt x="1296" y="152"/>
                    </a:cubicBezTo>
                    <a:cubicBezTo>
                      <a:pt x="1160" y="72"/>
                      <a:pt x="936" y="16"/>
                      <a:pt x="768" y="8"/>
                    </a:cubicBezTo>
                    <a:cubicBezTo>
                      <a:pt x="600" y="0"/>
                      <a:pt x="416" y="64"/>
                      <a:pt x="288" y="104"/>
                    </a:cubicBezTo>
                    <a:cubicBezTo>
                      <a:pt x="160" y="144"/>
                      <a:pt x="48" y="224"/>
                      <a:pt x="0" y="248"/>
                    </a:cubicBezTo>
                  </a:path>
                </a:pathLst>
              </a:custGeom>
              <a:noFill/>
              <a:ln w="38100" cmpd="sng">
                <a:solidFill>
                  <a:srgbClr val="F81706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156" name="Freeform 7"/>
              <p:cNvSpPr>
                <a:spLocks/>
              </p:cNvSpPr>
              <p:nvPr/>
            </p:nvSpPr>
            <p:spPr bwMode="auto">
              <a:xfrm>
                <a:off x="2208" y="2496"/>
                <a:ext cx="1200" cy="272"/>
              </a:xfrm>
              <a:custGeom>
                <a:avLst/>
                <a:gdLst>
                  <a:gd name="T0" fmla="*/ 0 w 1200"/>
                  <a:gd name="T1" fmla="*/ 0 h 272"/>
                  <a:gd name="T2" fmla="*/ 384 w 1200"/>
                  <a:gd name="T3" fmla="*/ 240 h 272"/>
                  <a:gd name="T4" fmla="*/ 864 w 1200"/>
                  <a:gd name="T5" fmla="*/ 192 h 272"/>
                  <a:gd name="T6" fmla="*/ 1200 w 1200"/>
                  <a:gd name="T7" fmla="*/ 0 h 2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0"/>
                  <a:gd name="T13" fmla="*/ 0 h 272"/>
                  <a:gd name="T14" fmla="*/ 1200 w 1200"/>
                  <a:gd name="T15" fmla="*/ 272 h 2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0" h="272">
                    <a:moveTo>
                      <a:pt x="0" y="0"/>
                    </a:moveTo>
                    <a:cubicBezTo>
                      <a:pt x="120" y="104"/>
                      <a:pt x="240" y="208"/>
                      <a:pt x="384" y="240"/>
                    </a:cubicBezTo>
                    <a:cubicBezTo>
                      <a:pt x="528" y="272"/>
                      <a:pt x="728" y="232"/>
                      <a:pt x="864" y="192"/>
                    </a:cubicBezTo>
                    <a:cubicBezTo>
                      <a:pt x="1000" y="152"/>
                      <a:pt x="1144" y="32"/>
                      <a:pt x="1200" y="0"/>
                    </a:cubicBezTo>
                  </a:path>
                </a:pathLst>
              </a:custGeom>
              <a:noFill/>
              <a:ln w="38100" cmpd="sng">
                <a:solidFill>
                  <a:srgbClr val="339933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/>
              <a:lstStyle/>
              <a:p>
                <a:endParaRPr lang="th-TH"/>
              </a:p>
            </p:txBody>
          </p:sp>
        </p:grpSp>
        <p:grpSp>
          <p:nvGrpSpPr>
            <p:cNvPr id="5130" name="Group 8"/>
            <p:cNvGrpSpPr>
              <a:grpSpLocks/>
            </p:cNvGrpSpPr>
            <p:nvPr/>
          </p:nvGrpSpPr>
          <p:grpSpPr bwMode="auto">
            <a:xfrm>
              <a:off x="1152" y="1632"/>
              <a:ext cx="768" cy="1248"/>
              <a:chOff x="960" y="1632"/>
              <a:chExt cx="768" cy="1248"/>
            </a:xfrm>
          </p:grpSpPr>
          <p:sp>
            <p:nvSpPr>
              <p:cNvPr id="5152" name="Rectangle 9"/>
              <p:cNvSpPr>
                <a:spLocks noChangeArrowheads="1"/>
              </p:cNvSpPr>
              <p:nvPr/>
            </p:nvSpPr>
            <p:spPr bwMode="auto">
              <a:xfrm>
                <a:off x="960" y="1632"/>
                <a:ext cx="768" cy="12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lang="th-TH" sz="2400">
                  <a:solidFill>
                    <a:srgbClr val="CC6600"/>
                  </a:solidFill>
                  <a:latin typeface="Tahoma" pitchFamily="34" charset="0"/>
                </a:endParaRPr>
              </a:p>
            </p:txBody>
          </p:sp>
          <p:sp>
            <p:nvSpPr>
              <p:cNvPr id="5153" name="Text Box 10"/>
              <p:cNvSpPr txBox="1">
                <a:spLocks noChangeArrowheads="1"/>
              </p:cNvSpPr>
              <p:nvPr/>
            </p:nvSpPr>
            <p:spPr bwMode="auto">
              <a:xfrm>
                <a:off x="1056" y="2352"/>
                <a:ext cx="5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2400">
                    <a:solidFill>
                      <a:srgbClr val="CC6600"/>
                    </a:solidFill>
                    <a:latin typeface="Tahoma" pitchFamily="34" charset="0"/>
                  </a:rPr>
                  <a:t>agent</a:t>
                </a:r>
              </a:p>
            </p:txBody>
          </p:sp>
        </p:grpSp>
        <p:grpSp>
          <p:nvGrpSpPr>
            <p:cNvPr id="5131" name="Group 11"/>
            <p:cNvGrpSpPr>
              <a:grpSpLocks/>
            </p:cNvGrpSpPr>
            <p:nvPr/>
          </p:nvGrpSpPr>
          <p:grpSpPr bwMode="auto">
            <a:xfrm>
              <a:off x="1296" y="1872"/>
              <a:ext cx="480" cy="327"/>
              <a:chOff x="1104" y="1872"/>
              <a:chExt cx="480" cy="327"/>
            </a:xfrm>
          </p:grpSpPr>
          <p:sp>
            <p:nvSpPr>
              <p:cNvPr id="5150" name="Rectangle 12"/>
              <p:cNvSpPr>
                <a:spLocks noChangeArrowheads="1"/>
              </p:cNvSpPr>
              <p:nvPr/>
            </p:nvSpPr>
            <p:spPr bwMode="auto">
              <a:xfrm>
                <a:off x="1104" y="1872"/>
                <a:ext cx="48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5151" name="Text Box 13"/>
              <p:cNvSpPr txBox="1">
                <a:spLocks noChangeArrowheads="1"/>
              </p:cNvSpPr>
              <p:nvPr/>
            </p:nvSpPr>
            <p:spPr bwMode="auto">
              <a:xfrm>
                <a:off x="1200" y="1872"/>
                <a:ext cx="243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2800" b="1">
                    <a:solidFill>
                      <a:srgbClr val="CC6600"/>
                    </a:solidFill>
                    <a:latin typeface="Tahoma" pitchFamily="34" charset="0"/>
                  </a:rPr>
                  <a:t>?</a:t>
                </a:r>
              </a:p>
            </p:txBody>
          </p:sp>
        </p:grpSp>
        <p:grpSp>
          <p:nvGrpSpPr>
            <p:cNvPr id="5132" name="Group 14"/>
            <p:cNvGrpSpPr>
              <a:grpSpLocks/>
            </p:cNvGrpSpPr>
            <p:nvPr/>
          </p:nvGrpSpPr>
          <p:grpSpPr bwMode="auto">
            <a:xfrm>
              <a:off x="1344" y="1221"/>
              <a:ext cx="1515" cy="2235"/>
              <a:chOff x="1152" y="1221"/>
              <a:chExt cx="1515" cy="2235"/>
            </a:xfrm>
          </p:grpSpPr>
          <p:grpSp>
            <p:nvGrpSpPr>
              <p:cNvPr id="5133" name="Group 15"/>
              <p:cNvGrpSpPr>
                <a:grpSpLocks/>
              </p:cNvGrpSpPr>
              <p:nvPr/>
            </p:nvGrpSpPr>
            <p:grpSpPr bwMode="auto">
              <a:xfrm>
                <a:off x="1536" y="2208"/>
                <a:ext cx="912" cy="432"/>
                <a:chOff x="1536" y="2112"/>
                <a:chExt cx="912" cy="432"/>
              </a:xfrm>
            </p:grpSpPr>
            <p:grpSp>
              <p:nvGrpSpPr>
                <p:cNvPr id="5143" name="Group 16"/>
                <p:cNvGrpSpPr>
                  <a:grpSpLocks/>
                </p:cNvGrpSpPr>
                <p:nvPr/>
              </p:nvGrpSpPr>
              <p:grpSpPr bwMode="auto">
                <a:xfrm>
                  <a:off x="1536" y="2160"/>
                  <a:ext cx="816" cy="384"/>
                  <a:chOff x="1536" y="2160"/>
                  <a:chExt cx="816" cy="384"/>
                </a:xfrm>
              </p:grpSpPr>
              <p:sp>
                <p:nvSpPr>
                  <p:cNvPr id="5148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2160"/>
                    <a:ext cx="384" cy="384"/>
                  </a:xfrm>
                  <a:prstGeom prst="line">
                    <a:avLst/>
                  </a:prstGeom>
                  <a:noFill/>
                  <a:ln w="57150">
                    <a:solidFill>
                      <a:srgbClr val="339933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th-TH"/>
                  </a:p>
                </p:txBody>
              </p:sp>
              <p:sp>
                <p:nvSpPr>
                  <p:cNvPr id="5149" name="Line 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20" y="2208"/>
                    <a:ext cx="432" cy="336"/>
                  </a:xfrm>
                  <a:prstGeom prst="line">
                    <a:avLst/>
                  </a:prstGeom>
                  <a:noFill/>
                  <a:ln w="57150">
                    <a:solidFill>
                      <a:srgbClr val="339933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th-TH"/>
                  </a:p>
                </p:txBody>
              </p:sp>
            </p:grpSp>
            <p:grpSp>
              <p:nvGrpSpPr>
                <p:cNvPr id="5144" name="Group 19"/>
                <p:cNvGrpSpPr>
                  <a:grpSpLocks/>
                </p:cNvGrpSpPr>
                <p:nvPr/>
              </p:nvGrpSpPr>
              <p:grpSpPr bwMode="auto">
                <a:xfrm>
                  <a:off x="2304" y="2112"/>
                  <a:ext cx="144" cy="144"/>
                  <a:chOff x="2304" y="2112"/>
                  <a:chExt cx="144" cy="144"/>
                </a:xfrm>
              </p:grpSpPr>
              <p:sp>
                <p:nvSpPr>
                  <p:cNvPr id="5145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160"/>
                    <a:ext cx="96" cy="96"/>
                  </a:xfrm>
                  <a:prstGeom prst="line">
                    <a:avLst/>
                  </a:prstGeom>
                  <a:noFill/>
                  <a:ln w="57150">
                    <a:solidFill>
                      <a:srgbClr val="339933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th-TH"/>
                  </a:p>
                </p:txBody>
              </p:sp>
              <p:sp>
                <p:nvSpPr>
                  <p:cNvPr id="5146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04" y="2112"/>
                    <a:ext cx="48" cy="48"/>
                  </a:xfrm>
                  <a:prstGeom prst="line">
                    <a:avLst/>
                  </a:prstGeom>
                  <a:noFill/>
                  <a:ln w="57150">
                    <a:solidFill>
                      <a:srgbClr val="339933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th-TH"/>
                  </a:p>
                </p:txBody>
              </p:sp>
              <p:sp>
                <p:nvSpPr>
                  <p:cNvPr id="5147" name="Line 2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0" y="2208"/>
                    <a:ext cx="48" cy="48"/>
                  </a:xfrm>
                  <a:prstGeom prst="line">
                    <a:avLst/>
                  </a:prstGeom>
                  <a:noFill/>
                  <a:ln w="57150">
                    <a:solidFill>
                      <a:srgbClr val="339933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th-TH"/>
                  </a:p>
                </p:txBody>
              </p:sp>
            </p:grpSp>
          </p:grpSp>
          <p:grpSp>
            <p:nvGrpSpPr>
              <p:cNvPr id="5134" name="Group 23"/>
              <p:cNvGrpSpPr>
                <a:grpSpLocks/>
              </p:cNvGrpSpPr>
              <p:nvPr/>
            </p:nvGrpSpPr>
            <p:grpSpPr bwMode="auto">
              <a:xfrm>
                <a:off x="1152" y="2784"/>
                <a:ext cx="96" cy="672"/>
                <a:chOff x="1152" y="2784"/>
                <a:chExt cx="96" cy="672"/>
              </a:xfrm>
            </p:grpSpPr>
            <p:sp>
              <p:nvSpPr>
                <p:cNvPr id="5141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1152" y="2784"/>
                  <a:ext cx="0" cy="672"/>
                </a:xfrm>
                <a:prstGeom prst="line">
                  <a:avLst/>
                </a:prstGeom>
                <a:noFill/>
                <a:ln w="57150">
                  <a:solidFill>
                    <a:srgbClr val="339933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th-TH"/>
                </a:p>
              </p:txBody>
            </p:sp>
            <p:sp>
              <p:nvSpPr>
                <p:cNvPr id="5142" name="Line 25"/>
                <p:cNvSpPr>
                  <a:spLocks noChangeShapeType="1"/>
                </p:cNvSpPr>
                <p:nvPr/>
              </p:nvSpPr>
              <p:spPr bwMode="auto">
                <a:xfrm>
                  <a:off x="1152" y="3456"/>
                  <a:ext cx="96" cy="0"/>
                </a:xfrm>
                <a:prstGeom prst="line">
                  <a:avLst/>
                </a:prstGeom>
                <a:noFill/>
                <a:ln w="57150">
                  <a:solidFill>
                    <a:srgbClr val="339933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th-TH"/>
                </a:p>
              </p:txBody>
            </p:sp>
          </p:grpSp>
          <p:grpSp>
            <p:nvGrpSpPr>
              <p:cNvPr id="5135" name="Group 26"/>
              <p:cNvGrpSpPr>
                <a:grpSpLocks/>
              </p:cNvGrpSpPr>
              <p:nvPr/>
            </p:nvGrpSpPr>
            <p:grpSpPr bwMode="auto">
              <a:xfrm>
                <a:off x="1536" y="2784"/>
                <a:ext cx="96" cy="672"/>
                <a:chOff x="1152" y="2784"/>
                <a:chExt cx="96" cy="672"/>
              </a:xfrm>
            </p:grpSpPr>
            <p:sp>
              <p:nvSpPr>
                <p:cNvPr id="5139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152" y="2784"/>
                  <a:ext cx="0" cy="672"/>
                </a:xfrm>
                <a:prstGeom prst="line">
                  <a:avLst/>
                </a:prstGeom>
                <a:noFill/>
                <a:ln w="57150">
                  <a:solidFill>
                    <a:srgbClr val="339933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th-TH"/>
                </a:p>
              </p:txBody>
            </p:sp>
            <p:sp>
              <p:nvSpPr>
                <p:cNvPr id="5140" name="Line 28"/>
                <p:cNvSpPr>
                  <a:spLocks noChangeShapeType="1"/>
                </p:cNvSpPr>
                <p:nvPr/>
              </p:nvSpPr>
              <p:spPr bwMode="auto">
                <a:xfrm>
                  <a:off x="1152" y="3456"/>
                  <a:ext cx="96" cy="0"/>
                </a:xfrm>
                <a:prstGeom prst="line">
                  <a:avLst/>
                </a:prstGeom>
                <a:noFill/>
                <a:ln w="57150">
                  <a:solidFill>
                    <a:srgbClr val="339933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th-TH"/>
                </a:p>
              </p:txBody>
            </p:sp>
          </p:grpSp>
          <p:sp>
            <p:nvSpPr>
              <p:cNvPr id="5136" name="Freeform 29"/>
              <p:cNvSpPr>
                <a:spLocks/>
              </p:cNvSpPr>
              <p:nvPr/>
            </p:nvSpPr>
            <p:spPr bwMode="auto">
              <a:xfrm>
                <a:off x="1536" y="1632"/>
                <a:ext cx="384" cy="197"/>
              </a:xfrm>
              <a:custGeom>
                <a:avLst/>
                <a:gdLst>
                  <a:gd name="T0" fmla="*/ 0 w 384"/>
                  <a:gd name="T1" fmla="*/ 96 h 197"/>
                  <a:gd name="T2" fmla="*/ 384 w 384"/>
                  <a:gd name="T3" fmla="*/ 0 h 197"/>
                  <a:gd name="T4" fmla="*/ 365 w 384"/>
                  <a:gd name="T5" fmla="*/ 197 h 197"/>
                  <a:gd name="T6" fmla="*/ 0 w 384"/>
                  <a:gd name="T7" fmla="*/ 96 h 19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4"/>
                  <a:gd name="T13" fmla="*/ 0 h 197"/>
                  <a:gd name="T14" fmla="*/ 384 w 384"/>
                  <a:gd name="T15" fmla="*/ 197 h 19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4" h="197">
                    <a:moveTo>
                      <a:pt x="0" y="96"/>
                    </a:moveTo>
                    <a:lnTo>
                      <a:pt x="384" y="0"/>
                    </a:lnTo>
                    <a:cubicBezTo>
                      <a:pt x="378" y="66"/>
                      <a:pt x="371" y="131"/>
                      <a:pt x="365" y="197"/>
                    </a:cubicBez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F81706"/>
              </a:solidFill>
              <a:ln w="9525">
                <a:solidFill>
                  <a:srgbClr val="F8170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137" name="Text Box 30"/>
              <p:cNvSpPr txBox="1">
                <a:spLocks noChangeArrowheads="1"/>
              </p:cNvSpPr>
              <p:nvPr/>
            </p:nvSpPr>
            <p:spPr bwMode="auto">
              <a:xfrm>
                <a:off x="1478" y="1221"/>
                <a:ext cx="75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2400">
                    <a:solidFill>
                      <a:srgbClr val="F81706"/>
                    </a:solidFill>
                    <a:latin typeface="Tahoma" pitchFamily="34" charset="0"/>
                  </a:rPr>
                  <a:t>sensors</a:t>
                </a:r>
              </a:p>
            </p:txBody>
          </p:sp>
          <p:sp>
            <p:nvSpPr>
              <p:cNvPr id="5138" name="Text Box 31"/>
              <p:cNvSpPr txBox="1">
                <a:spLocks noChangeArrowheads="1"/>
              </p:cNvSpPr>
              <p:nvPr/>
            </p:nvSpPr>
            <p:spPr bwMode="auto">
              <a:xfrm>
                <a:off x="1766" y="2757"/>
                <a:ext cx="9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2400">
                    <a:solidFill>
                      <a:srgbClr val="339933"/>
                    </a:solidFill>
                    <a:latin typeface="Tahoma" pitchFamily="34" charset="0"/>
                  </a:rPr>
                  <a:t>actuators</a:t>
                </a:r>
              </a:p>
            </p:txBody>
          </p:sp>
        </p:grp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3492500" y="2413000"/>
            <a:ext cx="2070100" cy="1854200"/>
            <a:chOff x="2200" y="1520"/>
            <a:chExt cx="1304" cy="1168"/>
          </a:xfrm>
        </p:grpSpPr>
        <p:sp>
          <p:nvSpPr>
            <p:cNvPr id="5125" name="Freeform 33"/>
            <p:cNvSpPr>
              <a:spLocks/>
            </p:cNvSpPr>
            <p:nvPr/>
          </p:nvSpPr>
          <p:spPr bwMode="auto">
            <a:xfrm>
              <a:off x="3216" y="2400"/>
              <a:ext cx="288" cy="288"/>
            </a:xfrm>
            <a:custGeom>
              <a:avLst/>
              <a:gdLst>
                <a:gd name="T0" fmla="*/ 0 w 288"/>
                <a:gd name="T1" fmla="*/ 288 h 288"/>
                <a:gd name="T2" fmla="*/ 96 w 288"/>
                <a:gd name="T3" fmla="*/ 144 h 288"/>
                <a:gd name="T4" fmla="*/ 288 w 288"/>
                <a:gd name="T5" fmla="*/ 0 h 288"/>
                <a:gd name="T6" fmla="*/ 0 60000 65536"/>
                <a:gd name="T7" fmla="*/ 0 60000 65536"/>
                <a:gd name="T8" fmla="*/ 0 60000 65536"/>
                <a:gd name="T9" fmla="*/ 0 w 288"/>
                <a:gd name="T10" fmla="*/ 0 h 288"/>
                <a:gd name="T11" fmla="*/ 288 w 28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288">
                  <a:moveTo>
                    <a:pt x="0" y="288"/>
                  </a:moveTo>
                  <a:cubicBezTo>
                    <a:pt x="24" y="240"/>
                    <a:pt x="48" y="192"/>
                    <a:pt x="96" y="144"/>
                  </a:cubicBezTo>
                  <a:cubicBezTo>
                    <a:pt x="144" y="96"/>
                    <a:pt x="256" y="24"/>
                    <a:pt x="288" y="0"/>
                  </a:cubicBezTo>
                </a:path>
              </a:pathLst>
            </a:custGeom>
            <a:noFill/>
            <a:ln w="57150" cmpd="sng">
              <a:solidFill>
                <a:srgbClr val="009900"/>
              </a:solidFill>
              <a:round/>
              <a:headEnd type="none" w="med" len="med"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126" name="Freeform 34"/>
            <p:cNvSpPr>
              <a:spLocks/>
            </p:cNvSpPr>
            <p:nvPr/>
          </p:nvSpPr>
          <p:spPr bwMode="auto">
            <a:xfrm>
              <a:off x="3064" y="2304"/>
              <a:ext cx="432" cy="384"/>
            </a:xfrm>
            <a:custGeom>
              <a:avLst/>
              <a:gdLst>
                <a:gd name="T0" fmla="*/ 0 w 432"/>
                <a:gd name="T1" fmla="*/ 384 h 384"/>
                <a:gd name="T2" fmla="*/ 96 w 432"/>
                <a:gd name="T3" fmla="*/ 240 h 384"/>
                <a:gd name="T4" fmla="*/ 240 w 432"/>
                <a:gd name="T5" fmla="*/ 96 h 384"/>
                <a:gd name="T6" fmla="*/ 432 w 432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384"/>
                <a:gd name="T14" fmla="*/ 432 w 432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384">
                  <a:moveTo>
                    <a:pt x="0" y="384"/>
                  </a:moveTo>
                  <a:cubicBezTo>
                    <a:pt x="28" y="336"/>
                    <a:pt x="56" y="288"/>
                    <a:pt x="96" y="240"/>
                  </a:cubicBezTo>
                  <a:cubicBezTo>
                    <a:pt x="136" y="192"/>
                    <a:pt x="184" y="136"/>
                    <a:pt x="240" y="96"/>
                  </a:cubicBezTo>
                  <a:cubicBezTo>
                    <a:pt x="296" y="56"/>
                    <a:pt x="364" y="28"/>
                    <a:pt x="432" y="0"/>
                  </a:cubicBezTo>
                </a:path>
              </a:pathLst>
            </a:custGeom>
            <a:noFill/>
            <a:ln w="57150" cmpd="sng">
              <a:solidFill>
                <a:srgbClr val="009900"/>
              </a:solidFill>
              <a:round/>
              <a:headEnd type="none" w="med" len="med"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127" name="Freeform 35"/>
            <p:cNvSpPr>
              <a:spLocks/>
            </p:cNvSpPr>
            <p:nvPr/>
          </p:nvSpPr>
          <p:spPr bwMode="auto">
            <a:xfrm>
              <a:off x="2200" y="1520"/>
              <a:ext cx="336" cy="240"/>
            </a:xfrm>
            <a:custGeom>
              <a:avLst/>
              <a:gdLst>
                <a:gd name="T0" fmla="*/ 336 w 336"/>
                <a:gd name="T1" fmla="*/ 0 h 240"/>
                <a:gd name="T2" fmla="*/ 192 w 336"/>
                <a:gd name="T3" fmla="*/ 144 h 240"/>
                <a:gd name="T4" fmla="*/ 0 w 336"/>
                <a:gd name="T5" fmla="*/ 240 h 240"/>
                <a:gd name="T6" fmla="*/ 0 60000 65536"/>
                <a:gd name="T7" fmla="*/ 0 60000 65536"/>
                <a:gd name="T8" fmla="*/ 0 60000 65536"/>
                <a:gd name="T9" fmla="*/ 0 w 336"/>
                <a:gd name="T10" fmla="*/ 0 h 240"/>
                <a:gd name="T11" fmla="*/ 336 w 336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240">
                  <a:moveTo>
                    <a:pt x="336" y="0"/>
                  </a:moveTo>
                  <a:cubicBezTo>
                    <a:pt x="292" y="52"/>
                    <a:pt x="248" y="104"/>
                    <a:pt x="192" y="144"/>
                  </a:cubicBezTo>
                  <a:cubicBezTo>
                    <a:pt x="136" y="184"/>
                    <a:pt x="68" y="212"/>
                    <a:pt x="0" y="240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128" name="Freeform 36"/>
            <p:cNvSpPr>
              <a:spLocks/>
            </p:cNvSpPr>
            <p:nvPr/>
          </p:nvSpPr>
          <p:spPr bwMode="auto">
            <a:xfrm>
              <a:off x="2200" y="1520"/>
              <a:ext cx="336" cy="336"/>
            </a:xfrm>
            <a:custGeom>
              <a:avLst/>
              <a:gdLst>
                <a:gd name="T0" fmla="*/ 336 w 336"/>
                <a:gd name="T1" fmla="*/ 0 h 336"/>
                <a:gd name="T2" fmla="*/ 288 w 336"/>
                <a:gd name="T3" fmla="*/ 144 h 336"/>
                <a:gd name="T4" fmla="*/ 192 w 336"/>
                <a:gd name="T5" fmla="*/ 288 h 336"/>
                <a:gd name="T6" fmla="*/ 0 w 336"/>
                <a:gd name="T7" fmla="*/ 33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336"/>
                <a:gd name="T14" fmla="*/ 336 w 336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336">
                  <a:moveTo>
                    <a:pt x="336" y="0"/>
                  </a:moveTo>
                  <a:cubicBezTo>
                    <a:pt x="324" y="48"/>
                    <a:pt x="312" y="96"/>
                    <a:pt x="288" y="144"/>
                  </a:cubicBezTo>
                  <a:cubicBezTo>
                    <a:pt x="264" y="192"/>
                    <a:pt x="240" y="256"/>
                    <a:pt x="192" y="288"/>
                  </a:cubicBezTo>
                  <a:cubicBezTo>
                    <a:pt x="144" y="320"/>
                    <a:pt x="72" y="328"/>
                    <a:pt x="0" y="336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b="1">
                <a:effectLst>
                  <a:outerShdw blurRad="38100" dist="38100" dir="2700000" algn="tl">
                    <a:srgbClr val="C0C0C0"/>
                  </a:outerShdw>
                </a:effectLst>
              </a:rPr>
              <a:t>Non-deterministic vs. Probabilistic Uncertainty</a:t>
            </a:r>
          </a:p>
        </p:txBody>
      </p:sp>
      <p:grpSp>
        <p:nvGrpSpPr>
          <p:cNvPr id="6147" name="Group 3"/>
          <p:cNvGrpSpPr>
            <a:grpSpLocks/>
          </p:cNvGrpSpPr>
          <p:nvPr/>
        </p:nvGrpSpPr>
        <p:grpSpPr bwMode="auto">
          <a:xfrm>
            <a:off x="1447800" y="1828800"/>
            <a:ext cx="1958975" cy="2057400"/>
            <a:chOff x="912" y="1728"/>
            <a:chExt cx="1234" cy="1296"/>
          </a:xfrm>
        </p:grpSpPr>
        <p:grpSp>
          <p:nvGrpSpPr>
            <p:cNvPr id="6168" name="Group 4"/>
            <p:cNvGrpSpPr>
              <a:grpSpLocks/>
            </p:cNvGrpSpPr>
            <p:nvPr/>
          </p:nvGrpSpPr>
          <p:grpSpPr bwMode="auto">
            <a:xfrm>
              <a:off x="912" y="1728"/>
              <a:ext cx="1008" cy="1248"/>
              <a:chOff x="912" y="1728"/>
              <a:chExt cx="1008" cy="1248"/>
            </a:xfrm>
          </p:grpSpPr>
          <p:grpSp>
            <p:nvGrpSpPr>
              <p:cNvPr id="6172" name="Group 5"/>
              <p:cNvGrpSpPr>
                <a:grpSpLocks/>
              </p:cNvGrpSpPr>
              <p:nvPr/>
            </p:nvGrpSpPr>
            <p:grpSpPr bwMode="auto">
              <a:xfrm>
                <a:off x="912" y="1728"/>
                <a:ext cx="1008" cy="1248"/>
                <a:chOff x="912" y="1728"/>
                <a:chExt cx="1008" cy="1248"/>
              </a:xfrm>
            </p:grpSpPr>
            <p:sp>
              <p:nvSpPr>
                <p:cNvPr id="6174" name="Freeform 6"/>
                <p:cNvSpPr>
                  <a:spLocks/>
                </p:cNvSpPr>
                <p:nvPr/>
              </p:nvSpPr>
              <p:spPr bwMode="auto">
                <a:xfrm>
                  <a:off x="912" y="1728"/>
                  <a:ext cx="1008" cy="1248"/>
                </a:xfrm>
                <a:custGeom>
                  <a:avLst/>
                  <a:gdLst>
                    <a:gd name="T0" fmla="*/ 1008 w 1008"/>
                    <a:gd name="T1" fmla="*/ 0 h 1248"/>
                    <a:gd name="T2" fmla="*/ 432 w 1008"/>
                    <a:gd name="T3" fmla="*/ 336 h 1248"/>
                    <a:gd name="T4" fmla="*/ 96 w 1008"/>
                    <a:gd name="T5" fmla="*/ 864 h 1248"/>
                    <a:gd name="T6" fmla="*/ 0 w 1008"/>
                    <a:gd name="T7" fmla="*/ 1248 h 12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8"/>
                    <a:gd name="T13" fmla="*/ 0 h 1248"/>
                    <a:gd name="T14" fmla="*/ 1008 w 1008"/>
                    <a:gd name="T15" fmla="*/ 1248 h 12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8" h="1248">
                      <a:moveTo>
                        <a:pt x="1008" y="0"/>
                      </a:moveTo>
                      <a:cubicBezTo>
                        <a:pt x="796" y="96"/>
                        <a:pt x="584" y="192"/>
                        <a:pt x="432" y="336"/>
                      </a:cubicBezTo>
                      <a:cubicBezTo>
                        <a:pt x="280" y="480"/>
                        <a:pt x="168" y="712"/>
                        <a:pt x="96" y="864"/>
                      </a:cubicBezTo>
                      <a:cubicBezTo>
                        <a:pt x="24" y="1016"/>
                        <a:pt x="12" y="1132"/>
                        <a:pt x="0" y="1248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triangle" w="med" len="med"/>
                </a:ln>
              </p:spPr>
              <p:txBody>
                <a:bodyPr wrap="none"/>
                <a:lstStyle/>
                <a:p>
                  <a:endParaRPr lang="th-TH"/>
                </a:p>
              </p:txBody>
            </p:sp>
            <p:sp>
              <p:nvSpPr>
                <p:cNvPr id="6175" name="Freeform 7"/>
                <p:cNvSpPr>
                  <a:spLocks/>
                </p:cNvSpPr>
                <p:nvPr/>
              </p:nvSpPr>
              <p:spPr bwMode="auto">
                <a:xfrm>
                  <a:off x="1288" y="1920"/>
                  <a:ext cx="248" cy="1056"/>
                </a:xfrm>
                <a:custGeom>
                  <a:avLst/>
                  <a:gdLst>
                    <a:gd name="T0" fmla="*/ 248 w 248"/>
                    <a:gd name="T1" fmla="*/ 0 h 1056"/>
                    <a:gd name="T2" fmla="*/ 56 w 248"/>
                    <a:gd name="T3" fmla="*/ 144 h 1056"/>
                    <a:gd name="T4" fmla="*/ 8 w 248"/>
                    <a:gd name="T5" fmla="*/ 384 h 1056"/>
                    <a:gd name="T6" fmla="*/ 104 w 248"/>
                    <a:gd name="T7" fmla="*/ 1056 h 105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48"/>
                    <a:gd name="T13" fmla="*/ 0 h 1056"/>
                    <a:gd name="T14" fmla="*/ 248 w 248"/>
                    <a:gd name="T15" fmla="*/ 1056 h 105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48" h="1056">
                      <a:moveTo>
                        <a:pt x="248" y="0"/>
                      </a:moveTo>
                      <a:cubicBezTo>
                        <a:pt x="172" y="40"/>
                        <a:pt x="96" y="80"/>
                        <a:pt x="56" y="144"/>
                      </a:cubicBezTo>
                      <a:cubicBezTo>
                        <a:pt x="16" y="208"/>
                        <a:pt x="0" y="232"/>
                        <a:pt x="8" y="384"/>
                      </a:cubicBezTo>
                      <a:cubicBezTo>
                        <a:pt x="16" y="536"/>
                        <a:pt x="60" y="796"/>
                        <a:pt x="104" y="1056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triangle" w="med" len="med"/>
                </a:ln>
              </p:spPr>
              <p:txBody>
                <a:bodyPr wrap="none"/>
                <a:lstStyle/>
                <a:p>
                  <a:endParaRPr lang="th-TH"/>
                </a:p>
              </p:txBody>
            </p:sp>
            <p:sp>
              <p:nvSpPr>
                <p:cNvPr id="6176" name="Freeform 8"/>
                <p:cNvSpPr>
                  <a:spLocks/>
                </p:cNvSpPr>
                <p:nvPr/>
              </p:nvSpPr>
              <p:spPr bwMode="auto">
                <a:xfrm>
                  <a:off x="1376" y="1920"/>
                  <a:ext cx="544" cy="1056"/>
                </a:xfrm>
                <a:custGeom>
                  <a:avLst/>
                  <a:gdLst>
                    <a:gd name="T0" fmla="*/ 160 w 544"/>
                    <a:gd name="T1" fmla="*/ 0 h 1056"/>
                    <a:gd name="T2" fmla="*/ 16 w 544"/>
                    <a:gd name="T3" fmla="*/ 144 h 1056"/>
                    <a:gd name="T4" fmla="*/ 64 w 544"/>
                    <a:gd name="T5" fmla="*/ 384 h 1056"/>
                    <a:gd name="T6" fmla="*/ 208 w 544"/>
                    <a:gd name="T7" fmla="*/ 624 h 1056"/>
                    <a:gd name="T8" fmla="*/ 544 w 544"/>
                    <a:gd name="T9" fmla="*/ 1056 h 10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4"/>
                    <a:gd name="T16" fmla="*/ 0 h 1056"/>
                    <a:gd name="T17" fmla="*/ 544 w 544"/>
                    <a:gd name="T18" fmla="*/ 1056 h 10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4" h="1056">
                      <a:moveTo>
                        <a:pt x="160" y="0"/>
                      </a:moveTo>
                      <a:cubicBezTo>
                        <a:pt x="96" y="40"/>
                        <a:pt x="32" y="80"/>
                        <a:pt x="16" y="144"/>
                      </a:cubicBezTo>
                      <a:cubicBezTo>
                        <a:pt x="0" y="208"/>
                        <a:pt x="32" y="304"/>
                        <a:pt x="64" y="384"/>
                      </a:cubicBezTo>
                      <a:cubicBezTo>
                        <a:pt x="96" y="464"/>
                        <a:pt x="128" y="512"/>
                        <a:pt x="208" y="624"/>
                      </a:cubicBezTo>
                      <a:cubicBezTo>
                        <a:pt x="288" y="736"/>
                        <a:pt x="416" y="896"/>
                        <a:pt x="544" y="1056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triangle" w="med" len="med"/>
                </a:ln>
              </p:spPr>
              <p:txBody>
                <a:bodyPr wrap="none"/>
                <a:lstStyle/>
                <a:p>
                  <a:endParaRPr lang="th-TH"/>
                </a:p>
              </p:txBody>
            </p:sp>
          </p:grpSp>
          <p:sp>
            <p:nvSpPr>
              <p:cNvPr id="6173" name="Text Box 9"/>
              <p:cNvSpPr txBox="1">
                <a:spLocks noChangeArrowheads="1"/>
              </p:cNvSpPr>
              <p:nvPr/>
            </p:nvSpPr>
            <p:spPr bwMode="auto">
              <a:xfrm>
                <a:off x="1152" y="1776"/>
                <a:ext cx="240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sz="2800" b="1">
                    <a:solidFill>
                      <a:srgbClr val="990000"/>
                    </a:solidFill>
                    <a:latin typeface="Tahoma" pitchFamily="34" charset="0"/>
                  </a:rPr>
                  <a:t>?</a:t>
                </a:r>
              </a:p>
            </p:txBody>
          </p:sp>
        </p:grpSp>
        <p:sp>
          <p:nvSpPr>
            <p:cNvPr id="6169" name="Text Box 10"/>
            <p:cNvSpPr txBox="1">
              <a:spLocks noChangeArrowheads="1"/>
            </p:cNvSpPr>
            <p:nvPr/>
          </p:nvSpPr>
          <p:spPr bwMode="auto">
            <a:xfrm>
              <a:off x="1392" y="2736"/>
              <a:ext cx="3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2400">
                  <a:latin typeface="Tahoma" pitchFamily="34" charset="0"/>
                </a:rPr>
                <a:t>b</a:t>
              </a:r>
            </a:p>
          </p:txBody>
        </p:sp>
        <p:sp>
          <p:nvSpPr>
            <p:cNvPr id="6170" name="Text Box 11"/>
            <p:cNvSpPr txBox="1">
              <a:spLocks noChangeArrowheads="1"/>
            </p:cNvSpPr>
            <p:nvPr/>
          </p:nvSpPr>
          <p:spPr bwMode="auto">
            <a:xfrm>
              <a:off x="960" y="2736"/>
              <a:ext cx="3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2400">
                  <a:latin typeface="Tahoma" pitchFamily="34" charset="0"/>
                </a:rPr>
                <a:t>a</a:t>
              </a:r>
              <a:endParaRPr lang="en-US" sz="1800">
                <a:latin typeface="Tahoma" pitchFamily="34" charset="0"/>
              </a:endParaRPr>
            </a:p>
          </p:txBody>
        </p:sp>
        <p:sp>
          <p:nvSpPr>
            <p:cNvPr id="6171" name="Text Box 12"/>
            <p:cNvSpPr txBox="1">
              <a:spLocks noChangeArrowheads="1"/>
            </p:cNvSpPr>
            <p:nvPr/>
          </p:nvSpPr>
          <p:spPr bwMode="auto">
            <a:xfrm>
              <a:off x="1920" y="2736"/>
              <a:ext cx="2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2400">
                  <a:latin typeface="Tahoma" pitchFamily="34" charset="0"/>
                </a:rPr>
                <a:t>c</a:t>
              </a:r>
            </a:p>
          </p:txBody>
        </p:sp>
      </p:grpSp>
      <p:sp>
        <p:nvSpPr>
          <p:cNvPr id="6148" name="Text Box 13"/>
          <p:cNvSpPr txBox="1">
            <a:spLocks noChangeArrowheads="1"/>
          </p:cNvSpPr>
          <p:nvPr/>
        </p:nvSpPr>
        <p:spPr bwMode="auto">
          <a:xfrm>
            <a:off x="1393825" y="4564063"/>
            <a:ext cx="2416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th-TH" sz="2400">
              <a:latin typeface="Tahoma" pitchFamily="34" charset="0"/>
            </a:endParaRPr>
          </a:p>
        </p:txBody>
      </p:sp>
      <p:sp>
        <p:nvSpPr>
          <p:cNvPr id="6149" name="Text Box 14"/>
          <p:cNvSpPr txBox="1">
            <a:spLocks noChangeArrowheads="1"/>
          </p:cNvSpPr>
          <p:nvPr/>
        </p:nvSpPr>
        <p:spPr bwMode="auto">
          <a:xfrm>
            <a:off x="1219200" y="3962400"/>
            <a:ext cx="3200400" cy="13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Tahoma" pitchFamily="34" charset="0"/>
              </a:rPr>
              <a:t>{a,b,c}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à"/>
            </a:pPr>
            <a:r>
              <a:rPr lang="en-US" sz="2400">
                <a:latin typeface="Tahoma" pitchFamily="34" charset="0"/>
                <a:sym typeface="Wingdings" pitchFamily="2" charset="2"/>
              </a:rPr>
              <a:t> decision that is</a:t>
            </a:r>
            <a:br>
              <a:rPr lang="en-US" sz="2400">
                <a:latin typeface="Tahoma" pitchFamily="34" charset="0"/>
                <a:sym typeface="Wingdings" pitchFamily="2" charset="2"/>
              </a:rPr>
            </a:br>
            <a:r>
              <a:rPr lang="en-US" sz="2400">
                <a:latin typeface="Tahoma" pitchFamily="34" charset="0"/>
                <a:sym typeface="Wingdings" pitchFamily="2" charset="2"/>
              </a:rPr>
              <a:t>    best for worst case</a:t>
            </a:r>
            <a:endParaRPr lang="en-US" sz="2400">
              <a:latin typeface="Tahoma" pitchFamily="34" charset="0"/>
            </a:endParaRPr>
          </a:p>
        </p:txBody>
      </p:sp>
      <p:grpSp>
        <p:nvGrpSpPr>
          <p:cNvPr id="6150" name="Group 15"/>
          <p:cNvGrpSpPr>
            <a:grpSpLocks/>
          </p:cNvGrpSpPr>
          <p:nvPr/>
        </p:nvGrpSpPr>
        <p:grpSpPr bwMode="auto">
          <a:xfrm>
            <a:off x="4724400" y="1828800"/>
            <a:ext cx="3962400" cy="3503613"/>
            <a:chOff x="3264" y="1728"/>
            <a:chExt cx="2496" cy="2207"/>
          </a:xfrm>
        </p:grpSpPr>
        <p:grpSp>
          <p:nvGrpSpPr>
            <p:cNvPr id="6157" name="Group 16"/>
            <p:cNvGrpSpPr>
              <a:grpSpLocks/>
            </p:cNvGrpSpPr>
            <p:nvPr/>
          </p:nvGrpSpPr>
          <p:grpSpPr bwMode="auto">
            <a:xfrm>
              <a:off x="3600" y="1728"/>
              <a:ext cx="1234" cy="1296"/>
              <a:chOff x="912" y="1728"/>
              <a:chExt cx="1234" cy="1296"/>
            </a:xfrm>
          </p:grpSpPr>
          <p:grpSp>
            <p:nvGrpSpPr>
              <p:cNvPr id="6159" name="Group 17"/>
              <p:cNvGrpSpPr>
                <a:grpSpLocks/>
              </p:cNvGrpSpPr>
              <p:nvPr/>
            </p:nvGrpSpPr>
            <p:grpSpPr bwMode="auto">
              <a:xfrm>
                <a:off x="912" y="1728"/>
                <a:ext cx="1008" cy="1248"/>
                <a:chOff x="912" y="1728"/>
                <a:chExt cx="1008" cy="1248"/>
              </a:xfrm>
            </p:grpSpPr>
            <p:grpSp>
              <p:nvGrpSpPr>
                <p:cNvPr id="6163" name="Group 18"/>
                <p:cNvGrpSpPr>
                  <a:grpSpLocks/>
                </p:cNvGrpSpPr>
                <p:nvPr/>
              </p:nvGrpSpPr>
              <p:grpSpPr bwMode="auto">
                <a:xfrm>
                  <a:off x="912" y="1728"/>
                  <a:ext cx="1008" cy="1248"/>
                  <a:chOff x="912" y="1728"/>
                  <a:chExt cx="1008" cy="1248"/>
                </a:xfrm>
              </p:grpSpPr>
              <p:sp>
                <p:nvSpPr>
                  <p:cNvPr id="6165" name="Freeform 19"/>
                  <p:cNvSpPr>
                    <a:spLocks/>
                  </p:cNvSpPr>
                  <p:nvPr/>
                </p:nvSpPr>
                <p:spPr bwMode="auto">
                  <a:xfrm>
                    <a:off x="912" y="1728"/>
                    <a:ext cx="1008" cy="1248"/>
                  </a:xfrm>
                  <a:custGeom>
                    <a:avLst/>
                    <a:gdLst>
                      <a:gd name="T0" fmla="*/ 1008 w 1008"/>
                      <a:gd name="T1" fmla="*/ 0 h 1248"/>
                      <a:gd name="T2" fmla="*/ 432 w 1008"/>
                      <a:gd name="T3" fmla="*/ 336 h 1248"/>
                      <a:gd name="T4" fmla="*/ 96 w 1008"/>
                      <a:gd name="T5" fmla="*/ 864 h 1248"/>
                      <a:gd name="T6" fmla="*/ 0 w 1008"/>
                      <a:gd name="T7" fmla="*/ 1248 h 1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08"/>
                      <a:gd name="T13" fmla="*/ 0 h 1248"/>
                      <a:gd name="T14" fmla="*/ 1008 w 1008"/>
                      <a:gd name="T15" fmla="*/ 1248 h 1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08" h="1248">
                        <a:moveTo>
                          <a:pt x="1008" y="0"/>
                        </a:moveTo>
                        <a:cubicBezTo>
                          <a:pt x="796" y="96"/>
                          <a:pt x="584" y="192"/>
                          <a:pt x="432" y="336"/>
                        </a:cubicBezTo>
                        <a:cubicBezTo>
                          <a:pt x="280" y="480"/>
                          <a:pt x="168" y="712"/>
                          <a:pt x="96" y="864"/>
                        </a:cubicBezTo>
                        <a:cubicBezTo>
                          <a:pt x="24" y="1016"/>
                          <a:pt x="12" y="1132"/>
                          <a:pt x="0" y="1248"/>
                        </a:cubicBez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 type="none" w="med" len="med"/>
                    <a:tailEnd type="triangle" w="med" len="med"/>
                  </a:ln>
                </p:spPr>
                <p:txBody>
                  <a:bodyPr wrap="none"/>
                  <a:lstStyle/>
                  <a:p>
                    <a:endParaRPr lang="th-TH"/>
                  </a:p>
                </p:txBody>
              </p:sp>
              <p:sp>
                <p:nvSpPr>
                  <p:cNvPr id="6166" name="Freeform 20"/>
                  <p:cNvSpPr>
                    <a:spLocks/>
                  </p:cNvSpPr>
                  <p:nvPr/>
                </p:nvSpPr>
                <p:spPr bwMode="auto">
                  <a:xfrm>
                    <a:off x="1288" y="1920"/>
                    <a:ext cx="248" cy="1056"/>
                  </a:xfrm>
                  <a:custGeom>
                    <a:avLst/>
                    <a:gdLst>
                      <a:gd name="T0" fmla="*/ 248 w 248"/>
                      <a:gd name="T1" fmla="*/ 0 h 1056"/>
                      <a:gd name="T2" fmla="*/ 56 w 248"/>
                      <a:gd name="T3" fmla="*/ 144 h 1056"/>
                      <a:gd name="T4" fmla="*/ 8 w 248"/>
                      <a:gd name="T5" fmla="*/ 384 h 1056"/>
                      <a:gd name="T6" fmla="*/ 104 w 248"/>
                      <a:gd name="T7" fmla="*/ 1056 h 105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48"/>
                      <a:gd name="T13" fmla="*/ 0 h 1056"/>
                      <a:gd name="T14" fmla="*/ 248 w 248"/>
                      <a:gd name="T15" fmla="*/ 1056 h 105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48" h="1056">
                        <a:moveTo>
                          <a:pt x="248" y="0"/>
                        </a:moveTo>
                        <a:cubicBezTo>
                          <a:pt x="172" y="40"/>
                          <a:pt x="96" y="80"/>
                          <a:pt x="56" y="144"/>
                        </a:cubicBezTo>
                        <a:cubicBezTo>
                          <a:pt x="16" y="208"/>
                          <a:pt x="0" y="232"/>
                          <a:pt x="8" y="384"/>
                        </a:cubicBezTo>
                        <a:cubicBezTo>
                          <a:pt x="16" y="536"/>
                          <a:pt x="60" y="796"/>
                          <a:pt x="104" y="1056"/>
                        </a:cubicBez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 type="none" w="med" len="med"/>
                    <a:tailEnd type="triangle" w="med" len="med"/>
                  </a:ln>
                </p:spPr>
                <p:txBody>
                  <a:bodyPr wrap="none"/>
                  <a:lstStyle/>
                  <a:p>
                    <a:endParaRPr lang="th-TH"/>
                  </a:p>
                </p:txBody>
              </p:sp>
              <p:sp>
                <p:nvSpPr>
                  <p:cNvPr id="6167" name="Freeform 21"/>
                  <p:cNvSpPr>
                    <a:spLocks/>
                  </p:cNvSpPr>
                  <p:nvPr/>
                </p:nvSpPr>
                <p:spPr bwMode="auto">
                  <a:xfrm>
                    <a:off x="1376" y="1920"/>
                    <a:ext cx="544" cy="1056"/>
                  </a:xfrm>
                  <a:custGeom>
                    <a:avLst/>
                    <a:gdLst>
                      <a:gd name="T0" fmla="*/ 160 w 544"/>
                      <a:gd name="T1" fmla="*/ 0 h 1056"/>
                      <a:gd name="T2" fmla="*/ 16 w 544"/>
                      <a:gd name="T3" fmla="*/ 144 h 1056"/>
                      <a:gd name="T4" fmla="*/ 64 w 544"/>
                      <a:gd name="T5" fmla="*/ 384 h 1056"/>
                      <a:gd name="T6" fmla="*/ 208 w 544"/>
                      <a:gd name="T7" fmla="*/ 624 h 1056"/>
                      <a:gd name="T8" fmla="*/ 544 w 544"/>
                      <a:gd name="T9" fmla="*/ 1056 h 10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44"/>
                      <a:gd name="T16" fmla="*/ 0 h 1056"/>
                      <a:gd name="T17" fmla="*/ 544 w 544"/>
                      <a:gd name="T18" fmla="*/ 1056 h 10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44" h="1056">
                        <a:moveTo>
                          <a:pt x="160" y="0"/>
                        </a:moveTo>
                        <a:cubicBezTo>
                          <a:pt x="96" y="40"/>
                          <a:pt x="32" y="80"/>
                          <a:pt x="16" y="144"/>
                        </a:cubicBezTo>
                        <a:cubicBezTo>
                          <a:pt x="0" y="208"/>
                          <a:pt x="32" y="304"/>
                          <a:pt x="64" y="384"/>
                        </a:cubicBezTo>
                        <a:cubicBezTo>
                          <a:pt x="96" y="464"/>
                          <a:pt x="128" y="512"/>
                          <a:pt x="208" y="624"/>
                        </a:cubicBezTo>
                        <a:cubicBezTo>
                          <a:pt x="288" y="736"/>
                          <a:pt x="416" y="896"/>
                          <a:pt x="544" y="1056"/>
                        </a:cubicBez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 type="none" w="med" len="med"/>
                    <a:tailEnd type="triangle" w="med" len="med"/>
                  </a:ln>
                </p:spPr>
                <p:txBody>
                  <a:bodyPr wrap="none"/>
                  <a:lstStyle/>
                  <a:p>
                    <a:endParaRPr lang="th-TH"/>
                  </a:p>
                </p:txBody>
              </p:sp>
            </p:grpSp>
            <p:sp>
              <p:nvSpPr>
                <p:cNvPr id="616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152" y="1776"/>
                  <a:ext cx="240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2800" b="1">
                      <a:solidFill>
                        <a:srgbClr val="990000"/>
                      </a:solidFill>
                      <a:latin typeface="Tahoma" pitchFamily="34" charset="0"/>
                    </a:rPr>
                    <a:t>?</a:t>
                  </a:r>
                </a:p>
              </p:txBody>
            </p:sp>
          </p:grpSp>
          <p:sp>
            <p:nvSpPr>
              <p:cNvPr id="6160" name="Text Box 23"/>
              <p:cNvSpPr txBox="1">
                <a:spLocks noChangeArrowheads="1"/>
              </p:cNvSpPr>
              <p:nvPr/>
            </p:nvSpPr>
            <p:spPr bwMode="auto">
              <a:xfrm>
                <a:off x="1392" y="2736"/>
                <a:ext cx="3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sz="240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6161" name="Text Box 24"/>
              <p:cNvSpPr txBox="1">
                <a:spLocks noChangeArrowheads="1"/>
              </p:cNvSpPr>
              <p:nvPr/>
            </p:nvSpPr>
            <p:spPr bwMode="auto">
              <a:xfrm>
                <a:off x="960" y="2736"/>
                <a:ext cx="3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sz="2400">
                    <a:latin typeface="Tahoma" pitchFamily="34" charset="0"/>
                  </a:rPr>
                  <a:t>a</a:t>
                </a:r>
                <a:endParaRPr lang="en-US" sz="1800">
                  <a:latin typeface="Tahoma" pitchFamily="34" charset="0"/>
                </a:endParaRPr>
              </a:p>
            </p:txBody>
          </p:sp>
          <p:sp>
            <p:nvSpPr>
              <p:cNvPr id="6162" name="Text Box 25"/>
              <p:cNvSpPr txBox="1">
                <a:spLocks noChangeArrowheads="1"/>
              </p:cNvSpPr>
              <p:nvPr/>
            </p:nvSpPr>
            <p:spPr bwMode="auto">
              <a:xfrm>
                <a:off x="1920" y="2736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sz="2400">
                    <a:latin typeface="Tahoma" pitchFamily="34" charset="0"/>
                  </a:rPr>
                  <a:t>c</a:t>
                </a:r>
              </a:p>
            </p:txBody>
          </p:sp>
        </p:grpSp>
        <p:sp>
          <p:nvSpPr>
            <p:cNvPr id="6158" name="Text Box 26"/>
            <p:cNvSpPr txBox="1">
              <a:spLocks noChangeArrowheads="1"/>
            </p:cNvSpPr>
            <p:nvPr/>
          </p:nvSpPr>
          <p:spPr bwMode="auto">
            <a:xfrm>
              <a:off x="3264" y="3072"/>
              <a:ext cx="2496" cy="8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2400">
                  <a:latin typeface="Tahoma" pitchFamily="34" charset="0"/>
                </a:rPr>
                <a:t>{a(p</a:t>
              </a:r>
              <a:r>
                <a:rPr lang="en-US" sz="1800">
                  <a:latin typeface="Tahoma" pitchFamily="34" charset="0"/>
                </a:rPr>
                <a:t>a</a:t>
              </a:r>
              <a:r>
                <a:rPr lang="en-US" sz="2400">
                  <a:latin typeface="Tahoma" pitchFamily="34" charset="0"/>
                </a:rPr>
                <a:t>),b(p</a:t>
              </a:r>
              <a:r>
                <a:rPr lang="en-US" sz="1800">
                  <a:latin typeface="Tahoma" pitchFamily="34" charset="0"/>
                </a:rPr>
                <a:t>b</a:t>
              </a:r>
              <a:r>
                <a:rPr lang="en-US" sz="2400">
                  <a:latin typeface="Tahoma" pitchFamily="34" charset="0"/>
                </a:rPr>
                <a:t>),c(p</a:t>
              </a:r>
              <a:r>
                <a:rPr lang="en-US" sz="1800">
                  <a:latin typeface="Tahoma" pitchFamily="34" charset="0"/>
                </a:rPr>
                <a:t>c</a:t>
              </a:r>
              <a:r>
                <a:rPr lang="en-US" sz="2400">
                  <a:latin typeface="Tahoma" pitchFamily="34" charset="0"/>
                </a:rPr>
                <a:t>)}</a:t>
              </a:r>
            </a:p>
            <a:p>
              <a:pPr eaLnBrk="1" hangingPunct="1">
                <a:spcBef>
                  <a:spcPct val="50000"/>
                </a:spcBef>
                <a:buFont typeface="Wingdings" pitchFamily="2" charset="2"/>
                <a:buChar char="à"/>
              </a:pPr>
              <a:r>
                <a:rPr lang="en-US" sz="2400">
                  <a:latin typeface="Tahoma" pitchFamily="34" charset="0"/>
                  <a:sym typeface="Wingdings" pitchFamily="2" charset="2"/>
                </a:rPr>
                <a:t> decision that maximizes</a:t>
              </a:r>
              <a:br>
                <a:rPr lang="en-US" sz="2400">
                  <a:latin typeface="Tahoma" pitchFamily="34" charset="0"/>
                  <a:sym typeface="Wingdings" pitchFamily="2" charset="2"/>
                </a:rPr>
              </a:br>
              <a:r>
                <a:rPr lang="en-US" sz="2400">
                  <a:latin typeface="Tahoma" pitchFamily="34" charset="0"/>
                  <a:sym typeface="Wingdings" pitchFamily="2" charset="2"/>
                </a:rPr>
                <a:t>    expected utility value</a:t>
              </a:r>
              <a:endParaRPr lang="en-US" sz="2400">
                <a:latin typeface="Tahoma" pitchFamily="34" charset="0"/>
              </a:endParaRPr>
            </a:p>
          </p:txBody>
        </p:sp>
      </p:grpSp>
      <p:sp>
        <p:nvSpPr>
          <p:cNvPr id="6151" name="Text Box 27"/>
          <p:cNvSpPr txBox="1">
            <a:spLocks noChangeArrowheads="1"/>
          </p:cNvSpPr>
          <p:nvPr/>
        </p:nvSpPr>
        <p:spPr bwMode="auto">
          <a:xfrm>
            <a:off x="1317625" y="6011863"/>
            <a:ext cx="2949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th-TH" sz="2400">
              <a:latin typeface="Tahoma" pitchFamily="34" charset="0"/>
            </a:endParaRPr>
          </a:p>
        </p:txBody>
      </p:sp>
      <p:sp>
        <p:nvSpPr>
          <p:cNvPr id="6152" name="Text Box 28"/>
          <p:cNvSpPr txBox="1">
            <a:spLocks noChangeArrowheads="1"/>
          </p:cNvSpPr>
          <p:nvPr/>
        </p:nvSpPr>
        <p:spPr bwMode="auto">
          <a:xfrm>
            <a:off x="990600" y="54102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990000"/>
                </a:solidFill>
                <a:latin typeface="Tahoma" pitchFamily="34" charset="0"/>
              </a:rPr>
              <a:t>Non-deterministic model</a:t>
            </a:r>
          </a:p>
        </p:txBody>
      </p:sp>
      <p:sp>
        <p:nvSpPr>
          <p:cNvPr id="6153" name="Text Box 29"/>
          <p:cNvSpPr txBox="1">
            <a:spLocks noChangeArrowheads="1"/>
          </p:cNvSpPr>
          <p:nvPr/>
        </p:nvSpPr>
        <p:spPr bwMode="auto">
          <a:xfrm>
            <a:off x="5181600" y="54102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990000"/>
                </a:solidFill>
                <a:latin typeface="Tahoma" pitchFamily="34" charset="0"/>
              </a:rPr>
              <a:t>Probabilistic model</a:t>
            </a:r>
          </a:p>
        </p:txBody>
      </p:sp>
      <p:sp>
        <p:nvSpPr>
          <p:cNvPr id="310302" name="Text Box 30"/>
          <p:cNvSpPr txBox="1">
            <a:spLocks noChangeArrowheads="1"/>
          </p:cNvSpPr>
          <p:nvPr/>
        </p:nvSpPr>
        <p:spPr bwMode="auto">
          <a:xfrm>
            <a:off x="1295400" y="5943600"/>
            <a:ext cx="2954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solidFill>
                  <a:srgbClr val="008000"/>
                </a:solidFill>
                <a:latin typeface="Tahoma" pitchFamily="34" charset="0"/>
              </a:rPr>
              <a:t>~ Adversarial search</a:t>
            </a:r>
          </a:p>
        </p:txBody>
      </p:sp>
      <p:sp>
        <p:nvSpPr>
          <p:cNvPr id="6155" name="Rectangle 31"/>
          <p:cNvSpPr>
            <a:spLocks noChangeArrowheads="1"/>
          </p:cNvSpPr>
          <p:nvPr/>
        </p:nvSpPr>
        <p:spPr bwMode="auto">
          <a:xfrm>
            <a:off x="990600" y="1600200"/>
            <a:ext cx="3429000" cy="426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6156" name="Rectangle 32"/>
          <p:cNvSpPr>
            <a:spLocks noChangeArrowheads="1"/>
          </p:cNvSpPr>
          <p:nvPr/>
        </p:nvSpPr>
        <p:spPr bwMode="auto">
          <a:xfrm>
            <a:off x="4724400" y="1600200"/>
            <a:ext cx="3733800" cy="426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30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Expected Utility</a:t>
            </a:r>
          </a:p>
        </p:txBody>
      </p:sp>
      <p:sp>
        <p:nvSpPr>
          <p:cNvPr id="71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8001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Random variable X with n values x</a:t>
            </a:r>
            <a:r>
              <a:rPr lang="en-US" baseline="-25000"/>
              <a:t>1</a:t>
            </a:r>
            <a:r>
              <a:rPr lang="en-US"/>
              <a:t>,…,x</a:t>
            </a:r>
            <a:r>
              <a:rPr lang="en-US" baseline="-25000"/>
              <a:t>n</a:t>
            </a:r>
            <a:r>
              <a:rPr lang="en-US"/>
              <a:t> and distribution (p</a:t>
            </a:r>
            <a:r>
              <a:rPr lang="en-US" baseline="-25000"/>
              <a:t>1</a:t>
            </a:r>
            <a:r>
              <a:rPr lang="en-US"/>
              <a:t>,…,p</a:t>
            </a:r>
            <a:r>
              <a:rPr lang="en-US" baseline="-25000"/>
              <a:t>n</a:t>
            </a:r>
            <a:r>
              <a:rPr lang="en-US"/>
              <a:t>)</a:t>
            </a:r>
            <a:br>
              <a:rPr lang="en-US"/>
            </a:br>
            <a:r>
              <a:rPr lang="en-US"/>
              <a:t>E.g.: X is the state reached after doing an action A under uncertainty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Function U of X</a:t>
            </a:r>
            <a:br>
              <a:rPr lang="en-US"/>
            </a:br>
            <a:r>
              <a:rPr lang="en-US"/>
              <a:t>E.g., U is the utility of a state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The </a:t>
            </a:r>
            <a:r>
              <a:rPr lang="en-US">
                <a:solidFill>
                  <a:srgbClr val="3333CC"/>
                </a:solidFill>
              </a:rPr>
              <a:t>expected utility</a:t>
            </a:r>
            <a:r>
              <a:rPr lang="en-US"/>
              <a:t> of A is</a:t>
            </a:r>
            <a:br>
              <a:rPr lang="en-US"/>
            </a:br>
            <a:r>
              <a:rPr lang="en-US"/>
              <a:t>              EU[A] = </a:t>
            </a:r>
            <a:r>
              <a:rPr lang="en-US" sz="4000">
                <a:latin typeface="Symbol" pitchFamily="18" charset="2"/>
              </a:rPr>
              <a:t>S</a:t>
            </a:r>
            <a:r>
              <a:rPr lang="en-US" baseline="-25000"/>
              <a:t>i=1,…,n </a:t>
            </a:r>
            <a:r>
              <a:rPr lang="en-US"/>
              <a:t>p(x</a:t>
            </a:r>
            <a:r>
              <a:rPr lang="en-US" baseline="-25000"/>
              <a:t>i</a:t>
            </a:r>
            <a:r>
              <a:rPr lang="en-US"/>
              <a:t>|A)U(x</a:t>
            </a:r>
            <a:r>
              <a:rPr lang="en-US" baseline="-25000"/>
              <a:t>i</a:t>
            </a:r>
            <a:r>
              <a:rPr lang="en-US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429000" y="1676400"/>
            <a:ext cx="838200" cy="519113"/>
            <a:chOff x="2160" y="1056"/>
            <a:chExt cx="528" cy="327"/>
          </a:xfrm>
        </p:grpSpPr>
        <p:sp>
          <p:nvSpPr>
            <p:cNvPr id="8219" name="Oval 3"/>
            <p:cNvSpPr>
              <a:spLocks noChangeArrowheads="1"/>
            </p:cNvSpPr>
            <p:nvPr/>
          </p:nvSpPr>
          <p:spPr bwMode="auto">
            <a:xfrm>
              <a:off x="2496" y="115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8220" name="Text Box 4"/>
            <p:cNvSpPr txBox="1">
              <a:spLocks noChangeArrowheads="1"/>
            </p:cNvSpPr>
            <p:nvPr/>
          </p:nvSpPr>
          <p:spPr bwMode="auto">
            <a:xfrm>
              <a:off x="2160" y="1056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0</a:t>
              </a: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066800" y="3657600"/>
            <a:ext cx="3200400" cy="1662113"/>
            <a:chOff x="672" y="2304"/>
            <a:chExt cx="2016" cy="1047"/>
          </a:xfrm>
        </p:grpSpPr>
        <p:sp>
          <p:nvSpPr>
            <p:cNvPr id="8210" name="Oval 6"/>
            <p:cNvSpPr>
              <a:spLocks noChangeArrowheads="1"/>
            </p:cNvSpPr>
            <p:nvPr/>
          </p:nvSpPr>
          <p:spPr bwMode="auto">
            <a:xfrm>
              <a:off x="960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8211" name="Oval 7"/>
            <p:cNvSpPr>
              <a:spLocks noChangeArrowheads="1"/>
            </p:cNvSpPr>
            <p:nvPr/>
          </p:nvSpPr>
          <p:spPr bwMode="auto">
            <a:xfrm>
              <a:off x="2496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8212" name="Oval 8"/>
            <p:cNvSpPr>
              <a:spLocks noChangeArrowheads="1"/>
            </p:cNvSpPr>
            <p:nvPr/>
          </p:nvSpPr>
          <p:spPr bwMode="auto">
            <a:xfrm>
              <a:off x="1728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8213" name="Line 9"/>
            <p:cNvSpPr>
              <a:spLocks noChangeShapeType="1"/>
            </p:cNvSpPr>
            <p:nvPr/>
          </p:nvSpPr>
          <p:spPr bwMode="auto">
            <a:xfrm flipH="1">
              <a:off x="1056" y="230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8214" name="Line 10"/>
            <p:cNvSpPr>
              <a:spLocks noChangeShapeType="1"/>
            </p:cNvSpPr>
            <p:nvPr/>
          </p:nvSpPr>
          <p:spPr bwMode="auto">
            <a:xfrm>
              <a:off x="1824" y="230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8215" name="Line 11"/>
            <p:cNvSpPr>
              <a:spLocks noChangeShapeType="1"/>
            </p:cNvSpPr>
            <p:nvPr/>
          </p:nvSpPr>
          <p:spPr bwMode="auto">
            <a:xfrm>
              <a:off x="1824" y="230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8216" name="Text Box 12"/>
            <p:cNvSpPr txBox="1">
              <a:spLocks noChangeArrowheads="1"/>
            </p:cNvSpPr>
            <p:nvPr/>
          </p:nvSpPr>
          <p:spPr bwMode="auto">
            <a:xfrm>
              <a:off x="2208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3</a:t>
              </a:r>
            </a:p>
          </p:txBody>
        </p:sp>
        <p:sp>
          <p:nvSpPr>
            <p:cNvPr id="8217" name="Text Box 13"/>
            <p:cNvSpPr txBox="1">
              <a:spLocks noChangeArrowheads="1"/>
            </p:cNvSpPr>
            <p:nvPr/>
          </p:nvSpPr>
          <p:spPr bwMode="auto">
            <a:xfrm>
              <a:off x="1440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2</a:t>
              </a:r>
            </a:p>
          </p:txBody>
        </p:sp>
        <p:sp>
          <p:nvSpPr>
            <p:cNvPr id="8218" name="Text Box 14"/>
            <p:cNvSpPr txBox="1">
              <a:spLocks noChangeArrowheads="1"/>
            </p:cNvSpPr>
            <p:nvPr/>
          </p:nvSpPr>
          <p:spPr bwMode="auto">
            <a:xfrm>
              <a:off x="672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1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193925" y="2133600"/>
            <a:ext cx="1920875" cy="1550988"/>
            <a:chOff x="1382" y="1344"/>
            <a:chExt cx="1210" cy="977"/>
          </a:xfrm>
        </p:grpSpPr>
        <p:sp>
          <p:nvSpPr>
            <p:cNvPr id="8207" name="Rectangle 16"/>
            <p:cNvSpPr>
              <a:spLocks noChangeArrowheads="1"/>
            </p:cNvSpPr>
            <p:nvPr/>
          </p:nvSpPr>
          <p:spPr bwMode="auto">
            <a:xfrm>
              <a:off x="1728" y="2112"/>
              <a:ext cx="192" cy="192"/>
            </a:xfrm>
            <a:prstGeom prst="rect">
              <a:avLst/>
            </a:prstGeom>
            <a:solidFill>
              <a:srgbClr val="E0FF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8208" name="Line 17"/>
            <p:cNvSpPr>
              <a:spLocks noChangeShapeType="1"/>
            </p:cNvSpPr>
            <p:nvPr/>
          </p:nvSpPr>
          <p:spPr bwMode="auto">
            <a:xfrm flipH="1">
              <a:off x="1824" y="134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8209" name="Text Box 18"/>
            <p:cNvSpPr txBox="1">
              <a:spLocks noChangeArrowheads="1"/>
            </p:cNvSpPr>
            <p:nvPr/>
          </p:nvSpPr>
          <p:spPr bwMode="auto">
            <a:xfrm>
              <a:off x="1382" y="2071"/>
              <a:ext cx="3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A1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066800" y="5181600"/>
            <a:ext cx="2940050" cy="366713"/>
            <a:chOff x="672" y="3264"/>
            <a:chExt cx="1852" cy="231"/>
          </a:xfrm>
        </p:grpSpPr>
        <p:sp>
          <p:nvSpPr>
            <p:cNvPr id="8204" name="Text Box 20"/>
            <p:cNvSpPr txBox="1">
              <a:spLocks noChangeArrowheads="1"/>
            </p:cNvSpPr>
            <p:nvPr/>
          </p:nvSpPr>
          <p:spPr bwMode="auto">
            <a:xfrm>
              <a:off x="672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</a:rPr>
                <a:t>0.2</a:t>
              </a:r>
            </a:p>
          </p:txBody>
        </p:sp>
        <p:sp>
          <p:nvSpPr>
            <p:cNvPr id="8205" name="Text Box 21"/>
            <p:cNvSpPr txBox="1">
              <a:spLocks noChangeArrowheads="1"/>
            </p:cNvSpPr>
            <p:nvPr/>
          </p:nvSpPr>
          <p:spPr bwMode="auto">
            <a:xfrm>
              <a:off x="1440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</a:rPr>
                <a:t>0.7</a:t>
              </a:r>
            </a:p>
          </p:txBody>
        </p:sp>
        <p:sp>
          <p:nvSpPr>
            <p:cNvPr id="8206" name="Text Box 22"/>
            <p:cNvSpPr txBox="1">
              <a:spLocks noChangeArrowheads="1"/>
            </p:cNvSpPr>
            <p:nvPr/>
          </p:nvSpPr>
          <p:spPr bwMode="auto">
            <a:xfrm>
              <a:off x="2208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</a:rPr>
                <a:t>0.1</a:t>
              </a:r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1066800" y="5486400"/>
            <a:ext cx="2876550" cy="366713"/>
            <a:chOff x="672" y="3456"/>
            <a:chExt cx="1812" cy="231"/>
          </a:xfrm>
        </p:grpSpPr>
        <p:sp>
          <p:nvSpPr>
            <p:cNvPr id="8201" name="Text Box 24"/>
            <p:cNvSpPr txBox="1">
              <a:spLocks noChangeArrowheads="1"/>
            </p:cNvSpPr>
            <p:nvPr/>
          </p:nvSpPr>
          <p:spPr bwMode="auto">
            <a:xfrm>
              <a:off x="672" y="3456"/>
              <a:ext cx="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66"/>
                  </a:solidFill>
                </a:rPr>
                <a:t>100</a:t>
              </a:r>
            </a:p>
          </p:txBody>
        </p:sp>
        <p:sp>
          <p:nvSpPr>
            <p:cNvPr id="8202" name="Text Box 25"/>
            <p:cNvSpPr txBox="1">
              <a:spLocks noChangeArrowheads="1"/>
            </p:cNvSpPr>
            <p:nvPr/>
          </p:nvSpPr>
          <p:spPr bwMode="auto">
            <a:xfrm>
              <a:off x="1440" y="3456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66"/>
                  </a:solidFill>
                </a:rPr>
                <a:t>50</a:t>
              </a:r>
            </a:p>
          </p:txBody>
        </p:sp>
        <p:sp>
          <p:nvSpPr>
            <p:cNvPr id="8203" name="Text Box 26"/>
            <p:cNvSpPr txBox="1">
              <a:spLocks noChangeArrowheads="1"/>
            </p:cNvSpPr>
            <p:nvPr/>
          </p:nvSpPr>
          <p:spPr bwMode="auto">
            <a:xfrm>
              <a:off x="2208" y="3456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66"/>
                  </a:solidFill>
                </a:rPr>
                <a:t>70</a:t>
              </a:r>
            </a:p>
          </p:txBody>
        </p:sp>
      </p:grpSp>
      <p:sp>
        <p:nvSpPr>
          <p:cNvPr id="361499" name="Text Box 27"/>
          <p:cNvSpPr txBox="1">
            <a:spLocks noChangeArrowheads="1"/>
          </p:cNvSpPr>
          <p:nvPr/>
        </p:nvSpPr>
        <p:spPr bwMode="auto">
          <a:xfrm>
            <a:off x="3886200" y="2819400"/>
            <a:ext cx="478313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EU(A1) = 100 x 0.2 + 50 x 0.7 + 70 x 0.1</a:t>
            </a:r>
          </a:p>
          <a:p>
            <a:r>
              <a:rPr lang="en-US" b="1"/>
              <a:t>          = 20 + 35 + 7</a:t>
            </a:r>
          </a:p>
          <a:p>
            <a:r>
              <a:rPr lang="en-US" b="1"/>
              <a:t>          = 62</a:t>
            </a:r>
          </a:p>
        </p:txBody>
      </p:sp>
      <p:sp>
        <p:nvSpPr>
          <p:cNvPr id="361500" name="Rectangle 28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One State/One Action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9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3429000" y="1676400"/>
            <a:ext cx="838200" cy="519113"/>
            <a:chOff x="2160" y="1056"/>
            <a:chExt cx="528" cy="327"/>
          </a:xfrm>
        </p:grpSpPr>
        <p:sp>
          <p:nvSpPr>
            <p:cNvPr id="9256" name="Oval 3"/>
            <p:cNvSpPr>
              <a:spLocks noChangeArrowheads="1"/>
            </p:cNvSpPr>
            <p:nvPr/>
          </p:nvSpPr>
          <p:spPr bwMode="auto">
            <a:xfrm>
              <a:off x="2496" y="115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9257" name="Text Box 4"/>
            <p:cNvSpPr txBox="1">
              <a:spLocks noChangeArrowheads="1"/>
            </p:cNvSpPr>
            <p:nvPr/>
          </p:nvSpPr>
          <p:spPr bwMode="auto">
            <a:xfrm>
              <a:off x="2160" y="1056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0</a:t>
              </a:r>
            </a:p>
          </p:txBody>
        </p:sp>
      </p:grpSp>
      <p:grpSp>
        <p:nvGrpSpPr>
          <p:cNvPr id="9219" name="Group 5"/>
          <p:cNvGrpSpPr>
            <a:grpSpLocks/>
          </p:cNvGrpSpPr>
          <p:nvPr/>
        </p:nvGrpSpPr>
        <p:grpSpPr bwMode="auto">
          <a:xfrm>
            <a:off x="1066800" y="3657600"/>
            <a:ext cx="3200400" cy="1662113"/>
            <a:chOff x="672" y="2304"/>
            <a:chExt cx="2016" cy="1047"/>
          </a:xfrm>
        </p:grpSpPr>
        <p:sp>
          <p:nvSpPr>
            <p:cNvPr id="9247" name="Oval 6"/>
            <p:cNvSpPr>
              <a:spLocks noChangeArrowheads="1"/>
            </p:cNvSpPr>
            <p:nvPr/>
          </p:nvSpPr>
          <p:spPr bwMode="auto">
            <a:xfrm>
              <a:off x="960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9248" name="Oval 7"/>
            <p:cNvSpPr>
              <a:spLocks noChangeArrowheads="1"/>
            </p:cNvSpPr>
            <p:nvPr/>
          </p:nvSpPr>
          <p:spPr bwMode="auto">
            <a:xfrm>
              <a:off x="2496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9249" name="Oval 8"/>
            <p:cNvSpPr>
              <a:spLocks noChangeArrowheads="1"/>
            </p:cNvSpPr>
            <p:nvPr/>
          </p:nvSpPr>
          <p:spPr bwMode="auto">
            <a:xfrm>
              <a:off x="1728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9250" name="Line 9"/>
            <p:cNvSpPr>
              <a:spLocks noChangeShapeType="1"/>
            </p:cNvSpPr>
            <p:nvPr/>
          </p:nvSpPr>
          <p:spPr bwMode="auto">
            <a:xfrm flipH="1">
              <a:off x="1056" y="230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9251" name="Line 10"/>
            <p:cNvSpPr>
              <a:spLocks noChangeShapeType="1"/>
            </p:cNvSpPr>
            <p:nvPr/>
          </p:nvSpPr>
          <p:spPr bwMode="auto">
            <a:xfrm>
              <a:off x="1824" y="230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9252" name="Line 11"/>
            <p:cNvSpPr>
              <a:spLocks noChangeShapeType="1"/>
            </p:cNvSpPr>
            <p:nvPr/>
          </p:nvSpPr>
          <p:spPr bwMode="auto">
            <a:xfrm>
              <a:off x="1824" y="230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9253" name="Text Box 12"/>
            <p:cNvSpPr txBox="1">
              <a:spLocks noChangeArrowheads="1"/>
            </p:cNvSpPr>
            <p:nvPr/>
          </p:nvSpPr>
          <p:spPr bwMode="auto">
            <a:xfrm>
              <a:off x="2208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3</a:t>
              </a:r>
            </a:p>
          </p:txBody>
        </p:sp>
        <p:sp>
          <p:nvSpPr>
            <p:cNvPr id="9254" name="Text Box 13"/>
            <p:cNvSpPr txBox="1">
              <a:spLocks noChangeArrowheads="1"/>
            </p:cNvSpPr>
            <p:nvPr/>
          </p:nvSpPr>
          <p:spPr bwMode="auto">
            <a:xfrm>
              <a:off x="1440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2</a:t>
              </a:r>
            </a:p>
          </p:txBody>
        </p:sp>
        <p:sp>
          <p:nvSpPr>
            <p:cNvPr id="9255" name="Text Box 14"/>
            <p:cNvSpPr txBox="1">
              <a:spLocks noChangeArrowheads="1"/>
            </p:cNvSpPr>
            <p:nvPr/>
          </p:nvSpPr>
          <p:spPr bwMode="auto">
            <a:xfrm>
              <a:off x="672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1</a:t>
              </a:r>
            </a:p>
          </p:txBody>
        </p:sp>
      </p:grpSp>
      <p:grpSp>
        <p:nvGrpSpPr>
          <p:cNvPr id="9220" name="Group 15"/>
          <p:cNvGrpSpPr>
            <a:grpSpLocks/>
          </p:cNvGrpSpPr>
          <p:nvPr/>
        </p:nvGrpSpPr>
        <p:grpSpPr bwMode="auto">
          <a:xfrm>
            <a:off x="2193925" y="2133600"/>
            <a:ext cx="1920875" cy="1550988"/>
            <a:chOff x="1382" y="1344"/>
            <a:chExt cx="1210" cy="977"/>
          </a:xfrm>
        </p:grpSpPr>
        <p:sp>
          <p:nvSpPr>
            <p:cNvPr id="9244" name="Rectangle 16"/>
            <p:cNvSpPr>
              <a:spLocks noChangeArrowheads="1"/>
            </p:cNvSpPr>
            <p:nvPr/>
          </p:nvSpPr>
          <p:spPr bwMode="auto">
            <a:xfrm>
              <a:off x="1728" y="2112"/>
              <a:ext cx="192" cy="192"/>
            </a:xfrm>
            <a:prstGeom prst="rect">
              <a:avLst/>
            </a:prstGeom>
            <a:solidFill>
              <a:srgbClr val="E0FF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9245" name="Line 17"/>
            <p:cNvSpPr>
              <a:spLocks noChangeShapeType="1"/>
            </p:cNvSpPr>
            <p:nvPr/>
          </p:nvSpPr>
          <p:spPr bwMode="auto">
            <a:xfrm flipH="1">
              <a:off x="1824" y="134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9246" name="Text Box 18"/>
            <p:cNvSpPr txBox="1">
              <a:spLocks noChangeArrowheads="1"/>
            </p:cNvSpPr>
            <p:nvPr/>
          </p:nvSpPr>
          <p:spPr bwMode="auto">
            <a:xfrm>
              <a:off x="1382" y="2071"/>
              <a:ext cx="3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800000"/>
                  </a:solidFill>
                </a:rPr>
                <a:t>A1</a:t>
              </a:r>
            </a:p>
          </p:txBody>
        </p:sp>
      </p:grpSp>
      <p:grpSp>
        <p:nvGrpSpPr>
          <p:cNvPr id="9221" name="Group 19"/>
          <p:cNvGrpSpPr>
            <a:grpSpLocks/>
          </p:cNvGrpSpPr>
          <p:nvPr/>
        </p:nvGrpSpPr>
        <p:grpSpPr bwMode="auto">
          <a:xfrm>
            <a:off x="1066800" y="5181600"/>
            <a:ext cx="2940050" cy="366713"/>
            <a:chOff x="672" y="3264"/>
            <a:chExt cx="1852" cy="231"/>
          </a:xfrm>
        </p:grpSpPr>
        <p:sp>
          <p:nvSpPr>
            <p:cNvPr id="9241" name="Text Box 20"/>
            <p:cNvSpPr txBox="1">
              <a:spLocks noChangeArrowheads="1"/>
            </p:cNvSpPr>
            <p:nvPr/>
          </p:nvSpPr>
          <p:spPr bwMode="auto">
            <a:xfrm>
              <a:off x="672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</a:rPr>
                <a:t>0.2</a:t>
              </a:r>
            </a:p>
          </p:txBody>
        </p:sp>
        <p:sp>
          <p:nvSpPr>
            <p:cNvPr id="9242" name="Text Box 21"/>
            <p:cNvSpPr txBox="1">
              <a:spLocks noChangeArrowheads="1"/>
            </p:cNvSpPr>
            <p:nvPr/>
          </p:nvSpPr>
          <p:spPr bwMode="auto">
            <a:xfrm>
              <a:off x="1440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</a:rPr>
                <a:t>0.7</a:t>
              </a:r>
            </a:p>
          </p:txBody>
        </p:sp>
        <p:sp>
          <p:nvSpPr>
            <p:cNvPr id="9243" name="Text Box 22"/>
            <p:cNvSpPr txBox="1">
              <a:spLocks noChangeArrowheads="1"/>
            </p:cNvSpPr>
            <p:nvPr/>
          </p:nvSpPr>
          <p:spPr bwMode="auto">
            <a:xfrm>
              <a:off x="2208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</a:rPr>
                <a:t>0.1</a:t>
              </a:r>
            </a:p>
          </p:txBody>
        </p:sp>
      </p:grpSp>
      <p:grpSp>
        <p:nvGrpSpPr>
          <p:cNvPr id="9222" name="Group 23"/>
          <p:cNvGrpSpPr>
            <a:grpSpLocks/>
          </p:cNvGrpSpPr>
          <p:nvPr/>
        </p:nvGrpSpPr>
        <p:grpSpPr bwMode="auto">
          <a:xfrm>
            <a:off x="1066800" y="5486400"/>
            <a:ext cx="2876550" cy="366713"/>
            <a:chOff x="672" y="3456"/>
            <a:chExt cx="1812" cy="231"/>
          </a:xfrm>
        </p:grpSpPr>
        <p:sp>
          <p:nvSpPr>
            <p:cNvPr id="9238" name="Text Box 24"/>
            <p:cNvSpPr txBox="1">
              <a:spLocks noChangeArrowheads="1"/>
            </p:cNvSpPr>
            <p:nvPr/>
          </p:nvSpPr>
          <p:spPr bwMode="auto">
            <a:xfrm>
              <a:off x="672" y="3456"/>
              <a:ext cx="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66"/>
                  </a:solidFill>
                </a:rPr>
                <a:t>100</a:t>
              </a:r>
            </a:p>
          </p:txBody>
        </p:sp>
        <p:sp>
          <p:nvSpPr>
            <p:cNvPr id="9239" name="Text Box 25"/>
            <p:cNvSpPr txBox="1">
              <a:spLocks noChangeArrowheads="1"/>
            </p:cNvSpPr>
            <p:nvPr/>
          </p:nvSpPr>
          <p:spPr bwMode="auto">
            <a:xfrm>
              <a:off x="1440" y="3456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66"/>
                  </a:solidFill>
                </a:rPr>
                <a:t>50</a:t>
              </a:r>
            </a:p>
          </p:txBody>
        </p:sp>
        <p:sp>
          <p:nvSpPr>
            <p:cNvPr id="9240" name="Text Box 26"/>
            <p:cNvSpPr txBox="1">
              <a:spLocks noChangeArrowheads="1"/>
            </p:cNvSpPr>
            <p:nvPr/>
          </p:nvSpPr>
          <p:spPr bwMode="auto">
            <a:xfrm>
              <a:off x="2208" y="3456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66"/>
                  </a:solidFill>
                </a:rPr>
                <a:t>70</a:t>
              </a:r>
            </a:p>
          </p:txBody>
        </p:sp>
      </p:grp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4114800" y="2133600"/>
            <a:ext cx="1524000" cy="1616075"/>
            <a:chOff x="2592" y="1344"/>
            <a:chExt cx="960" cy="1018"/>
          </a:xfrm>
        </p:grpSpPr>
        <p:sp>
          <p:nvSpPr>
            <p:cNvPr id="9235" name="Rectangle 28"/>
            <p:cNvSpPr>
              <a:spLocks noChangeArrowheads="1"/>
            </p:cNvSpPr>
            <p:nvPr/>
          </p:nvSpPr>
          <p:spPr bwMode="auto">
            <a:xfrm>
              <a:off x="3360" y="2112"/>
              <a:ext cx="192" cy="192"/>
            </a:xfrm>
            <a:prstGeom prst="rect">
              <a:avLst/>
            </a:prstGeom>
            <a:solidFill>
              <a:srgbClr val="E0FF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9236" name="Line 29"/>
            <p:cNvSpPr>
              <a:spLocks noChangeShapeType="1"/>
            </p:cNvSpPr>
            <p:nvPr/>
          </p:nvSpPr>
          <p:spPr bwMode="auto">
            <a:xfrm>
              <a:off x="2592" y="1344"/>
              <a:ext cx="87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9237" name="Text Box 30"/>
            <p:cNvSpPr txBox="1">
              <a:spLocks noChangeArrowheads="1"/>
            </p:cNvSpPr>
            <p:nvPr/>
          </p:nvSpPr>
          <p:spPr bwMode="auto">
            <a:xfrm>
              <a:off x="2976" y="2112"/>
              <a:ext cx="3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66CC"/>
                  </a:solidFill>
                </a:rPr>
                <a:t>A2</a:t>
              </a:r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2895600" y="3657600"/>
            <a:ext cx="3200400" cy="1662113"/>
            <a:chOff x="1824" y="2304"/>
            <a:chExt cx="2016" cy="1047"/>
          </a:xfrm>
        </p:grpSpPr>
        <p:sp>
          <p:nvSpPr>
            <p:cNvPr id="9231" name="Line 32"/>
            <p:cNvSpPr>
              <a:spLocks noChangeShapeType="1"/>
            </p:cNvSpPr>
            <p:nvPr/>
          </p:nvSpPr>
          <p:spPr bwMode="auto">
            <a:xfrm flipH="1">
              <a:off x="1824" y="2304"/>
              <a:ext cx="1632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9232" name="Oval 33"/>
            <p:cNvSpPr>
              <a:spLocks noChangeArrowheads="1"/>
            </p:cNvSpPr>
            <p:nvPr/>
          </p:nvSpPr>
          <p:spPr bwMode="auto">
            <a:xfrm>
              <a:off x="3648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9233" name="Line 34"/>
            <p:cNvSpPr>
              <a:spLocks noChangeShapeType="1"/>
            </p:cNvSpPr>
            <p:nvPr/>
          </p:nvSpPr>
          <p:spPr bwMode="auto">
            <a:xfrm>
              <a:off x="3456" y="2304"/>
              <a:ext cx="28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9234" name="Text Box 35"/>
            <p:cNvSpPr txBox="1">
              <a:spLocks noChangeArrowheads="1"/>
            </p:cNvSpPr>
            <p:nvPr/>
          </p:nvSpPr>
          <p:spPr bwMode="auto">
            <a:xfrm>
              <a:off x="3312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4</a:t>
              </a:r>
            </a:p>
          </p:txBody>
        </p:sp>
      </p:grp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2819400" y="5181600"/>
            <a:ext cx="2940050" cy="366713"/>
            <a:chOff x="1776" y="3264"/>
            <a:chExt cx="1852" cy="231"/>
          </a:xfrm>
        </p:grpSpPr>
        <p:sp>
          <p:nvSpPr>
            <p:cNvPr id="9229" name="Text Box 37"/>
            <p:cNvSpPr txBox="1">
              <a:spLocks noChangeArrowheads="1"/>
            </p:cNvSpPr>
            <p:nvPr/>
          </p:nvSpPr>
          <p:spPr bwMode="auto">
            <a:xfrm>
              <a:off x="1776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66CC"/>
                  </a:solidFill>
                </a:rPr>
                <a:t>0.2</a:t>
              </a:r>
            </a:p>
          </p:txBody>
        </p:sp>
        <p:sp>
          <p:nvSpPr>
            <p:cNvPr id="9230" name="Text Box 38"/>
            <p:cNvSpPr txBox="1">
              <a:spLocks noChangeArrowheads="1"/>
            </p:cNvSpPr>
            <p:nvPr/>
          </p:nvSpPr>
          <p:spPr bwMode="auto">
            <a:xfrm>
              <a:off x="3312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66CC"/>
                  </a:solidFill>
                </a:rPr>
                <a:t>0.8</a:t>
              </a:r>
            </a:p>
          </p:txBody>
        </p:sp>
      </p:grpSp>
      <p:sp>
        <p:nvSpPr>
          <p:cNvPr id="362535" name="Text Box 39"/>
          <p:cNvSpPr txBox="1">
            <a:spLocks noChangeArrowheads="1"/>
          </p:cNvSpPr>
          <p:nvPr/>
        </p:nvSpPr>
        <p:spPr bwMode="auto">
          <a:xfrm>
            <a:off x="5257800" y="54864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66"/>
                </a:solidFill>
              </a:rPr>
              <a:t>80</a:t>
            </a:r>
          </a:p>
        </p:txBody>
      </p:sp>
      <p:sp>
        <p:nvSpPr>
          <p:cNvPr id="362536" name="Text Box 40"/>
          <p:cNvSpPr txBox="1">
            <a:spLocks noChangeArrowheads="1"/>
          </p:cNvSpPr>
          <p:nvPr/>
        </p:nvSpPr>
        <p:spPr bwMode="auto">
          <a:xfrm>
            <a:off x="4876800" y="1600200"/>
            <a:ext cx="400367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b="1"/>
              <a:t> </a:t>
            </a:r>
            <a:r>
              <a:rPr lang="en-US" b="1">
                <a:solidFill>
                  <a:srgbClr val="800000"/>
                </a:solidFill>
              </a:rPr>
              <a:t>EU(AI) = 62</a:t>
            </a:r>
          </a:p>
          <a:p>
            <a:pPr>
              <a:buFontTx/>
              <a:buChar char="•"/>
            </a:pPr>
            <a:r>
              <a:rPr lang="en-US" b="1"/>
              <a:t> EU</a:t>
            </a:r>
            <a:r>
              <a:rPr lang="en-US" b="1">
                <a:solidFill>
                  <a:schemeClr val="hlink"/>
                </a:solidFill>
              </a:rPr>
              <a:t>(A2) = 74</a:t>
            </a:r>
          </a:p>
          <a:p>
            <a:pPr>
              <a:buFontTx/>
              <a:buChar char="•"/>
            </a:pPr>
            <a:r>
              <a:rPr lang="en-US" b="1"/>
              <a:t> EU(S0) = max{EU(A1),EU(A2)} </a:t>
            </a:r>
          </a:p>
          <a:p>
            <a:r>
              <a:rPr lang="en-US" b="1"/>
              <a:t>             = 74</a:t>
            </a:r>
          </a:p>
        </p:txBody>
      </p:sp>
      <p:sp>
        <p:nvSpPr>
          <p:cNvPr id="362537" name="Rectangle 41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839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One State/Two Actions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35" grpId="0" autoUpdateAnimBg="0"/>
      <p:bldP spid="36253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3429000" y="1676400"/>
            <a:ext cx="838200" cy="519113"/>
            <a:chOff x="2160" y="1056"/>
            <a:chExt cx="528" cy="327"/>
          </a:xfrm>
        </p:grpSpPr>
        <p:sp>
          <p:nvSpPr>
            <p:cNvPr id="10282" name="Oval 3"/>
            <p:cNvSpPr>
              <a:spLocks noChangeArrowheads="1"/>
            </p:cNvSpPr>
            <p:nvPr/>
          </p:nvSpPr>
          <p:spPr bwMode="auto">
            <a:xfrm>
              <a:off x="2496" y="115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283" name="Text Box 4"/>
            <p:cNvSpPr txBox="1">
              <a:spLocks noChangeArrowheads="1"/>
            </p:cNvSpPr>
            <p:nvPr/>
          </p:nvSpPr>
          <p:spPr bwMode="auto">
            <a:xfrm>
              <a:off x="2160" y="1056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0</a:t>
              </a:r>
            </a:p>
          </p:txBody>
        </p:sp>
      </p:grpSp>
      <p:grpSp>
        <p:nvGrpSpPr>
          <p:cNvPr id="10243" name="Group 5"/>
          <p:cNvGrpSpPr>
            <a:grpSpLocks/>
          </p:cNvGrpSpPr>
          <p:nvPr/>
        </p:nvGrpSpPr>
        <p:grpSpPr bwMode="auto">
          <a:xfrm>
            <a:off x="1066800" y="3657600"/>
            <a:ext cx="3200400" cy="1662113"/>
            <a:chOff x="672" y="2304"/>
            <a:chExt cx="2016" cy="1047"/>
          </a:xfrm>
        </p:grpSpPr>
        <p:sp>
          <p:nvSpPr>
            <p:cNvPr id="10273" name="Oval 6"/>
            <p:cNvSpPr>
              <a:spLocks noChangeArrowheads="1"/>
            </p:cNvSpPr>
            <p:nvPr/>
          </p:nvSpPr>
          <p:spPr bwMode="auto">
            <a:xfrm>
              <a:off x="960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274" name="Oval 7"/>
            <p:cNvSpPr>
              <a:spLocks noChangeArrowheads="1"/>
            </p:cNvSpPr>
            <p:nvPr/>
          </p:nvSpPr>
          <p:spPr bwMode="auto">
            <a:xfrm>
              <a:off x="2496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275" name="Oval 8"/>
            <p:cNvSpPr>
              <a:spLocks noChangeArrowheads="1"/>
            </p:cNvSpPr>
            <p:nvPr/>
          </p:nvSpPr>
          <p:spPr bwMode="auto">
            <a:xfrm>
              <a:off x="1728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276" name="Line 9"/>
            <p:cNvSpPr>
              <a:spLocks noChangeShapeType="1"/>
            </p:cNvSpPr>
            <p:nvPr/>
          </p:nvSpPr>
          <p:spPr bwMode="auto">
            <a:xfrm flipH="1">
              <a:off x="1056" y="230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10277" name="Line 10"/>
            <p:cNvSpPr>
              <a:spLocks noChangeShapeType="1"/>
            </p:cNvSpPr>
            <p:nvPr/>
          </p:nvSpPr>
          <p:spPr bwMode="auto">
            <a:xfrm>
              <a:off x="1824" y="230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10278" name="Line 11"/>
            <p:cNvSpPr>
              <a:spLocks noChangeShapeType="1"/>
            </p:cNvSpPr>
            <p:nvPr/>
          </p:nvSpPr>
          <p:spPr bwMode="auto">
            <a:xfrm>
              <a:off x="1824" y="230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10279" name="Text Box 12"/>
            <p:cNvSpPr txBox="1">
              <a:spLocks noChangeArrowheads="1"/>
            </p:cNvSpPr>
            <p:nvPr/>
          </p:nvSpPr>
          <p:spPr bwMode="auto">
            <a:xfrm>
              <a:off x="2208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3</a:t>
              </a:r>
            </a:p>
          </p:txBody>
        </p:sp>
        <p:sp>
          <p:nvSpPr>
            <p:cNvPr id="10280" name="Text Box 13"/>
            <p:cNvSpPr txBox="1">
              <a:spLocks noChangeArrowheads="1"/>
            </p:cNvSpPr>
            <p:nvPr/>
          </p:nvSpPr>
          <p:spPr bwMode="auto">
            <a:xfrm>
              <a:off x="1440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2</a:t>
              </a:r>
            </a:p>
          </p:txBody>
        </p:sp>
        <p:sp>
          <p:nvSpPr>
            <p:cNvPr id="10281" name="Text Box 14"/>
            <p:cNvSpPr txBox="1">
              <a:spLocks noChangeArrowheads="1"/>
            </p:cNvSpPr>
            <p:nvPr/>
          </p:nvSpPr>
          <p:spPr bwMode="auto">
            <a:xfrm>
              <a:off x="672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1</a:t>
              </a:r>
            </a:p>
          </p:txBody>
        </p:sp>
      </p:grpSp>
      <p:grpSp>
        <p:nvGrpSpPr>
          <p:cNvPr id="10244" name="Group 15"/>
          <p:cNvGrpSpPr>
            <a:grpSpLocks/>
          </p:cNvGrpSpPr>
          <p:nvPr/>
        </p:nvGrpSpPr>
        <p:grpSpPr bwMode="auto">
          <a:xfrm>
            <a:off x="2193925" y="2133600"/>
            <a:ext cx="1920875" cy="1550988"/>
            <a:chOff x="1382" y="1344"/>
            <a:chExt cx="1210" cy="977"/>
          </a:xfrm>
        </p:grpSpPr>
        <p:sp>
          <p:nvSpPr>
            <p:cNvPr id="10270" name="Rectangle 16"/>
            <p:cNvSpPr>
              <a:spLocks noChangeArrowheads="1"/>
            </p:cNvSpPr>
            <p:nvPr/>
          </p:nvSpPr>
          <p:spPr bwMode="auto">
            <a:xfrm>
              <a:off x="1728" y="2112"/>
              <a:ext cx="192" cy="192"/>
            </a:xfrm>
            <a:prstGeom prst="rect">
              <a:avLst/>
            </a:prstGeom>
            <a:solidFill>
              <a:srgbClr val="E0FF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271" name="Line 17"/>
            <p:cNvSpPr>
              <a:spLocks noChangeShapeType="1"/>
            </p:cNvSpPr>
            <p:nvPr/>
          </p:nvSpPr>
          <p:spPr bwMode="auto">
            <a:xfrm flipH="1">
              <a:off x="1824" y="134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10272" name="Text Box 18"/>
            <p:cNvSpPr txBox="1">
              <a:spLocks noChangeArrowheads="1"/>
            </p:cNvSpPr>
            <p:nvPr/>
          </p:nvSpPr>
          <p:spPr bwMode="auto">
            <a:xfrm>
              <a:off x="1382" y="2071"/>
              <a:ext cx="3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800000"/>
                  </a:solidFill>
                </a:rPr>
                <a:t>A1</a:t>
              </a:r>
            </a:p>
          </p:txBody>
        </p:sp>
      </p:grpSp>
      <p:grpSp>
        <p:nvGrpSpPr>
          <p:cNvPr id="10245" name="Group 19"/>
          <p:cNvGrpSpPr>
            <a:grpSpLocks/>
          </p:cNvGrpSpPr>
          <p:nvPr/>
        </p:nvGrpSpPr>
        <p:grpSpPr bwMode="auto">
          <a:xfrm>
            <a:off x="1066800" y="5181600"/>
            <a:ext cx="2940050" cy="366713"/>
            <a:chOff x="672" y="3264"/>
            <a:chExt cx="1852" cy="231"/>
          </a:xfrm>
        </p:grpSpPr>
        <p:sp>
          <p:nvSpPr>
            <p:cNvPr id="10267" name="Text Box 20"/>
            <p:cNvSpPr txBox="1">
              <a:spLocks noChangeArrowheads="1"/>
            </p:cNvSpPr>
            <p:nvPr/>
          </p:nvSpPr>
          <p:spPr bwMode="auto">
            <a:xfrm>
              <a:off x="672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</a:rPr>
                <a:t>0.2</a:t>
              </a:r>
            </a:p>
          </p:txBody>
        </p:sp>
        <p:sp>
          <p:nvSpPr>
            <p:cNvPr id="10268" name="Text Box 21"/>
            <p:cNvSpPr txBox="1">
              <a:spLocks noChangeArrowheads="1"/>
            </p:cNvSpPr>
            <p:nvPr/>
          </p:nvSpPr>
          <p:spPr bwMode="auto">
            <a:xfrm>
              <a:off x="1440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</a:rPr>
                <a:t>0.7</a:t>
              </a:r>
            </a:p>
          </p:txBody>
        </p:sp>
        <p:sp>
          <p:nvSpPr>
            <p:cNvPr id="10269" name="Text Box 22"/>
            <p:cNvSpPr txBox="1">
              <a:spLocks noChangeArrowheads="1"/>
            </p:cNvSpPr>
            <p:nvPr/>
          </p:nvSpPr>
          <p:spPr bwMode="auto">
            <a:xfrm>
              <a:off x="2208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800000"/>
                  </a:solidFill>
                </a:rPr>
                <a:t>0.1</a:t>
              </a:r>
            </a:p>
          </p:txBody>
        </p:sp>
      </p:grpSp>
      <p:grpSp>
        <p:nvGrpSpPr>
          <p:cNvPr id="10246" name="Group 23"/>
          <p:cNvGrpSpPr>
            <a:grpSpLocks/>
          </p:cNvGrpSpPr>
          <p:nvPr/>
        </p:nvGrpSpPr>
        <p:grpSpPr bwMode="auto">
          <a:xfrm>
            <a:off x="1066800" y="5486400"/>
            <a:ext cx="2876550" cy="366713"/>
            <a:chOff x="672" y="3456"/>
            <a:chExt cx="1812" cy="231"/>
          </a:xfrm>
        </p:grpSpPr>
        <p:sp>
          <p:nvSpPr>
            <p:cNvPr id="10264" name="Text Box 24"/>
            <p:cNvSpPr txBox="1">
              <a:spLocks noChangeArrowheads="1"/>
            </p:cNvSpPr>
            <p:nvPr/>
          </p:nvSpPr>
          <p:spPr bwMode="auto">
            <a:xfrm>
              <a:off x="672" y="3456"/>
              <a:ext cx="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66"/>
                  </a:solidFill>
                </a:rPr>
                <a:t>100</a:t>
              </a:r>
            </a:p>
          </p:txBody>
        </p:sp>
        <p:sp>
          <p:nvSpPr>
            <p:cNvPr id="10265" name="Text Box 25"/>
            <p:cNvSpPr txBox="1">
              <a:spLocks noChangeArrowheads="1"/>
            </p:cNvSpPr>
            <p:nvPr/>
          </p:nvSpPr>
          <p:spPr bwMode="auto">
            <a:xfrm>
              <a:off x="1440" y="3456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66"/>
                  </a:solidFill>
                </a:rPr>
                <a:t>50</a:t>
              </a:r>
            </a:p>
          </p:txBody>
        </p:sp>
        <p:sp>
          <p:nvSpPr>
            <p:cNvPr id="10266" name="Text Box 26"/>
            <p:cNvSpPr txBox="1">
              <a:spLocks noChangeArrowheads="1"/>
            </p:cNvSpPr>
            <p:nvPr/>
          </p:nvSpPr>
          <p:spPr bwMode="auto">
            <a:xfrm>
              <a:off x="2208" y="3456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66"/>
                  </a:solidFill>
                </a:rPr>
                <a:t>70</a:t>
              </a:r>
            </a:p>
          </p:txBody>
        </p:sp>
      </p:grpSp>
      <p:grpSp>
        <p:nvGrpSpPr>
          <p:cNvPr id="10247" name="Group 27"/>
          <p:cNvGrpSpPr>
            <a:grpSpLocks/>
          </p:cNvGrpSpPr>
          <p:nvPr/>
        </p:nvGrpSpPr>
        <p:grpSpPr bwMode="auto">
          <a:xfrm>
            <a:off x="4114800" y="2133600"/>
            <a:ext cx="1524000" cy="1616075"/>
            <a:chOff x="2592" y="1344"/>
            <a:chExt cx="960" cy="1018"/>
          </a:xfrm>
        </p:grpSpPr>
        <p:sp>
          <p:nvSpPr>
            <p:cNvPr id="10261" name="Rectangle 28"/>
            <p:cNvSpPr>
              <a:spLocks noChangeArrowheads="1"/>
            </p:cNvSpPr>
            <p:nvPr/>
          </p:nvSpPr>
          <p:spPr bwMode="auto">
            <a:xfrm>
              <a:off x="3360" y="2112"/>
              <a:ext cx="192" cy="192"/>
            </a:xfrm>
            <a:prstGeom prst="rect">
              <a:avLst/>
            </a:prstGeom>
            <a:solidFill>
              <a:srgbClr val="E0FF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262" name="Line 29"/>
            <p:cNvSpPr>
              <a:spLocks noChangeShapeType="1"/>
            </p:cNvSpPr>
            <p:nvPr/>
          </p:nvSpPr>
          <p:spPr bwMode="auto">
            <a:xfrm>
              <a:off x="2592" y="1344"/>
              <a:ext cx="87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10263" name="Text Box 30"/>
            <p:cNvSpPr txBox="1">
              <a:spLocks noChangeArrowheads="1"/>
            </p:cNvSpPr>
            <p:nvPr/>
          </p:nvSpPr>
          <p:spPr bwMode="auto">
            <a:xfrm>
              <a:off x="2976" y="2112"/>
              <a:ext cx="3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66CC"/>
                  </a:solidFill>
                </a:rPr>
                <a:t>A2</a:t>
              </a:r>
            </a:p>
          </p:txBody>
        </p:sp>
      </p:grpSp>
      <p:grpSp>
        <p:nvGrpSpPr>
          <p:cNvPr id="10248" name="Group 31"/>
          <p:cNvGrpSpPr>
            <a:grpSpLocks/>
          </p:cNvGrpSpPr>
          <p:nvPr/>
        </p:nvGrpSpPr>
        <p:grpSpPr bwMode="auto">
          <a:xfrm>
            <a:off x="2895600" y="3657600"/>
            <a:ext cx="3200400" cy="1662113"/>
            <a:chOff x="1824" y="2304"/>
            <a:chExt cx="2016" cy="1047"/>
          </a:xfrm>
        </p:grpSpPr>
        <p:sp>
          <p:nvSpPr>
            <p:cNvPr id="10257" name="Line 32"/>
            <p:cNvSpPr>
              <a:spLocks noChangeShapeType="1"/>
            </p:cNvSpPr>
            <p:nvPr/>
          </p:nvSpPr>
          <p:spPr bwMode="auto">
            <a:xfrm flipH="1">
              <a:off x="1824" y="2304"/>
              <a:ext cx="1632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10258" name="Oval 33"/>
            <p:cNvSpPr>
              <a:spLocks noChangeArrowheads="1"/>
            </p:cNvSpPr>
            <p:nvPr/>
          </p:nvSpPr>
          <p:spPr bwMode="auto">
            <a:xfrm>
              <a:off x="3648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259" name="Line 34"/>
            <p:cNvSpPr>
              <a:spLocks noChangeShapeType="1"/>
            </p:cNvSpPr>
            <p:nvPr/>
          </p:nvSpPr>
          <p:spPr bwMode="auto">
            <a:xfrm>
              <a:off x="3456" y="2304"/>
              <a:ext cx="28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10260" name="Text Box 35"/>
            <p:cNvSpPr txBox="1">
              <a:spLocks noChangeArrowheads="1"/>
            </p:cNvSpPr>
            <p:nvPr/>
          </p:nvSpPr>
          <p:spPr bwMode="auto">
            <a:xfrm>
              <a:off x="3312" y="3024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s</a:t>
              </a:r>
              <a:r>
                <a:rPr lang="en-US" b="1"/>
                <a:t>4</a:t>
              </a:r>
            </a:p>
          </p:txBody>
        </p:sp>
      </p:grpSp>
      <p:grpSp>
        <p:nvGrpSpPr>
          <p:cNvPr id="10249" name="Group 36"/>
          <p:cNvGrpSpPr>
            <a:grpSpLocks/>
          </p:cNvGrpSpPr>
          <p:nvPr/>
        </p:nvGrpSpPr>
        <p:grpSpPr bwMode="auto">
          <a:xfrm>
            <a:off x="2819400" y="5181600"/>
            <a:ext cx="2940050" cy="366713"/>
            <a:chOff x="1776" y="3264"/>
            <a:chExt cx="1852" cy="231"/>
          </a:xfrm>
        </p:grpSpPr>
        <p:sp>
          <p:nvSpPr>
            <p:cNvPr id="10255" name="Text Box 37"/>
            <p:cNvSpPr txBox="1">
              <a:spLocks noChangeArrowheads="1"/>
            </p:cNvSpPr>
            <p:nvPr/>
          </p:nvSpPr>
          <p:spPr bwMode="auto">
            <a:xfrm>
              <a:off x="1776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66CC"/>
                  </a:solidFill>
                </a:rPr>
                <a:t>0.2</a:t>
              </a:r>
            </a:p>
          </p:txBody>
        </p:sp>
        <p:sp>
          <p:nvSpPr>
            <p:cNvPr id="10256" name="Text Box 38"/>
            <p:cNvSpPr txBox="1">
              <a:spLocks noChangeArrowheads="1"/>
            </p:cNvSpPr>
            <p:nvPr/>
          </p:nvSpPr>
          <p:spPr bwMode="auto">
            <a:xfrm>
              <a:off x="3312" y="326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66CC"/>
                  </a:solidFill>
                </a:rPr>
                <a:t>0.8</a:t>
              </a:r>
            </a:p>
          </p:txBody>
        </p:sp>
      </p:grpSp>
      <p:sp>
        <p:nvSpPr>
          <p:cNvPr id="10250" name="Text Box 39"/>
          <p:cNvSpPr txBox="1">
            <a:spLocks noChangeArrowheads="1"/>
          </p:cNvSpPr>
          <p:nvPr/>
        </p:nvSpPr>
        <p:spPr bwMode="auto">
          <a:xfrm>
            <a:off x="5257800" y="54864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66"/>
                </a:solidFill>
              </a:rPr>
              <a:t>80</a:t>
            </a:r>
          </a:p>
        </p:txBody>
      </p:sp>
      <p:sp>
        <p:nvSpPr>
          <p:cNvPr id="10251" name="Text Box 40"/>
          <p:cNvSpPr txBox="1">
            <a:spLocks noChangeArrowheads="1"/>
          </p:cNvSpPr>
          <p:nvPr/>
        </p:nvSpPr>
        <p:spPr bwMode="auto">
          <a:xfrm>
            <a:off x="4876800" y="1600200"/>
            <a:ext cx="400367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b="1"/>
              <a:t> </a:t>
            </a:r>
            <a:r>
              <a:rPr lang="en-US" b="1">
                <a:solidFill>
                  <a:srgbClr val="800000"/>
                </a:solidFill>
              </a:rPr>
              <a:t>EU(A1) = 62 – 5 = 57</a:t>
            </a:r>
          </a:p>
          <a:p>
            <a:pPr>
              <a:buFontTx/>
              <a:buChar char="•"/>
            </a:pPr>
            <a:r>
              <a:rPr lang="en-US" b="1"/>
              <a:t> </a:t>
            </a:r>
            <a:r>
              <a:rPr lang="en-US" b="1">
                <a:solidFill>
                  <a:schemeClr val="hlink"/>
                </a:solidFill>
              </a:rPr>
              <a:t>EU(A2) = 74 – 25 = 49</a:t>
            </a:r>
          </a:p>
          <a:p>
            <a:pPr>
              <a:buFontTx/>
              <a:buChar char="•"/>
            </a:pPr>
            <a:r>
              <a:rPr lang="en-US" b="1"/>
              <a:t> EU(S0) = max{EU(A1),EU(A2)} </a:t>
            </a:r>
          </a:p>
          <a:p>
            <a:r>
              <a:rPr lang="en-US" b="1"/>
              <a:t>             = 57</a:t>
            </a:r>
          </a:p>
        </p:txBody>
      </p:sp>
      <p:sp>
        <p:nvSpPr>
          <p:cNvPr id="10252" name="Text Box 41"/>
          <p:cNvSpPr txBox="1">
            <a:spLocks noChangeArrowheads="1"/>
          </p:cNvSpPr>
          <p:nvPr/>
        </p:nvSpPr>
        <p:spPr bwMode="auto">
          <a:xfrm>
            <a:off x="3048000" y="3505200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800000"/>
                </a:solidFill>
              </a:rPr>
              <a:t>-5</a:t>
            </a:r>
          </a:p>
        </p:txBody>
      </p:sp>
      <p:sp>
        <p:nvSpPr>
          <p:cNvPr id="10253" name="Text Box 42"/>
          <p:cNvSpPr txBox="1">
            <a:spLocks noChangeArrowheads="1"/>
          </p:cNvSpPr>
          <p:nvPr/>
        </p:nvSpPr>
        <p:spPr bwMode="auto">
          <a:xfrm>
            <a:off x="5638800" y="3505200"/>
            <a:ext cx="550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66CC"/>
                </a:solidFill>
              </a:rPr>
              <a:t>-25</a:t>
            </a:r>
          </a:p>
        </p:txBody>
      </p:sp>
      <p:sp>
        <p:nvSpPr>
          <p:cNvPr id="363563" name="Rectangle 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Introducing Action Costs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MEU Principle</a:t>
            </a:r>
          </a:p>
        </p:txBody>
      </p:sp>
      <p:sp>
        <p:nvSpPr>
          <p:cNvPr id="364548" name="WordArt 4"/>
          <p:cNvSpPr>
            <a:spLocks noChangeArrowheads="1" noChangeShapeType="1" noTextEdit="1"/>
          </p:cNvSpPr>
          <p:nvPr/>
        </p:nvSpPr>
        <p:spPr bwMode="auto">
          <a:xfrm>
            <a:off x="2209800" y="4724400"/>
            <a:ext cx="5181600" cy="19050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4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AI is solved  !!!</a:t>
            </a:r>
            <a:endParaRPr lang="th-TH" sz="3600" kern="1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Impact"/>
            </a:endParaRPr>
          </a:p>
        </p:txBody>
      </p:sp>
      <p:sp>
        <p:nvSpPr>
          <p:cNvPr id="1126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772400" cy="4114800"/>
          </a:xfrm>
        </p:spPr>
        <p:txBody>
          <a:bodyPr/>
          <a:lstStyle/>
          <a:p>
            <a:pPr eaLnBrk="1" hangingPunct="1"/>
            <a:r>
              <a:rPr lang="en-US"/>
              <a:t>rational agent should choose the action that maximizes agent’s expected utility</a:t>
            </a:r>
          </a:p>
          <a:p>
            <a:pPr eaLnBrk="1" hangingPunct="1"/>
            <a:r>
              <a:rPr lang="en-US"/>
              <a:t>this is the basis of the field of decision theory</a:t>
            </a:r>
          </a:p>
          <a:p>
            <a:pPr eaLnBrk="1" hangingPunct="1"/>
            <a:r>
              <a:rPr lang="en-US"/>
              <a:t>normative criterion for rational choice of action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Not quite…</a:t>
            </a:r>
          </a:p>
        </p:txBody>
      </p:sp>
      <p:sp>
        <p:nvSpPr>
          <p:cNvPr id="3665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Must have </a:t>
            </a:r>
            <a:r>
              <a:rPr lang="en-US" sz="2400" b="1"/>
              <a:t>complete</a:t>
            </a:r>
            <a:r>
              <a:rPr lang="en-US" sz="2400"/>
              <a:t> model 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Utilities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States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Even if you have a complete model, will be computationally </a:t>
            </a:r>
            <a:r>
              <a:rPr lang="en-US" sz="2400" b="1"/>
              <a:t>intractable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In fact, a truly rational agent takes into account the utility of reasoning as well---</a:t>
            </a:r>
            <a:r>
              <a:rPr lang="en-US" sz="2400" b="1"/>
              <a:t>bounded rationality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Nevertheless, great progress has been made in this area recently, and we are able to solve much more complex decision theoretic problems than ever before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We’ll look at</a:t>
            </a:r>
          </a:p>
        </p:txBody>
      </p:sp>
      <p:sp>
        <p:nvSpPr>
          <p:cNvPr id="1331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Decision Theoretic Planning</a:t>
            </a:r>
          </a:p>
          <a:p>
            <a:pPr lvl="1" eaLnBrk="1" hangingPunct="1"/>
            <a:r>
              <a:rPr lang="en-US"/>
              <a:t>Simple decision making (ch. 16)</a:t>
            </a:r>
          </a:p>
          <a:p>
            <a:pPr lvl="1" eaLnBrk="1" hangingPunct="1"/>
            <a:r>
              <a:rPr lang="en-US"/>
              <a:t>Sequential decision making (ch. 17)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Decision Networks</a:t>
            </a:r>
          </a:p>
        </p:txBody>
      </p:sp>
      <p:sp>
        <p:nvSpPr>
          <p:cNvPr id="143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Extend BNs to handle actions and utilities</a:t>
            </a:r>
          </a:p>
          <a:p>
            <a:pPr eaLnBrk="1" hangingPunct="1"/>
            <a:r>
              <a:rPr lang="en-US"/>
              <a:t>Also called Influence diagrams</a:t>
            </a:r>
          </a:p>
          <a:p>
            <a:pPr eaLnBrk="1" hangingPunct="1"/>
            <a:r>
              <a:rPr lang="en-US"/>
              <a:t>Make use of BN inference</a:t>
            </a:r>
          </a:p>
          <a:p>
            <a:pPr eaLnBrk="1" hangingPunct="1"/>
            <a:r>
              <a:rPr lang="en-US"/>
              <a:t>Can do Value of Information calculations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Decision Networks cont.</a:t>
            </a:r>
          </a:p>
        </p:txBody>
      </p:sp>
      <p:sp>
        <p:nvSpPr>
          <p:cNvPr id="153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828800" y="1905000"/>
            <a:ext cx="6781800" cy="4114800"/>
          </a:xfrm>
        </p:spPr>
        <p:txBody>
          <a:bodyPr/>
          <a:lstStyle/>
          <a:p>
            <a:pPr eaLnBrk="1" hangingPunct="1"/>
            <a:r>
              <a:rPr lang="en-US" sz="2800"/>
              <a:t>Chance nodes: random variables, as in BNs</a:t>
            </a:r>
          </a:p>
          <a:p>
            <a:pPr eaLnBrk="1" hangingPunct="1"/>
            <a:r>
              <a:rPr lang="en-US" sz="2800"/>
              <a:t>Decision nodes: actions that decision maker can take</a:t>
            </a:r>
          </a:p>
          <a:p>
            <a:pPr eaLnBrk="1" hangingPunct="1"/>
            <a:r>
              <a:rPr lang="en-US" sz="2800"/>
              <a:t>Utility/value nodes: the utility of the outcome state.  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838200" y="1981200"/>
            <a:ext cx="914400" cy="3810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914400" y="2895600"/>
            <a:ext cx="762000" cy="3810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15366" name="AutoShape 6"/>
          <p:cNvSpPr>
            <a:spLocks noChangeArrowheads="1"/>
          </p:cNvSpPr>
          <p:nvPr/>
        </p:nvSpPr>
        <p:spPr bwMode="auto">
          <a:xfrm>
            <a:off x="914400" y="3810000"/>
            <a:ext cx="838200" cy="533400"/>
          </a:xfrm>
          <a:prstGeom prst="flowChartDecision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R&amp;N example</a:t>
            </a:r>
          </a:p>
        </p:txBody>
      </p:sp>
      <p:pic>
        <p:nvPicPr>
          <p:cNvPr id="372740" name="Picture 4"/>
          <p:cNvPicPr>
            <a:picLocks noChangeAspect="1" noChangeArrowheads="1"/>
          </p:cNvPicPr>
          <p:nvPr/>
        </p:nvPicPr>
        <p:blipFill>
          <a:blip r:embed="rId3" cstate="print"/>
          <a:srcRect l="14149" t="24985" r="20213" b="35692"/>
          <a:stretch>
            <a:fillRect/>
          </a:stretch>
        </p:blipFill>
        <p:spPr bwMode="auto">
          <a:xfrm>
            <a:off x="1755775" y="1524000"/>
            <a:ext cx="5938838" cy="50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Umbrella Network</a:t>
            </a:r>
          </a:p>
        </p:txBody>
      </p:sp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5029200" y="2971800"/>
            <a:ext cx="1295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rain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914400" y="2819400"/>
            <a:ext cx="19050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Take Umbrella</a:t>
            </a:r>
          </a:p>
        </p:txBody>
      </p:sp>
      <p:sp>
        <p:nvSpPr>
          <p:cNvPr id="17413" name="AutoShape 6"/>
          <p:cNvSpPr>
            <a:spLocks noChangeArrowheads="1"/>
          </p:cNvSpPr>
          <p:nvPr/>
        </p:nvSpPr>
        <p:spPr bwMode="auto">
          <a:xfrm>
            <a:off x="3352800" y="4267200"/>
            <a:ext cx="1676400" cy="685800"/>
          </a:xfrm>
          <a:prstGeom prst="flowChartDecision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happiness</a:t>
            </a:r>
          </a:p>
        </p:txBody>
      </p:sp>
      <p:cxnSp>
        <p:nvCxnSpPr>
          <p:cNvPr id="17414" name="AutoShape 7"/>
          <p:cNvCxnSpPr>
            <a:cxnSpLocks noChangeShapeType="1"/>
            <a:stCxn id="17411" idx="4"/>
            <a:endCxn id="17413" idx="0"/>
          </p:cNvCxnSpPr>
          <p:nvPr/>
        </p:nvCxnSpPr>
        <p:spPr bwMode="auto">
          <a:xfrm flipH="1">
            <a:off x="4191000" y="3505200"/>
            <a:ext cx="1485900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15" name="AutoShape 8"/>
          <p:cNvCxnSpPr>
            <a:cxnSpLocks noChangeShapeType="1"/>
            <a:stCxn id="17419" idx="4"/>
            <a:endCxn id="17413" idx="0"/>
          </p:cNvCxnSpPr>
          <p:nvPr/>
        </p:nvCxnSpPr>
        <p:spPr bwMode="auto">
          <a:xfrm>
            <a:off x="2743200" y="4114800"/>
            <a:ext cx="14478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16" name="Text Box 10"/>
          <p:cNvSpPr txBox="1">
            <a:spLocks noChangeArrowheads="1"/>
          </p:cNvSpPr>
          <p:nvPr/>
        </p:nvSpPr>
        <p:spPr bwMode="auto">
          <a:xfrm>
            <a:off x="1127125" y="2362200"/>
            <a:ext cx="167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take/don’t take</a:t>
            </a:r>
          </a:p>
        </p:txBody>
      </p:sp>
      <p:sp>
        <p:nvSpPr>
          <p:cNvPr id="17417" name="Text Box 14"/>
          <p:cNvSpPr txBox="1">
            <a:spLocks noChangeArrowheads="1"/>
          </p:cNvSpPr>
          <p:nvPr/>
        </p:nvSpPr>
        <p:spPr bwMode="auto">
          <a:xfrm>
            <a:off x="4953000" y="25146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P(rain) = 0.4</a:t>
            </a:r>
          </a:p>
        </p:txBody>
      </p:sp>
      <p:sp>
        <p:nvSpPr>
          <p:cNvPr id="17418" name="Text Box 15"/>
          <p:cNvSpPr txBox="1">
            <a:spLocks noChangeArrowheads="1"/>
          </p:cNvSpPr>
          <p:nvPr/>
        </p:nvSpPr>
        <p:spPr bwMode="auto">
          <a:xfrm>
            <a:off x="2667000" y="5257800"/>
            <a:ext cx="2606675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U(~umb, ~rain) = 100</a:t>
            </a:r>
          </a:p>
          <a:p>
            <a:r>
              <a:rPr lang="en-US"/>
              <a:t>U(~umb, rain) = -100 </a:t>
            </a:r>
          </a:p>
          <a:p>
            <a:r>
              <a:rPr lang="en-US" sz="1800"/>
              <a:t>U(umb,~rain) = 0</a:t>
            </a:r>
          </a:p>
          <a:p>
            <a:r>
              <a:rPr lang="en-US"/>
              <a:t>U(umb,rain) = -25</a:t>
            </a:r>
            <a:endParaRPr lang="en-US" sz="1800"/>
          </a:p>
        </p:txBody>
      </p:sp>
      <p:sp>
        <p:nvSpPr>
          <p:cNvPr id="17419" name="Oval 16"/>
          <p:cNvSpPr>
            <a:spLocks noChangeArrowheads="1"/>
          </p:cNvSpPr>
          <p:nvPr/>
        </p:nvSpPr>
        <p:spPr bwMode="auto">
          <a:xfrm>
            <a:off x="1905000" y="3581400"/>
            <a:ext cx="1676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 umbrella</a:t>
            </a:r>
          </a:p>
        </p:txBody>
      </p:sp>
      <p:cxnSp>
        <p:nvCxnSpPr>
          <p:cNvPr id="17420" name="AutoShape 17"/>
          <p:cNvCxnSpPr>
            <a:cxnSpLocks noChangeShapeType="1"/>
            <a:stCxn id="17412" idx="2"/>
            <a:endCxn id="17419" idx="1"/>
          </p:cNvCxnSpPr>
          <p:nvPr/>
        </p:nvCxnSpPr>
        <p:spPr bwMode="auto">
          <a:xfrm>
            <a:off x="1866900" y="3276600"/>
            <a:ext cx="284163" cy="382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21" name="Text Box 18"/>
          <p:cNvSpPr txBox="1">
            <a:spLocks noChangeArrowheads="1"/>
          </p:cNvSpPr>
          <p:nvPr/>
        </p:nvSpPr>
        <p:spPr bwMode="auto">
          <a:xfrm>
            <a:off x="304800" y="4159250"/>
            <a:ext cx="2141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P(umb|take) = 1.0</a:t>
            </a:r>
          </a:p>
          <a:p>
            <a:r>
              <a:rPr lang="en-US" sz="1800"/>
              <a:t>P(~umb|~take)=1.0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Evaluating Decision Networks</a:t>
            </a:r>
          </a:p>
        </p:txBody>
      </p:sp>
      <p:sp>
        <p:nvSpPr>
          <p:cNvPr id="184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Set the evidence variables for current state</a:t>
            </a:r>
          </a:p>
          <a:p>
            <a:pPr eaLnBrk="1" hangingPunct="1"/>
            <a:r>
              <a:rPr lang="en-US" sz="2800"/>
              <a:t>For each possible value of the decision node:</a:t>
            </a:r>
          </a:p>
          <a:p>
            <a:pPr lvl="1" eaLnBrk="1" hangingPunct="1"/>
            <a:r>
              <a:rPr lang="en-US" sz="2400"/>
              <a:t>Set decision node to that value</a:t>
            </a:r>
          </a:p>
          <a:p>
            <a:pPr lvl="1" eaLnBrk="1" hangingPunct="1"/>
            <a:r>
              <a:rPr lang="en-US" sz="2400"/>
              <a:t>Calculate the posterior probability of the parent nodes of the utility node, using BN inference</a:t>
            </a:r>
          </a:p>
          <a:p>
            <a:pPr lvl="1" eaLnBrk="1" hangingPunct="1"/>
            <a:r>
              <a:rPr lang="en-US" sz="2400"/>
              <a:t>Calculate the resulting utility for action</a:t>
            </a:r>
          </a:p>
          <a:p>
            <a:pPr eaLnBrk="1" hangingPunct="1"/>
            <a:r>
              <a:rPr lang="en-US" sz="2800"/>
              <a:t>return the action with the highest utility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Umbrella Network</a:t>
            </a:r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5029200" y="2971800"/>
            <a:ext cx="1295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rain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914400" y="2819400"/>
            <a:ext cx="19050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Take Umbrella</a:t>
            </a:r>
          </a:p>
        </p:txBody>
      </p:sp>
      <p:sp>
        <p:nvSpPr>
          <p:cNvPr id="19461" name="AutoShape 5"/>
          <p:cNvSpPr>
            <a:spLocks noChangeArrowheads="1"/>
          </p:cNvSpPr>
          <p:nvPr/>
        </p:nvSpPr>
        <p:spPr bwMode="auto">
          <a:xfrm>
            <a:off x="3352800" y="4267200"/>
            <a:ext cx="1676400" cy="685800"/>
          </a:xfrm>
          <a:prstGeom prst="flowChartDecision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happiness</a:t>
            </a:r>
          </a:p>
        </p:txBody>
      </p:sp>
      <p:cxnSp>
        <p:nvCxnSpPr>
          <p:cNvPr id="19462" name="AutoShape 6"/>
          <p:cNvCxnSpPr>
            <a:cxnSpLocks noChangeShapeType="1"/>
            <a:stCxn id="19459" idx="4"/>
            <a:endCxn id="19461" idx="0"/>
          </p:cNvCxnSpPr>
          <p:nvPr/>
        </p:nvCxnSpPr>
        <p:spPr bwMode="auto">
          <a:xfrm flipH="1">
            <a:off x="4191000" y="3505200"/>
            <a:ext cx="1485900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463" name="AutoShape 7"/>
          <p:cNvCxnSpPr>
            <a:cxnSpLocks noChangeShapeType="1"/>
            <a:stCxn id="19467" idx="4"/>
            <a:endCxn id="19461" idx="0"/>
          </p:cNvCxnSpPr>
          <p:nvPr/>
        </p:nvCxnSpPr>
        <p:spPr bwMode="auto">
          <a:xfrm>
            <a:off x="2743200" y="4114800"/>
            <a:ext cx="14478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1127125" y="2362200"/>
            <a:ext cx="167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take/don’t take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4953000" y="25146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P(rain) = 0.4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2667000" y="5257800"/>
            <a:ext cx="2606675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U(~umb, ~rain) = 100</a:t>
            </a:r>
          </a:p>
          <a:p>
            <a:r>
              <a:rPr lang="en-US"/>
              <a:t>U(~umb, rain) = -100 </a:t>
            </a:r>
          </a:p>
          <a:p>
            <a:r>
              <a:rPr lang="en-US" sz="1800"/>
              <a:t>U(umb,~rain) = 0</a:t>
            </a:r>
          </a:p>
          <a:p>
            <a:r>
              <a:rPr lang="en-US"/>
              <a:t>U(umb,rain) = -25</a:t>
            </a:r>
            <a:endParaRPr lang="en-US" sz="1800"/>
          </a:p>
        </p:txBody>
      </p:sp>
      <p:sp>
        <p:nvSpPr>
          <p:cNvPr id="19467" name="Oval 11"/>
          <p:cNvSpPr>
            <a:spLocks noChangeArrowheads="1"/>
          </p:cNvSpPr>
          <p:nvPr/>
        </p:nvSpPr>
        <p:spPr bwMode="auto">
          <a:xfrm>
            <a:off x="1905000" y="3581400"/>
            <a:ext cx="1676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 umbrella</a:t>
            </a:r>
          </a:p>
        </p:txBody>
      </p:sp>
      <p:cxnSp>
        <p:nvCxnSpPr>
          <p:cNvPr id="19468" name="AutoShape 12"/>
          <p:cNvCxnSpPr>
            <a:cxnSpLocks noChangeShapeType="1"/>
            <a:stCxn id="19460" idx="2"/>
            <a:endCxn id="19467" idx="1"/>
          </p:cNvCxnSpPr>
          <p:nvPr/>
        </p:nvCxnSpPr>
        <p:spPr bwMode="auto">
          <a:xfrm>
            <a:off x="1866900" y="3276600"/>
            <a:ext cx="284163" cy="382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304800" y="4159250"/>
            <a:ext cx="2141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P(umb|take) = 1.0</a:t>
            </a:r>
          </a:p>
          <a:p>
            <a:r>
              <a:rPr lang="en-US" sz="1800"/>
              <a:t>P(~umb|~take)=1.0</a:t>
            </a:r>
          </a:p>
        </p:txBody>
      </p:sp>
      <p:graphicFrame>
        <p:nvGraphicFramePr>
          <p:cNvPr id="385073" name="Group 49"/>
          <p:cNvGraphicFramePr>
            <a:graphicFrameLocks noGrp="1"/>
          </p:cNvGraphicFramePr>
          <p:nvPr/>
        </p:nvGraphicFramePr>
        <p:xfrm>
          <a:off x="5562600" y="4114800"/>
          <a:ext cx="3200400" cy="1565275"/>
        </p:xfrm>
        <a:graphic>
          <a:graphicData uri="http://schemas.openxmlformats.org/drawingml/2006/table">
            <a:tbl>
              <a:tblPr/>
              <a:tblGrid>
                <a:gridCol w="728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umb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P(umb,rain | take)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0.6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0.4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5071" name="Text Box 47"/>
          <p:cNvSpPr txBox="1">
            <a:spLocks noChangeArrowheads="1"/>
          </p:cNvSpPr>
          <p:nvPr/>
        </p:nvSpPr>
        <p:spPr bwMode="auto">
          <a:xfrm>
            <a:off x="6629400" y="3657600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#1</a:t>
            </a:r>
          </a:p>
        </p:txBody>
      </p:sp>
      <p:sp>
        <p:nvSpPr>
          <p:cNvPr id="385072" name="Text Box 48"/>
          <p:cNvSpPr txBox="1">
            <a:spLocks noChangeArrowheads="1"/>
          </p:cNvSpPr>
          <p:nvPr/>
        </p:nvSpPr>
        <p:spPr bwMode="auto">
          <a:xfrm>
            <a:off x="5410200" y="6019800"/>
            <a:ext cx="3429000" cy="396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/>
              <a:t>#1: EU(take) = -10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71" grpId="0"/>
      <p:bldP spid="38507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Umbrella Network</a:t>
            </a:r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5029200" y="2971800"/>
            <a:ext cx="1295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rain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914400" y="2819400"/>
            <a:ext cx="19050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Take Umbrella</a:t>
            </a:r>
          </a:p>
        </p:txBody>
      </p:sp>
      <p:sp>
        <p:nvSpPr>
          <p:cNvPr id="20485" name="AutoShape 5"/>
          <p:cNvSpPr>
            <a:spLocks noChangeArrowheads="1"/>
          </p:cNvSpPr>
          <p:nvPr/>
        </p:nvSpPr>
        <p:spPr bwMode="auto">
          <a:xfrm>
            <a:off x="3352800" y="4267200"/>
            <a:ext cx="1676400" cy="685800"/>
          </a:xfrm>
          <a:prstGeom prst="flowChartDecision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happiness</a:t>
            </a:r>
          </a:p>
        </p:txBody>
      </p:sp>
      <p:cxnSp>
        <p:nvCxnSpPr>
          <p:cNvPr id="20486" name="AutoShape 6"/>
          <p:cNvCxnSpPr>
            <a:cxnSpLocks noChangeShapeType="1"/>
            <a:stCxn id="20483" idx="4"/>
            <a:endCxn id="20485" idx="0"/>
          </p:cNvCxnSpPr>
          <p:nvPr/>
        </p:nvCxnSpPr>
        <p:spPr bwMode="auto">
          <a:xfrm flipH="1">
            <a:off x="4191000" y="3505200"/>
            <a:ext cx="1485900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487" name="AutoShape 7"/>
          <p:cNvCxnSpPr>
            <a:cxnSpLocks noChangeShapeType="1"/>
            <a:stCxn id="20491" idx="4"/>
            <a:endCxn id="20485" idx="0"/>
          </p:cNvCxnSpPr>
          <p:nvPr/>
        </p:nvCxnSpPr>
        <p:spPr bwMode="auto">
          <a:xfrm>
            <a:off x="2743200" y="4114800"/>
            <a:ext cx="14478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1127125" y="2362200"/>
            <a:ext cx="167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take/don’t take</a:t>
            </a: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4953000" y="25146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P(rain) = 0.4</a:t>
            </a:r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2667000" y="5257800"/>
            <a:ext cx="2606675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U(~umb, ~rain) = 100</a:t>
            </a:r>
          </a:p>
          <a:p>
            <a:r>
              <a:rPr lang="en-US"/>
              <a:t>U(~umb, rain) = -100 </a:t>
            </a:r>
          </a:p>
          <a:p>
            <a:r>
              <a:rPr lang="en-US" sz="1800"/>
              <a:t>U(umb,~rain) = 0</a:t>
            </a:r>
          </a:p>
          <a:p>
            <a:r>
              <a:rPr lang="en-US"/>
              <a:t>U(umb,rain) = -25</a:t>
            </a:r>
            <a:endParaRPr lang="en-US" sz="1800"/>
          </a:p>
        </p:txBody>
      </p:sp>
      <p:sp>
        <p:nvSpPr>
          <p:cNvPr id="20491" name="Oval 11"/>
          <p:cNvSpPr>
            <a:spLocks noChangeArrowheads="1"/>
          </p:cNvSpPr>
          <p:nvPr/>
        </p:nvSpPr>
        <p:spPr bwMode="auto">
          <a:xfrm>
            <a:off x="1905000" y="3581400"/>
            <a:ext cx="1676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 umbrella</a:t>
            </a:r>
          </a:p>
        </p:txBody>
      </p:sp>
      <p:cxnSp>
        <p:nvCxnSpPr>
          <p:cNvPr id="20492" name="AutoShape 12"/>
          <p:cNvCxnSpPr>
            <a:cxnSpLocks noChangeShapeType="1"/>
            <a:stCxn id="20484" idx="2"/>
            <a:endCxn id="20491" idx="1"/>
          </p:cNvCxnSpPr>
          <p:nvPr/>
        </p:nvCxnSpPr>
        <p:spPr bwMode="auto">
          <a:xfrm>
            <a:off x="1866900" y="3276600"/>
            <a:ext cx="284163" cy="382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304800" y="4159250"/>
            <a:ext cx="2141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P(umb|take) = 1.0</a:t>
            </a:r>
          </a:p>
          <a:p>
            <a:r>
              <a:rPr lang="en-US" sz="1800"/>
              <a:t>P(~umb|~take)=1.0</a:t>
            </a:r>
          </a:p>
        </p:txBody>
      </p:sp>
      <p:graphicFrame>
        <p:nvGraphicFramePr>
          <p:cNvPr id="386091" name="Group 43"/>
          <p:cNvGraphicFramePr>
            <a:graphicFrameLocks noGrp="1"/>
          </p:cNvGraphicFramePr>
          <p:nvPr/>
        </p:nvGraphicFramePr>
        <p:xfrm>
          <a:off x="5562600" y="4114800"/>
          <a:ext cx="3276600" cy="1574800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umb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P(umb,rain | ~take)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0.6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0.4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520" name="Text Box 40"/>
          <p:cNvSpPr txBox="1">
            <a:spLocks noChangeArrowheads="1"/>
          </p:cNvSpPr>
          <p:nvPr/>
        </p:nvSpPr>
        <p:spPr bwMode="auto">
          <a:xfrm>
            <a:off x="6629400" y="3657600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#2</a:t>
            </a:r>
          </a:p>
        </p:txBody>
      </p:sp>
      <p:sp>
        <p:nvSpPr>
          <p:cNvPr id="20521" name="Text Box 41"/>
          <p:cNvSpPr txBox="1">
            <a:spLocks noChangeArrowheads="1"/>
          </p:cNvSpPr>
          <p:nvPr/>
        </p:nvSpPr>
        <p:spPr bwMode="auto">
          <a:xfrm>
            <a:off x="5410200" y="6019800"/>
            <a:ext cx="3429000" cy="3968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#2: EU(~take) =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Making Decision</a:t>
            </a:r>
            <a:endParaRPr lang="th-TH"/>
          </a:p>
        </p:txBody>
      </p:sp>
      <p:sp>
        <p:nvSpPr>
          <p:cNvPr id="21507" name="Content Placeholder 3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Choose the action with the highest utility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#1: EU(take) = -10</a:t>
            </a:r>
          </a:p>
          <a:p>
            <a:pPr eaLnBrk="1" hangingPunct="1"/>
            <a:r>
              <a:rPr lang="en-US"/>
              <a:t>#2: EU(~take) = 20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Therefore : The decision is </a:t>
            </a:r>
            <a:r>
              <a:rPr lang="en-US" b="1">
                <a:solidFill>
                  <a:srgbClr val="0070C0"/>
                </a:solidFill>
              </a:rPr>
              <a:t>~take</a:t>
            </a:r>
            <a:r>
              <a:rPr lang="en-US"/>
              <a:t>.</a:t>
            </a:r>
            <a:endParaRPr lang="th-TH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838200"/>
          </a:xfrm>
        </p:spPr>
        <p:txBody>
          <a:bodyPr/>
          <a:lstStyle/>
          <a:p>
            <a:pPr eaLnBrk="1" hangingPunct="1"/>
            <a:r>
              <a:rPr lang="en-US"/>
              <a:t>Value of Perfect Information (VPI)</a:t>
            </a:r>
          </a:p>
        </p:txBody>
      </p:sp>
      <p:sp>
        <p:nvSpPr>
          <p:cNvPr id="3921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4267200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b="1" dirty="0"/>
              <a:t>How much is it worth to observe (with certainty) a random variable X?</a:t>
            </a:r>
          </a:p>
          <a:p>
            <a:pPr lvl="1" eaLnBrk="1" hangingPunct="1">
              <a:defRPr/>
            </a:pPr>
            <a:r>
              <a:rPr lang="en-US" sz="1400" dirty="0"/>
              <a:t>Suppose the agent’s current knowledge is E.  The value of the current best action </a:t>
            </a:r>
            <a:r>
              <a:rPr lang="en-US" sz="1400" dirty="0">
                <a:sym typeface="Symbol" pitchFamily="18" charset="2"/>
              </a:rPr>
              <a:t></a:t>
            </a:r>
            <a:r>
              <a:rPr lang="en-US" sz="1400" dirty="0"/>
              <a:t> is:</a:t>
            </a:r>
            <a:br>
              <a:rPr lang="en-US" sz="1600" dirty="0"/>
            </a:br>
            <a:r>
              <a:rPr lang="en-US" sz="1600" dirty="0"/>
              <a:t>	</a:t>
            </a:r>
            <a:r>
              <a:rPr lang="en-US" sz="1400" dirty="0"/>
              <a:t>EU(</a:t>
            </a:r>
            <a:r>
              <a:rPr lang="el-GR" sz="1400" dirty="0">
                <a:cs typeface="Times New Roman" pitchFamily="18" charset="0"/>
                <a:sym typeface="Symbol"/>
              </a:rPr>
              <a:t></a:t>
            </a:r>
            <a:r>
              <a:rPr lang="en-US" sz="1400" dirty="0">
                <a:cs typeface="Times New Roman" pitchFamily="18" charset="0"/>
              </a:rPr>
              <a:t> | E) = </a:t>
            </a:r>
            <a:r>
              <a:rPr lang="en-US" sz="1400" dirty="0" err="1">
                <a:cs typeface="Times New Roman" pitchFamily="18" charset="0"/>
              </a:rPr>
              <a:t>max</a:t>
            </a:r>
            <a:r>
              <a:rPr lang="en-US" sz="1400" baseline="-25000" dirty="0" err="1">
                <a:cs typeface="Times New Roman" pitchFamily="18" charset="0"/>
              </a:rPr>
              <a:t>A</a:t>
            </a:r>
            <a:r>
              <a:rPr lang="en-US" sz="1400" dirty="0">
                <a:cs typeface="Times New Roman" pitchFamily="18" charset="0"/>
              </a:rPr>
              <a:t> ∑</a:t>
            </a:r>
            <a:r>
              <a:rPr lang="en-US" sz="1400" baseline="-25000" dirty="0" err="1">
                <a:cs typeface="Times New Roman" pitchFamily="18" charset="0"/>
              </a:rPr>
              <a:t>i</a:t>
            </a:r>
            <a:r>
              <a:rPr lang="en-US" sz="1400" dirty="0">
                <a:cs typeface="Times New Roman" pitchFamily="18" charset="0"/>
              </a:rPr>
              <a:t> U(</a:t>
            </a:r>
            <a:r>
              <a:rPr lang="en-US" sz="1400" dirty="0" err="1">
                <a:cs typeface="Times New Roman" pitchFamily="18" charset="0"/>
              </a:rPr>
              <a:t>Result</a:t>
            </a:r>
            <a:r>
              <a:rPr lang="en-US" sz="1400" baseline="-25000" dirty="0" err="1">
                <a:cs typeface="Times New Roman" pitchFamily="18" charset="0"/>
              </a:rPr>
              <a:t>i</a:t>
            </a:r>
            <a:r>
              <a:rPr lang="en-US" sz="1400" dirty="0">
                <a:cs typeface="Times New Roman" pitchFamily="18" charset="0"/>
              </a:rPr>
              <a:t>(A)) p(</a:t>
            </a:r>
            <a:r>
              <a:rPr lang="en-US" sz="1400" dirty="0" err="1">
                <a:cs typeface="Times New Roman" pitchFamily="18" charset="0"/>
              </a:rPr>
              <a:t>Result</a:t>
            </a:r>
            <a:r>
              <a:rPr lang="en-US" sz="1400" baseline="-25000" dirty="0" err="1">
                <a:cs typeface="Times New Roman" pitchFamily="18" charset="0"/>
              </a:rPr>
              <a:t>i</a:t>
            </a:r>
            <a:r>
              <a:rPr lang="en-US" sz="1400" dirty="0">
                <a:cs typeface="Times New Roman" pitchFamily="18" charset="0"/>
              </a:rPr>
              <a:t>(A) | E, Do(A))</a:t>
            </a:r>
          </a:p>
          <a:p>
            <a:pPr eaLnBrk="1" hangingPunct="1">
              <a:defRPr/>
            </a:pPr>
            <a:endParaRPr lang="en-US" sz="1800" dirty="0"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US" sz="1400" dirty="0"/>
              <a:t>The value of the new best action </a:t>
            </a:r>
            <a:r>
              <a:rPr lang="en-US" sz="1400" i="1" dirty="0"/>
              <a:t>after observing the value of X</a:t>
            </a:r>
            <a:r>
              <a:rPr lang="en-US" sz="1400" dirty="0"/>
              <a:t> is:</a:t>
            </a:r>
            <a:br>
              <a:rPr lang="en-US" sz="1600" dirty="0"/>
            </a:br>
            <a:r>
              <a:rPr lang="en-US" sz="1600" dirty="0"/>
              <a:t>	 </a:t>
            </a:r>
            <a:r>
              <a:rPr lang="en-US" sz="1400" dirty="0"/>
              <a:t>EU(</a:t>
            </a:r>
            <a:r>
              <a:rPr lang="el-GR" sz="1400" dirty="0">
                <a:cs typeface="Times New Roman" pitchFamily="18" charset="0"/>
                <a:sym typeface="Symbol"/>
              </a:rPr>
              <a:t></a:t>
            </a:r>
            <a:r>
              <a:rPr lang="en-US" sz="1400" dirty="0">
                <a:cs typeface="Times New Roman" pitchFamily="18" charset="0"/>
              </a:rPr>
              <a:t>’ | E,X) = </a:t>
            </a:r>
            <a:r>
              <a:rPr lang="en-US" sz="1400" dirty="0" err="1">
                <a:cs typeface="Times New Roman" pitchFamily="18" charset="0"/>
              </a:rPr>
              <a:t>max</a:t>
            </a:r>
            <a:r>
              <a:rPr lang="en-US" sz="1400" baseline="-25000" dirty="0" err="1">
                <a:cs typeface="Times New Roman" pitchFamily="18" charset="0"/>
              </a:rPr>
              <a:t>A</a:t>
            </a:r>
            <a:r>
              <a:rPr lang="en-US" sz="1400" dirty="0">
                <a:cs typeface="Times New Roman" pitchFamily="18" charset="0"/>
              </a:rPr>
              <a:t> ∑</a:t>
            </a:r>
            <a:r>
              <a:rPr lang="en-US" sz="1400" baseline="-25000" dirty="0" err="1">
                <a:cs typeface="Times New Roman" pitchFamily="18" charset="0"/>
              </a:rPr>
              <a:t>i</a:t>
            </a:r>
            <a:r>
              <a:rPr lang="en-US" sz="1400" dirty="0">
                <a:cs typeface="Times New Roman" pitchFamily="18" charset="0"/>
              </a:rPr>
              <a:t> U(</a:t>
            </a:r>
            <a:r>
              <a:rPr lang="en-US" sz="1400" dirty="0" err="1">
                <a:cs typeface="Times New Roman" pitchFamily="18" charset="0"/>
              </a:rPr>
              <a:t>Result</a:t>
            </a:r>
            <a:r>
              <a:rPr lang="en-US" sz="1400" baseline="-25000" dirty="0" err="1">
                <a:cs typeface="Times New Roman" pitchFamily="18" charset="0"/>
              </a:rPr>
              <a:t>i</a:t>
            </a:r>
            <a:r>
              <a:rPr lang="en-US" sz="1400" dirty="0">
                <a:cs typeface="Times New Roman" pitchFamily="18" charset="0"/>
              </a:rPr>
              <a:t>(A)) p(</a:t>
            </a:r>
            <a:r>
              <a:rPr lang="en-US" sz="1400" dirty="0" err="1">
                <a:cs typeface="Times New Roman" pitchFamily="18" charset="0"/>
              </a:rPr>
              <a:t>Result</a:t>
            </a:r>
            <a:r>
              <a:rPr lang="en-US" sz="1400" baseline="-25000" dirty="0" err="1">
                <a:cs typeface="Times New Roman" pitchFamily="18" charset="0"/>
              </a:rPr>
              <a:t>i</a:t>
            </a:r>
            <a:r>
              <a:rPr lang="en-US" sz="1400" dirty="0">
                <a:cs typeface="Times New Roman" pitchFamily="18" charset="0"/>
              </a:rPr>
              <a:t>(A) | E, X, Do(A))</a:t>
            </a:r>
          </a:p>
          <a:p>
            <a:pPr eaLnBrk="1" hangingPunct="1">
              <a:defRPr/>
            </a:pPr>
            <a:endParaRPr lang="en-US" sz="1800" dirty="0"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sz="1800" dirty="0"/>
              <a:t>…But we don’t know the value of X yet, so we have to sum over its possible values</a:t>
            </a:r>
          </a:p>
          <a:p>
            <a:pPr eaLnBrk="1" hangingPunct="1">
              <a:defRPr/>
            </a:pPr>
            <a:endParaRPr lang="en-US" sz="1050" dirty="0"/>
          </a:p>
          <a:p>
            <a:pPr eaLnBrk="1" hangingPunct="1">
              <a:defRPr/>
            </a:pPr>
            <a:r>
              <a:rPr lang="en-US" sz="2000" dirty="0"/>
              <a:t>The value of perfect information for X is therefore:</a:t>
            </a:r>
          </a:p>
          <a:p>
            <a:pPr eaLnBrk="1" hangingPunct="1">
              <a:buFont typeface="Wingdings" pitchFamily="2" charset="2"/>
              <a:buNone/>
              <a:defRPr/>
            </a:pPr>
            <a:br>
              <a:rPr lang="en-US" sz="600" dirty="0"/>
            </a:br>
            <a:r>
              <a:rPr lang="en-US" sz="2200" dirty="0"/>
              <a:t>	 VPI(X</a:t>
            </a:r>
            <a:r>
              <a:rPr lang="en-US" sz="2200" dirty="0">
                <a:cs typeface="Times New Roman" pitchFamily="18" charset="0"/>
              </a:rPr>
              <a:t>) = ( ∑</a:t>
            </a:r>
            <a:r>
              <a:rPr lang="en-US" sz="2200" baseline="-25000" dirty="0">
                <a:cs typeface="Times New Roman" pitchFamily="18" charset="0"/>
              </a:rPr>
              <a:t>k </a:t>
            </a:r>
            <a:r>
              <a:rPr lang="en-US" sz="2200" dirty="0">
                <a:solidFill>
                  <a:srgbClr val="008000"/>
                </a:solidFill>
                <a:cs typeface="Times New Roman" pitchFamily="18" charset="0"/>
              </a:rPr>
              <a:t>p(</a:t>
            </a:r>
            <a:r>
              <a:rPr lang="en-US" sz="2200" dirty="0" err="1">
                <a:solidFill>
                  <a:srgbClr val="008000"/>
                </a:solidFill>
                <a:cs typeface="Times New Roman" pitchFamily="18" charset="0"/>
              </a:rPr>
              <a:t>x</a:t>
            </a:r>
            <a:r>
              <a:rPr lang="en-US" sz="2200" baseline="-25000" dirty="0" err="1">
                <a:solidFill>
                  <a:srgbClr val="008000"/>
                </a:solidFill>
                <a:cs typeface="Times New Roman" pitchFamily="18" charset="0"/>
              </a:rPr>
              <a:t>k</a:t>
            </a:r>
            <a:r>
              <a:rPr lang="en-US" sz="2200" dirty="0">
                <a:solidFill>
                  <a:srgbClr val="008000"/>
                </a:solidFill>
                <a:cs typeface="Times New Roman" pitchFamily="18" charset="0"/>
              </a:rPr>
              <a:t> | E)</a:t>
            </a:r>
            <a:r>
              <a:rPr lang="en-US" sz="2200" dirty="0"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EU(</a:t>
            </a:r>
            <a:r>
              <a:rPr lang="el-GR" sz="2200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Symbol"/>
              </a:rPr>
              <a:t></a:t>
            </a:r>
            <a:r>
              <a:rPr lang="en-US" sz="2200" baseline="-25000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xk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|  </a:t>
            </a:r>
            <a:r>
              <a:rPr lang="en-US" sz="2200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en-US" sz="2200" baseline="-25000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, E)</a:t>
            </a:r>
            <a:r>
              <a:rPr lang="en-US" sz="2200" dirty="0">
                <a:solidFill>
                  <a:schemeClr val="accent4"/>
                </a:solidFill>
                <a:cs typeface="Times New Roman" pitchFamily="18" charset="0"/>
              </a:rPr>
              <a:t>)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  </a:t>
            </a:r>
            <a:r>
              <a:rPr lang="en-US" sz="2200" dirty="0">
                <a:cs typeface="Times New Roman" pitchFamily="18" charset="0"/>
              </a:rPr>
              <a:t>– </a:t>
            </a:r>
            <a:r>
              <a:rPr lang="en-US" sz="2200" dirty="0">
                <a:solidFill>
                  <a:srgbClr val="CC0000"/>
                </a:solidFill>
                <a:cs typeface="Times New Roman" pitchFamily="18" charset="0"/>
              </a:rPr>
              <a:t>EU (</a:t>
            </a:r>
            <a:r>
              <a:rPr lang="el-GR" sz="2200" dirty="0">
                <a:solidFill>
                  <a:srgbClr val="CC0000"/>
                </a:solidFill>
                <a:cs typeface="Times New Roman" pitchFamily="18" charset="0"/>
                <a:sym typeface="Symbol"/>
              </a:rPr>
              <a:t></a:t>
            </a:r>
            <a:r>
              <a:rPr lang="en-US" sz="2200" dirty="0">
                <a:solidFill>
                  <a:srgbClr val="CC0000"/>
                </a:solidFill>
                <a:cs typeface="Times New Roman" pitchFamily="18" charset="0"/>
              </a:rPr>
              <a:t> | E)</a:t>
            </a:r>
            <a:endParaRPr lang="el-GR" sz="2200" dirty="0">
              <a:solidFill>
                <a:srgbClr val="CC0000"/>
              </a:solidFill>
              <a:cs typeface="Times New Roman" pitchFamily="18" charset="0"/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295400" y="5791200"/>
            <a:ext cx="1625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Probability of</a:t>
            </a:r>
          </a:p>
          <a:p>
            <a:r>
              <a:rPr lang="en-US">
                <a:solidFill>
                  <a:srgbClr val="008000"/>
                </a:solidFill>
              </a:rPr>
              <a:t>each value of X</a:t>
            </a:r>
          </a:p>
        </p:txBody>
      </p:sp>
      <p:sp>
        <p:nvSpPr>
          <p:cNvPr id="392197" name="Text Box 5"/>
          <p:cNvSpPr txBox="1">
            <a:spLocks noChangeArrowheads="1"/>
          </p:cNvSpPr>
          <p:nvPr/>
        </p:nvSpPr>
        <p:spPr bwMode="auto">
          <a:xfrm>
            <a:off x="3733800" y="5715000"/>
            <a:ext cx="25050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Expected utility</a:t>
            </a:r>
          </a:p>
          <a:p>
            <a:pPr>
              <a:defRPr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of the best action</a:t>
            </a:r>
          </a:p>
          <a:p>
            <a:pPr>
              <a:defRPr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given that value of X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6248400" y="5562600"/>
            <a:ext cx="19748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00"/>
                </a:solidFill>
              </a:rPr>
              <a:t>Expected utility</a:t>
            </a:r>
          </a:p>
          <a:p>
            <a:r>
              <a:rPr lang="en-US">
                <a:solidFill>
                  <a:srgbClr val="CC0000"/>
                </a:solidFill>
              </a:rPr>
              <a:t>of the best action</a:t>
            </a:r>
          </a:p>
          <a:p>
            <a:r>
              <a:rPr lang="en-US">
                <a:solidFill>
                  <a:srgbClr val="CC0000"/>
                </a:solidFill>
              </a:rPr>
              <a:t>if we don’t know X</a:t>
            </a:r>
          </a:p>
          <a:p>
            <a:r>
              <a:rPr lang="en-US">
                <a:solidFill>
                  <a:srgbClr val="CC0000"/>
                </a:solidFill>
              </a:rPr>
              <a:t>(i.e., currently)</a:t>
            </a:r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 flipV="1">
            <a:off x="2667000" y="5334000"/>
            <a:ext cx="533400" cy="5334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92200" name="Line 8"/>
          <p:cNvSpPr>
            <a:spLocks noChangeShapeType="1"/>
          </p:cNvSpPr>
          <p:nvPr/>
        </p:nvSpPr>
        <p:spPr bwMode="auto">
          <a:xfrm flipV="1">
            <a:off x="4495800" y="5334000"/>
            <a:ext cx="0" cy="457200"/>
          </a:xfrm>
          <a:prstGeom prst="line">
            <a:avLst/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th-TH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 flipH="1" flipV="1">
            <a:off x="6934200" y="5257800"/>
            <a:ext cx="0" cy="3810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Umbrella Network</a:t>
            </a:r>
          </a:p>
        </p:txBody>
      </p:sp>
      <p:sp>
        <p:nvSpPr>
          <p:cNvPr id="23555" name="Oval 3"/>
          <p:cNvSpPr>
            <a:spLocks noChangeArrowheads="1"/>
          </p:cNvSpPr>
          <p:nvPr/>
        </p:nvSpPr>
        <p:spPr bwMode="auto">
          <a:xfrm>
            <a:off x="5029200" y="2971800"/>
            <a:ext cx="1295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rain</a:t>
            </a: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6858000" y="4038600"/>
            <a:ext cx="1295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forecast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914400" y="2819400"/>
            <a:ext cx="19050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Take Umbrella</a:t>
            </a:r>
          </a:p>
        </p:txBody>
      </p:sp>
      <p:sp>
        <p:nvSpPr>
          <p:cNvPr id="23558" name="AutoShape 6"/>
          <p:cNvSpPr>
            <a:spLocks noChangeArrowheads="1"/>
          </p:cNvSpPr>
          <p:nvPr/>
        </p:nvSpPr>
        <p:spPr bwMode="auto">
          <a:xfrm>
            <a:off x="3352800" y="4267200"/>
            <a:ext cx="1676400" cy="685800"/>
          </a:xfrm>
          <a:prstGeom prst="flowChartDecision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happiness</a:t>
            </a:r>
          </a:p>
        </p:txBody>
      </p:sp>
      <p:cxnSp>
        <p:nvCxnSpPr>
          <p:cNvPr id="23559" name="AutoShape 7"/>
          <p:cNvCxnSpPr>
            <a:cxnSpLocks noChangeShapeType="1"/>
            <a:stCxn id="23555" idx="4"/>
            <a:endCxn id="23558" idx="0"/>
          </p:cNvCxnSpPr>
          <p:nvPr/>
        </p:nvCxnSpPr>
        <p:spPr bwMode="auto">
          <a:xfrm flipH="1">
            <a:off x="4191000" y="3505200"/>
            <a:ext cx="1485900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60" name="AutoShape 8"/>
          <p:cNvCxnSpPr>
            <a:cxnSpLocks noChangeShapeType="1"/>
            <a:stCxn id="23565" idx="4"/>
            <a:endCxn id="23558" idx="0"/>
          </p:cNvCxnSpPr>
          <p:nvPr/>
        </p:nvCxnSpPr>
        <p:spPr bwMode="auto">
          <a:xfrm>
            <a:off x="2743200" y="4114800"/>
            <a:ext cx="14478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61" name="AutoShape 9"/>
          <p:cNvCxnSpPr>
            <a:cxnSpLocks noChangeShapeType="1"/>
            <a:stCxn id="23555" idx="4"/>
            <a:endCxn id="23556" idx="1"/>
          </p:cNvCxnSpPr>
          <p:nvPr/>
        </p:nvCxnSpPr>
        <p:spPr bwMode="auto">
          <a:xfrm>
            <a:off x="5676900" y="3505200"/>
            <a:ext cx="1370013" cy="6111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1127125" y="2362200"/>
            <a:ext cx="167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take/don’t take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4953000" y="25146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P(rain) = 0.4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2667000" y="5257800"/>
            <a:ext cx="2606675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U(~umb, ~rain) = 100</a:t>
            </a:r>
          </a:p>
          <a:p>
            <a:r>
              <a:rPr lang="en-US"/>
              <a:t>U(~umb, rain) = -100 </a:t>
            </a:r>
          </a:p>
          <a:p>
            <a:r>
              <a:rPr lang="en-US" sz="1800"/>
              <a:t>U(umb,~rain) = 0</a:t>
            </a:r>
          </a:p>
          <a:p>
            <a:r>
              <a:rPr lang="en-US"/>
              <a:t>U(umb,rain) = -25</a:t>
            </a:r>
            <a:endParaRPr lang="en-US" sz="1800"/>
          </a:p>
        </p:txBody>
      </p:sp>
      <p:sp>
        <p:nvSpPr>
          <p:cNvPr id="23565" name="Oval 13"/>
          <p:cNvSpPr>
            <a:spLocks noChangeArrowheads="1"/>
          </p:cNvSpPr>
          <p:nvPr/>
        </p:nvSpPr>
        <p:spPr bwMode="auto">
          <a:xfrm>
            <a:off x="1905000" y="3581400"/>
            <a:ext cx="1676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 umbrella</a:t>
            </a:r>
          </a:p>
        </p:txBody>
      </p:sp>
      <p:cxnSp>
        <p:nvCxnSpPr>
          <p:cNvPr id="23566" name="AutoShape 14"/>
          <p:cNvCxnSpPr>
            <a:cxnSpLocks noChangeShapeType="1"/>
            <a:stCxn id="23557" idx="2"/>
            <a:endCxn id="23565" idx="1"/>
          </p:cNvCxnSpPr>
          <p:nvPr/>
        </p:nvCxnSpPr>
        <p:spPr bwMode="auto">
          <a:xfrm>
            <a:off x="1866900" y="3276600"/>
            <a:ext cx="284163" cy="382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304800" y="4159250"/>
            <a:ext cx="2141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P(umb|take) = 1.0</a:t>
            </a:r>
          </a:p>
          <a:p>
            <a:r>
              <a:rPr lang="en-US" sz="1800"/>
              <a:t>P(~umb|~take)=1.0</a:t>
            </a:r>
          </a:p>
        </p:txBody>
      </p:sp>
      <p:graphicFrame>
        <p:nvGraphicFramePr>
          <p:cNvPr id="395280" name="Group 16"/>
          <p:cNvGraphicFramePr>
            <a:graphicFrameLocks noGrp="1"/>
          </p:cNvGraphicFramePr>
          <p:nvPr/>
        </p:nvGraphicFramePr>
        <p:xfrm>
          <a:off x="5562600" y="4724400"/>
          <a:ext cx="3276600" cy="1574800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P(F|R)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Evidence P(R|F)</a:t>
            </a:r>
          </a:p>
        </p:txBody>
      </p:sp>
      <p:sp>
        <p:nvSpPr>
          <p:cNvPr id="3932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534400" cy="4495800"/>
          </a:xfrm>
        </p:spPr>
        <p:txBody>
          <a:bodyPr/>
          <a:lstStyle/>
          <a:p>
            <a:pPr eaLnBrk="1" hangingPunct="1"/>
            <a:r>
              <a:rPr lang="en-US"/>
              <a:t>Find P(F)</a:t>
            </a:r>
          </a:p>
          <a:p>
            <a:pPr eaLnBrk="1" hangingPunct="1"/>
            <a:r>
              <a:rPr lang="en-US" sz="1600" b="1">
                <a:sym typeface="Symbol" pitchFamily="18" charset="2"/>
              </a:rPr>
              <a:t>P(F=Rainy)</a:t>
            </a:r>
            <a:r>
              <a:rPr lang="en-US" sz="1600">
                <a:sym typeface="Symbol" pitchFamily="18" charset="2"/>
              </a:rPr>
              <a:t> = P(F=Rainy|R=Rain)P(R=Rain) + P(F=Rainy|R=</a:t>
            </a:r>
            <a:r>
              <a:rPr lang="en-US" sz="1600"/>
              <a:t>~</a:t>
            </a:r>
            <a:r>
              <a:rPr lang="en-US" sz="1600">
                <a:sym typeface="Symbol" pitchFamily="18" charset="2"/>
              </a:rPr>
              <a:t>Rain)P(R=</a:t>
            </a:r>
            <a:r>
              <a:rPr lang="en-US" sz="1600"/>
              <a:t>~</a:t>
            </a:r>
            <a:r>
              <a:rPr lang="en-US" sz="1600">
                <a:sym typeface="Symbol" pitchFamily="18" charset="2"/>
              </a:rPr>
              <a:t>Rain)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>
                <a:sym typeface="Symbol" pitchFamily="18" charset="2"/>
              </a:rPr>
              <a:t>              </a:t>
            </a:r>
            <a:r>
              <a:rPr lang="en-US" sz="1600" b="1">
                <a:sym typeface="Symbol" pitchFamily="18" charset="2"/>
              </a:rPr>
              <a:t>P(F=1)</a:t>
            </a:r>
            <a:r>
              <a:rPr lang="en-US" sz="1600">
                <a:sym typeface="Symbol" pitchFamily="18" charset="2"/>
              </a:rPr>
              <a:t> = P(F=1|R=1)P(R=1) +</a:t>
            </a:r>
            <a:r>
              <a:rPr lang="en-US" sz="1400">
                <a:sym typeface="Symbol" pitchFamily="18" charset="2"/>
              </a:rPr>
              <a:t> </a:t>
            </a:r>
            <a:r>
              <a:rPr lang="en-US" sz="1600">
                <a:sym typeface="Symbol" pitchFamily="18" charset="2"/>
              </a:rPr>
              <a:t>P(F=1|R=0)P(R=0)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>
                <a:sym typeface="Symbol" pitchFamily="18" charset="2"/>
              </a:rPr>
              <a:t>                         = (0.7) (0.4) + (0.2) (0.6) = 0.28 + 0.12 = </a:t>
            </a:r>
            <a:r>
              <a:rPr lang="en-US" sz="1600" b="1">
                <a:sym typeface="Symbol" pitchFamily="18" charset="2"/>
              </a:rPr>
              <a:t>0.4</a:t>
            </a:r>
            <a:r>
              <a:rPr lang="en-US" sz="1600">
                <a:sym typeface="Symbol" pitchFamily="18" charset="2"/>
              </a:rPr>
              <a:t> </a:t>
            </a:r>
          </a:p>
          <a:p>
            <a:pPr eaLnBrk="1" hangingPunct="1"/>
            <a:r>
              <a:rPr lang="en-US" sz="1600" b="1">
                <a:sym typeface="Symbol" pitchFamily="18" charset="2"/>
              </a:rPr>
              <a:t>P(F=</a:t>
            </a:r>
            <a:r>
              <a:rPr lang="en-US" sz="1600" b="1"/>
              <a:t>~</a:t>
            </a:r>
            <a:r>
              <a:rPr lang="en-US" sz="1600" b="1">
                <a:sym typeface="Symbol" pitchFamily="18" charset="2"/>
              </a:rPr>
              <a:t>Rainy) </a:t>
            </a:r>
            <a:r>
              <a:rPr lang="en-US" sz="1600">
                <a:sym typeface="Symbol" pitchFamily="18" charset="2"/>
              </a:rPr>
              <a:t>= P(F=</a:t>
            </a:r>
            <a:r>
              <a:rPr lang="en-US" sz="1600"/>
              <a:t>~</a:t>
            </a:r>
            <a:r>
              <a:rPr lang="en-US" sz="1600">
                <a:sym typeface="Symbol" pitchFamily="18" charset="2"/>
              </a:rPr>
              <a:t>Rainy|R=Rain)P(R=Rain) + P(F=</a:t>
            </a:r>
            <a:r>
              <a:rPr lang="en-US" sz="1600"/>
              <a:t>~</a:t>
            </a:r>
            <a:r>
              <a:rPr lang="en-US" sz="1600">
                <a:sym typeface="Symbol" pitchFamily="18" charset="2"/>
              </a:rPr>
              <a:t>Rainy|R=</a:t>
            </a:r>
            <a:r>
              <a:rPr lang="en-US" sz="1600"/>
              <a:t>~</a:t>
            </a:r>
            <a:r>
              <a:rPr lang="en-US" sz="1600">
                <a:sym typeface="Symbol" pitchFamily="18" charset="2"/>
              </a:rPr>
              <a:t>Rain)P(R=</a:t>
            </a:r>
            <a:r>
              <a:rPr lang="en-US" sz="1600"/>
              <a:t>~</a:t>
            </a:r>
            <a:r>
              <a:rPr lang="en-US" sz="1600">
                <a:sym typeface="Symbol" pitchFamily="18" charset="2"/>
              </a:rPr>
              <a:t>Rain)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>
                <a:sym typeface="Symbol" pitchFamily="18" charset="2"/>
              </a:rPr>
              <a:t>              </a:t>
            </a:r>
            <a:r>
              <a:rPr lang="en-US" sz="1600" b="1">
                <a:sym typeface="Symbol" pitchFamily="18" charset="2"/>
              </a:rPr>
              <a:t>P(F=0)</a:t>
            </a:r>
            <a:r>
              <a:rPr lang="en-US" sz="1600">
                <a:sym typeface="Symbol" pitchFamily="18" charset="2"/>
              </a:rPr>
              <a:t> = P(F=0|R=1)P(R=1) +</a:t>
            </a:r>
            <a:r>
              <a:rPr lang="en-US" sz="1400">
                <a:sym typeface="Symbol" pitchFamily="18" charset="2"/>
              </a:rPr>
              <a:t> </a:t>
            </a:r>
            <a:r>
              <a:rPr lang="en-US" sz="1600">
                <a:sym typeface="Symbol" pitchFamily="18" charset="2"/>
              </a:rPr>
              <a:t>P(F=0|R=0)P(R=0)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>
                <a:sym typeface="Symbol" pitchFamily="18" charset="2"/>
              </a:rPr>
              <a:t>                         = (0.3) (0.4) + (0.8) (0.6) = 0.12 + 0.48 = </a:t>
            </a:r>
            <a:r>
              <a:rPr lang="en-US" sz="1600" b="1">
                <a:sym typeface="Symbol" pitchFamily="18" charset="2"/>
              </a:rPr>
              <a:t>0.6</a:t>
            </a:r>
            <a:endParaRPr lang="en-US" sz="2800" b="1">
              <a:sym typeface="Symbol" pitchFamily="18" charset="2"/>
            </a:endParaRPr>
          </a:p>
          <a:p>
            <a:pPr eaLnBrk="1" hangingPunct="1"/>
            <a:r>
              <a:rPr lang="en-US">
                <a:sym typeface="Symbol" pitchFamily="18" charset="2"/>
              </a:rPr>
              <a:t>Now, you can find P(R|F)</a:t>
            </a:r>
          </a:p>
          <a:p>
            <a:pPr lvl="1" eaLnBrk="1" hangingPunct="1"/>
            <a:r>
              <a:rPr lang="en-US" sz="2000">
                <a:sym typeface="Symbol" pitchFamily="18" charset="2"/>
              </a:rPr>
              <a:t>P(R|F) = P(F|R)P(R)/P(F)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19600" y="4572000"/>
          <a:ext cx="4495800" cy="19462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9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P(R|F)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8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 (0.8)(0.6)/(0.6) =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 (0.3)(0.4)/(0.6) =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8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 (0.2)(0.6)/(0.4) =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 (0.7)(0.4)/(0.4) =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3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Umbrella Network</a:t>
            </a:r>
          </a:p>
        </p:txBody>
      </p:sp>
      <p:sp>
        <p:nvSpPr>
          <p:cNvPr id="25603" name="Oval 3"/>
          <p:cNvSpPr>
            <a:spLocks noChangeArrowheads="1"/>
          </p:cNvSpPr>
          <p:nvPr/>
        </p:nvSpPr>
        <p:spPr bwMode="auto">
          <a:xfrm>
            <a:off x="5029200" y="2971800"/>
            <a:ext cx="1295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rain</a:t>
            </a: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6858000" y="4038600"/>
            <a:ext cx="1295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forecast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914400" y="2819400"/>
            <a:ext cx="19050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Take Umbrella</a:t>
            </a:r>
          </a:p>
        </p:txBody>
      </p:sp>
      <p:sp>
        <p:nvSpPr>
          <p:cNvPr id="25606" name="AutoShape 6"/>
          <p:cNvSpPr>
            <a:spLocks noChangeArrowheads="1"/>
          </p:cNvSpPr>
          <p:nvPr/>
        </p:nvSpPr>
        <p:spPr bwMode="auto">
          <a:xfrm>
            <a:off x="3352800" y="4267200"/>
            <a:ext cx="1676400" cy="685800"/>
          </a:xfrm>
          <a:prstGeom prst="flowChartDecision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happiness</a:t>
            </a:r>
          </a:p>
        </p:txBody>
      </p:sp>
      <p:cxnSp>
        <p:nvCxnSpPr>
          <p:cNvPr id="25607" name="AutoShape 7"/>
          <p:cNvCxnSpPr>
            <a:cxnSpLocks noChangeShapeType="1"/>
            <a:stCxn id="25603" idx="4"/>
            <a:endCxn id="25606" idx="0"/>
          </p:cNvCxnSpPr>
          <p:nvPr/>
        </p:nvCxnSpPr>
        <p:spPr bwMode="auto">
          <a:xfrm flipH="1">
            <a:off x="4191000" y="3505200"/>
            <a:ext cx="1485900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08" name="AutoShape 8"/>
          <p:cNvCxnSpPr>
            <a:cxnSpLocks noChangeShapeType="1"/>
            <a:stCxn id="25613" idx="4"/>
            <a:endCxn id="25606" idx="0"/>
          </p:cNvCxnSpPr>
          <p:nvPr/>
        </p:nvCxnSpPr>
        <p:spPr bwMode="auto">
          <a:xfrm>
            <a:off x="2743200" y="4114800"/>
            <a:ext cx="14478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09" name="AutoShape 9"/>
          <p:cNvCxnSpPr>
            <a:cxnSpLocks noChangeShapeType="1"/>
            <a:stCxn id="25603" idx="4"/>
            <a:endCxn id="25604" idx="1"/>
          </p:cNvCxnSpPr>
          <p:nvPr/>
        </p:nvCxnSpPr>
        <p:spPr bwMode="auto">
          <a:xfrm>
            <a:off x="5676900" y="3505200"/>
            <a:ext cx="1370013" cy="6111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1127125" y="2362200"/>
            <a:ext cx="167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take/don’t take</a:t>
            </a:r>
          </a:p>
        </p:txBody>
      </p:sp>
      <p:sp>
        <p:nvSpPr>
          <p:cNvPr id="25611" name="Text Box 14"/>
          <p:cNvSpPr txBox="1">
            <a:spLocks noChangeArrowheads="1"/>
          </p:cNvSpPr>
          <p:nvPr/>
        </p:nvSpPr>
        <p:spPr bwMode="auto">
          <a:xfrm>
            <a:off x="4953000" y="25146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P(rain) = 0.4</a:t>
            </a:r>
          </a:p>
        </p:txBody>
      </p:sp>
      <p:sp>
        <p:nvSpPr>
          <p:cNvPr id="25612" name="Text Box 15"/>
          <p:cNvSpPr txBox="1">
            <a:spLocks noChangeArrowheads="1"/>
          </p:cNvSpPr>
          <p:nvPr/>
        </p:nvSpPr>
        <p:spPr bwMode="auto">
          <a:xfrm>
            <a:off x="2667000" y="5257800"/>
            <a:ext cx="2606675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U(~umb, ~rain) = 100</a:t>
            </a:r>
          </a:p>
          <a:p>
            <a:r>
              <a:rPr lang="en-US"/>
              <a:t>U(~umb, rain) = -100 </a:t>
            </a:r>
          </a:p>
          <a:p>
            <a:r>
              <a:rPr lang="en-US" sz="1800"/>
              <a:t>U(umb,~rain) = 0</a:t>
            </a:r>
          </a:p>
          <a:p>
            <a:r>
              <a:rPr lang="en-US"/>
              <a:t>U(umb,rain) = -25</a:t>
            </a:r>
            <a:endParaRPr lang="en-US" sz="1800"/>
          </a:p>
        </p:txBody>
      </p:sp>
      <p:sp>
        <p:nvSpPr>
          <p:cNvPr id="25613" name="Oval 16"/>
          <p:cNvSpPr>
            <a:spLocks noChangeArrowheads="1"/>
          </p:cNvSpPr>
          <p:nvPr/>
        </p:nvSpPr>
        <p:spPr bwMode="auto">
          <a:xfrm>
            <a:off x="1905000" y="3581400"/>
            <a:ext cx="1676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 umbrella</a:t>
            </a:r>
          </a:p>
        </p:txBody>
      </p:sp>
      <p:cxnSp>
        <p:nvCxnSpPr>
          <p:cNvPr id="25614" name="AutoShape 17"/>
          <p:cNvCxnSpPr>
            <a:cxnSpLocks noChangeShapeType="1"/>
            <a:stCxn id="25605" idx="2"/>
            <a:endCxn id="25613" idx="1"/>
          </p:cNvCxnSpPr>
          <p:nvPr/>
        </p:nvCxnSpPr>
        <p:spPr bwMode="auto">
          <a:xfrm>
            <a:off x="1866900" y="3276600"/>
            <a:ext cx="284163" cy="382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615" name="Text Box 18"/>
          <p:cNvSpPr txBox="1">
            <a:spLocks noChangeArrowheads="1"/>
          </p:cNvSpPr>
          <p:nvPr/>
        </p:nvSpPr>
        <p:spPr bwMode="auto">
          <a:xfrm>
            <a:off x="304800" y="4159250"/>
            <a:ext cx="2141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P(umb|take) = 1.0</a:t>
            </a:r>
          </a:p>
          <a:p>
            <a:r>
              <a:rPr lang="en-US" sz="1800"/>
              <a:t>P(~umb|~take)=1.0</a:t>
            </a:r>
          </a:p>
        </p:txBody>
      </p:sp>
      <p:graphicFrame>
        <p:nvGraphicFramePr>
          <p:cNvPr id="387118" name="Group 46"/>
          <p:cNvGraphicFramePr>
            <a:graphicFrameLocks noGrp="1"/>
          </p:cNvGraphicFramePr>
          <p:nvPr/>
        </p:nvGraphicFramePr>
        <p:xfrm>
          <a:off x="5562600" y="4724400"/>
          <a:ext cx="3276600" cy="1574800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P(F|R)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7146" name="Group 74"/>
          <p:cNvGraphicFramePr>
            <a:graphicFrameLocks noGrp="1"/>
          </p:cNvGraphicFramePr>
          <p:nvPr/>
        </p:nvGraphicFramePr>
        <p:xfrm>
          <a:off x="5562600" y="685800"/>
          <a:ext cx="3276600" cy="1565275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P(R|F)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7145" name="Text Box 73"/>
          <p:cNvSpPr txBox="1">
            <a:spLocks noChangeArrowheads="1"/>
          </p:cNvSpPr>
          <p:nvPr/>
        </p:nvSpPr>
        <p:spPr bwMode="auto">
          <a:xfrm>
            <a:off x="6553200" y="228600"/>
            <a:ext cx="183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P(F=rainy) = 0.4</a:t>
            </a:r>
          </a:p>
        </p:txBody>
      </p:sp>
      <p:sp>
        <p:nvSpPr>
          <p:cNvPr id="25669" name="Up Arrow 70"/>
          <p:cNvSpPr>
            <a:spLocks noChangeArrowheads="1"/>
          </p:cNvSpPr>
          <p:nvPr/>
        </p:nvSpPr>
        <p:spPr bwMode="auto">
          <a:xfrm>
            <a:off x="8458200" y="2362200"/>
            <a:ext cx="457200" cy="2209800"/>
          </a:xfrm>
          <a:prstGeom prst="upArrow">
            <a:avLst>
              <a:gd name="adj1" fmla="val 50000"/>
              <a:gd name="adj2" fmla="val 4998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1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0178" name="Group 34"/>
          <p:cNvGraphicFramePr>
            <a:graphicFrameLocks noGrp="1"/>
          </p:cNvGraphicFramePr>
          <p:nvPr/>
        </p:nvGraphicFramePr>
        <p:xfrm>
          <a:off x="533400" y="762000"/>
          <a:ext cx="3733800" cy="1574800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umb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P(umb,rain | take, rainy)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0.7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52" name="Text Box 32"/>
          <p:cNvSpPr txBox="1">
            <a:spLocks noChangeArrowheads="1"/>
          </p:cNvSpPr>
          <p:nvPr/>
        </p:nvSpPr>
        <p:spPr bwMode="auto">
          <a:xfrm>
            <a:off x="609600" y="2590800"/>
            <a:ext cx="365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#1: EU(take|rainy) = -17.5</a:t>
            </a:r>
          </a:p>
        </p:txBody>
      </p:sp>
      <p:graphicFrame>
        <p:nvGraphicFramePr>
          <p:cNvPr id="390179" name="Group 35"/>
          <p:cNvGraphicFramePr>
            <a:graphicFrameLocks noGrp="1"/>
          </p:cNvGraphicFramePr>
          <p:nvPr/>
        </p:nvGraphicFramePr>
        <p:xfrm>
          <a:off x="4800600" y="746125"/>
          <a:ext cx="3733800" cy="1574800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umb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P(umb,rain | take, ~rainy)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0.8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79" name="Text Box 61"/>
          <p:cNvSpPr txBox="1">
            <a:spLocks noChangeArrowheads="1"/>
          </p:cNvSpPr>
          <p:nvPr/>
        </p:nvSpPr>
        <p:spPr bwMode="auto">
          <a:xfrm>
            <a:off x="4876800" y="2574925"/>
            <a:ext cx="365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#3: EU(take|~rainy) = -5</a:t>
            </a:r>
          </a:p>
        </p:txBody>
      </p:sp>
      <p:graphicFrame>
        <p:nvGraphicFramePr>
          <p:cNvPr id="390288" name="Group 144"/>
          <p:cNvGraphicFramePr>
            <a:graphicFrameLocks noGrp="1"/>
          </p:cNvGraphicFramePr>
          <p:nvPr/>
        </p:nvGraphicFramePr>
        <p:xfrm>
          <a:off x="381000" y="4114800"/>
          <a:ext cx="3733800" cy="1574800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umb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P(umb,rain | ~take, rainy)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0.7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706" name="Text Box 115"/>
          <p:cNvSpPr txBox="1">
            <a:spLocks noChangeArrowheads="1"/>
          </p:cNvSpPr>
          <p:nvPr/>
        </p:nvSpPr>
        <p:spPr bwMode="auto">
          <a:xfrm>
            <a:off x="457200" y="5943600"/>
            <a:ext cx="365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#2: EU(~take|rainy) = -40</a:t>
            </a:r>
          </a:p>
        </p:txBody>
      </p:sp>
      <p:graphicFrame>
        <p:nvGraphicFramePr>
          <p:cNvPr id="390260" name="Group 116"/>
          <p:cNvGraphicFramePr>
            <a:graphicFrameLocks noGrp="1"/>
          </p:cNvGraphicFramePr>
          <p:nvPr/>
        </p:nvGraphicFramePr>
        <p:xfrm>
          <a:off x="5029200" y="4098925"/>
          <a:ext cx="3733800" cy="1574800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umb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P(umb,rain |~take, ~rainy)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0.8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th-TH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733" name="Text Box 142"/>
          <p:cNvSpPr txBox="1">
            <a:spLocks noChangeArrowheads="1"/>
          </p:cNvSpPr>
          <p:nvPr/>
        </p:nvSpPr>
        <p:spPr bwMode="auto">
          <a:xfrm>
            <a:off x="5105400" y="5927725"/>
            <a:ext cx="365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#4: EU(~take|~rainy) = 60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is the optimal decision?</a:t>
            </a:r>
            <a:endParaRPr lang="th-TH"/>
          </a:p>
        </p:txBody>
      </p:sp>
      <p:sp>
        <p:nvSpPr>
          <p:cNvPr id="4" name="Content Placeholder 3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09600" y="1524000"/>
            <a:ext cx="8001000" cy="4495800"/>
          </a:xfrm>
        </p:spPr>
        <p:txBody>
          <a:bodyPr/>
          <a:lstStyle/>
          <a:p>
            <a:pPr eaLnBrk="1" hangingPunct="1"/>
            <a:r>
              <a:rPr lang="en-US" sz="2400" b="1"/>
              <a:t>Forecast = ~Rain &amp; Umbrella = ~take</a:t>
            </a:r>
          </a:p>
          <a:p>
            <a:pPr lvl="1" eaLnBrk="1" hangingPunct="1"/>
            <a:r>
              <a:rPr lang="en-US" sz="2000"/>
              <a:t>EU(~take|F=0) =</a:t>
            </a:r>
          </a:p>
          <a:p>
            <a:pPr lvl="1" eaLnBrk="1" hangingPunct="1"/>
            <a:r>
              <a:rPr lang="en-US" sz="2000"/>
              <a:t>(0.8)(100) + (0.2)(-100) = </a:t>
            </a:r>
            <a:r>
              <a:rPr lang="en-US" sz="2000" b="1"/>
              <a:t>60</a:t>
            </a:r>
          </a:p>
          <a:p>
            <a:pPr eaLnBrk="1" hangingPunct="1"/>
            <a:r>
              <a:rPr lang="en-US" sz="2400" b="1">
                <a:solidFill>
                  <a:srgbClr val="C00000"/>
                </a:solidFill>
              </a:rPr>
              <a:t>Forecast = Rain &amp; Umbrella = ~take </a:t>
            </a:r>
          </a:p>
          <a:p>
            <a:pPr lvl="1" eaLnBrk="1" hangingPunct="1"/>
            <a:r>
              <a:rPr lang="en-US" sz="2000">
                <a:solidFill>
                  <a:srgbClr val="C00000"/>
                </a:solidFill>
              </a:rPr>
              <a:t>EU(~take|F=1) =</a:t>
            </a:r>
          </a:p>
          <a:p>
            <a:pPr lvl="1" eaLnBrk="1" hangingPunct="1"/>
            <a:r>
              <a:rPr lang="en-US" sz="2000">
                <a:solidFill>
                  <a:srgbClr val="C00000"/>
                </a:solidFill>
              </a:rPr>
              <a:t>(0.3)(100) + (0.7)(-100) = </a:t>
            </a:r>
            <a:r>
              <a:rPr lang="en-US" sz="2000" b="1">
                <a:solidFill>
                  <a:srgbClr val="C00000"/>
                </a:solidFill>
              </a:rPr>
              <a:t>-40</a:t>
            </a:r>
            <a:endParaRPr lang="en-US" b="1">
              <a:solidFill>
                <a:srgbClr val="C00000"/>
              </a:solidFill>
            </a:endParaRPr>
          </a:p>
          <a:p>
            <a:pPr eaLnBrk="1" hangingPunct="1"/>
            <a:r>
              <a:rPr lang="en-US" sz="2400" b="1"/>
              <a:t>Forecast = ~Rain &amp; Umbrella = take </a:t>
            </a:r>
          </a:p>
          <a:p>
            <a:pPr lvl="1" eaLnBrk="1" hangingPunct="1"/>
            <a:r>
              <a:rPr lang="en-US" sz="2000"/>
              <a:t>EU(take|F=0) =</a:t>
            </a:r>
          </a:p>
          <a:p>
            <a:pPr lvl="1" eaLnBrk="1" hangingPunct="1"/>
            <a:r>
              <a:rPr lang="en-US" sz="2000"/>
              <a:t>(0.8)(0) + (0.2)(-25) = </a:t>
            </a:r>
            <a:r>
              <a:rPr lang="en-US" sz="2000" b="1"/>
              <a:t>-5</a:t>
            </a:r>
          </a:p>
          <a:p>
            <a:pPr eaLnBrk="1" hangingPunct="1"/>
            <a:r>
              <a:rPr lang="en-US" sz="2400" b="1">
                <a:solidFill>
                  <a:srgbClr val="C00000"/>
                </a:solidFill>
              </a:rPr>
              <a:t>Forecast = Rain &amp; Umbrella = take </a:t>
            </a:r>
          </a:p>
          <a:p>
            <a:pPr lvl="1" eaLnBrk="1" hangingPunct="1"/>
            <a:r>
              <a:rPr lang="en-US" sz="2000">
                <a:solidFill>
                  <a:srgbClr val="C00000"/>
                </a:solidFill>
              </a:rPr>
              <a:t>EU(take|F=1) =</a:t>
            </a:r>
          </a:p>
          <a:p>
            <a:pPr lvl="1" eaLnBrk="1" hangingPunct="1"/>
            <a:r>
              <a:rPr lang="en-US" sz="2000">
                <a:solidFill>
                  <a:srgbClr val="C00000"/>
                </a:solidFill>
              </a:rPr>
              <a:t>(0.3)(0) + (0.7)(-25) = </a:t>
            </a:r>
            <a:r>
              <a:rPr lang="en-US" sz="2000" b="1">
                <a:solidFill>
                  <a:srgbClr val="C00000"/>
                </a:solidFill>
              </a:rPr>
              <a:t>-17.5</a:t>
            </a:r>
            <a:endParaRPr lang="th-TH" sz="2000" b="1">
              <a:solidFill>
                <a:srgbClr val="C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581400" y="1905000"/>
          <a:ext cx="23288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752480" imgH="342720" progId="Equation.3">
                  <p:embed/>
                </p:oleObj>
              </mc:Choice>
              <mc:Fallback>
                <p:oleObj name="Equation" r:id="rId3" imgW="1752480" imgH="3427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905000"/>
                        <a:ext cx="23288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6" name="Object 4"/>
          <p:cNvGraphicFramePr>
            <a:graphicFrameLocks noChangeAspect="1"/>
          </p:cNvGraphicFramePr>
          <p:nvPr/>
        </p:nvGraphicFramePr>
        <p:xfrm>
          <a:off x="3581400" y="3124200"/>
          <a:ext cx="23018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1726920" imgH="342720" progId="Equation.3">
                  <p:embed/>
                </p:oleObj>
              </mc:Choice>
              <mc:Fallback>
                <p:oleObj name="Equation" r:id="rId5" imgW="172692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124200"/>
                        <a:ext cx="23018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7" name="Object 5"/>
          <p:cNvGraphicFramePr>
            <a:graphicFrameLocks noChangeAspect="1"/>
          </p:cNvGraphicFramePr>
          <p:nvPr/>
        </p:nvGraphicFramePr>
        <p:xfrm>
          <a:off x="3529013" y="4268788"/>
          <a:ext cx="21272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1600200" imgH="342720" progId="Equation.3">
                  <p:embed/>
                </p:oleObj>
              </mc:Choice>
              <mc:Fallback>
                <p:oleObj name="Equation" r:id="rId7" imgW="1600200" imgH="3427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4268788"/>
                        <a:ext cx="2127250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8" name="Object 6"/>
          <p:cNvGraphicFramePr>
            <a:graphicFrameLocks noChangeAspect="1"/>
          </p:cNvGraphicFramePr>
          <p:nvPr/>
        </p:nvGraphicFramePr>
        <p:xfrm>
          <a:off x="3505200" y="5486400"/>
          <a:ext cx="2081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9" imgW="1562040" imgH="342720" progId="Equation.3">
                  <p:embed/>
                </p:oleObj>
              </mc:Choice>
              <mc:Fallback>
                <p:oleObj name="Equation" r:id="rId9" imgW="1562040" imgH="3427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486400"/>
                        <a:ext cx="208121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/>
              <a:t>Optimal Decisions</a:t>
            </a:r>
            <a:endParaRPr lang="th-TH" sz="4000" b="1"/>
          </a:p>
        </p:txBody>
      </p:sp>
      <p:sp>
        <p:nvSpPr>
          <p:cNvPr id="3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953000"/>
          </a:xfrm>
        </p:spPr>
        <p:txBody>
          <a:bodyPr/>
          <a:lstStyle/>
          <a:p>
            <a:pPr eaLnBrk="1" hangingPunct="1">
              <a:buFont typeface="Wingdings" pitchFamily="2" charset="2"/>
              <a:buChar char="q"/>
            </a:pPr>
            <a:r>
              <a:rPr lang="en-US" sz="2400" b="1"/>
              <a:t>No evidence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/>
              <a:t>MEU() = max</a:t>
            </a:r>
            <a:r>
              <a:rPr lang="en-US" sz="2400" baseline="-25000">
                <a:sym typeface="Symbol" pitchFamily="18" charset="2"/>
              </a:rPr>
              <a:t></a:t>
            </a:r>
            <a:r>
              <a:rPr lang="en-US" sz="2400"/>
              <a:t> EU(</a:t>
            </a:r>
            <a:r>
              <a:rPr lang="en-US" sz="2400">
                <a:sym typeface="Symbol" pitchFamily="18" charset="2"/>
              </a:rPr>
              <a:t></a:t>
            </a:r>
            <a:r>
              <a:rPr lang="en-US" sz="2400"/>
              <a:t>) = 20		</a:t>
            </a:r>
            <a:r>
              <a:rPr lang="en-US" sz="2400">
                <a:sym typeface="Symbol" pitchFamily="18" charset="2"/>
              </a:rPr>
              <a:t>      = </a:t>
            </a:r>
            <a:r>
              <a:rPr lang="en-US" sz="2400"/>
              <a:t>~</a:t>
            </a:r>
            <a:r>
              <a:rPr lang="en-US" sz="2400">
                <a:sym typeface="Symbol" pitchFamily="18" charset="2"/>
              </a:rPr>
              <a:t>take</a:t>
            </a:r>
            <a:endParaRPr lang="en-US" sz="2400"/>
          </a:p>
          <a:p>
            <a:pPr eaLnBrk="1" hangingPunct="1">
              <a:buFont typeface="Wingdings" pitchFamily="2" charset="2"/>
              <a:buNone/>
            </a:pPr>
            <a:r>
              <a:rPr lang="en-US" sz="2400"/>
              <a:t>                                           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 b="1">
                <a:solidFill>
                  <a:srgbClr val="00B050"/>
                </a:solidFill>
              </a:rPr>
              <a:t>If we have F=rainy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>
                <a:solidFill>
                  <a:srgbClr val="00B050"/>
                </a:solidFill>
              </a:rPr>
              <a:t>MEU(F=rainy) = max</a:t>
            </a:r>
            <a:r>
              <a:rPr lang="en-US" sz="2400" baseline="-25000">
                <a:solidFill>
                  <a:srgbClr val="00B050"/>
                </a:solidFill>
                <a:sym typeface="Symbol" pitchFamily="18" charset="2"/>
              </a:rPr>
              <a:t></a:t>
            </a:r>
            <a:r>
              <a:rPr lang="en-US" sz="2400">
                <a:solidFill>
                  <a:srgbClr val="00B050"/>
                </a:solidFill>
              </a:rPr>
              <a:t> EU(</a:t>
            </a:r>
            <a:r>
              <a:rPr lang="en-US" sz="2400">
                <a:solidFill>
                  <a:srgbClr val="00B050"/>
                </a:solidFill>
                <a:sym typeface="Symbol" pitchFamily="18" charset="2"/>
              </a:rPr>
              <a:t></a:t>
            </a:r>
            <a:r>
              <a:rPr lang="en-US" sz="2400">
                <a:solidFill>
                  <a:srgbClr val="00B050"/>
                </a:solidFill>
              </a:rPr>
              <a:t>|F=rainy)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>
                <a:solidFill>
                  <a:srgbClr val="00B050"/>
                </a:solidFill>
              </a:rPr>
              <a:t>                        = -17.5			     </a:t>
            </a:r>
            <a:r>
              <a:rPr lang="en-US" sz="2400">
                <a:solidFill>
                  <a:srgbClr val="00B050"/>
                </a:solidFill>
                <a:sym typeface="Symbol" pitchFamily="18" charset="2"/>
              </a:rPr>
              <a:t> = take</a:t>
            </a:r>
            <a:endParaRPr lang="en-US" sz="2400">
              <a:solidFill>
                <a:srgbClr val="00B05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400">
                <a:solidFill>
                  <a:srgbClr val="00B050"/>
                </a:solidFill>
              </a:rPr>
              <a:t>                                           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 b="1">
                <a:solidFill>
                  <a:srgbClr val="543800"/>
                </a:solidFill>
              </a:rPr>
              <a:t>If we have F=~rainy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>
                <a:solidFill>
                  <a:srgbClr val="543800"/>
                </a:solidFill>
              </a:rPr>
              <a:t>MEU(F=~rainy) = max</a:t>
            </a:r>
            <a:r>
              <a:rPr lang="en-US" sz="2400" baseline="-25000">
                <a:solidFill>
                  <a:srgbClr val="543800"/>
                </a:solidFill>
                <a:sym typeface="Symbol" pitchFamily="18" charset="2"/>
              </a:rPr>
              <a:t></a:t>
            </a:r>
            <a:r>
              <a:rPr lang="en-US" sz="2400">
                <a:solidFill>
                  <a:srgbClr val="543800"/>
                </a:solidFill>
              </a:rPr>
              <a:t> EU(</a:t>
            </a:r>
            <a:r>
              <a:rPr lang="en-US" sz="2400">
                <a:solidFill>
                  <a:srgbClr val="543800"/>
                </a:solidFill>
                <a:sym typeface="Symbol" pitchFamily="18" charset="2"/>
              </a:rPr>
              <a:t></a:t>
            </a:r>
            <a:r>
              <a:rPr lang="en-US" sz="2400">
                <a:solidFill>
                  <a:srgbClr val="543800"/>
                </a:solidFill>
              </a:rPr>
              <a:t>|F=~rainy)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>
                <a:solidFill>
                  <a:srgbClr val="543800"/>
                </a:solidFill>
              </a:rPr>
              <a:t>                        = 60			</a:t>
            </a:r>
            <a:r>
              <a:rPr lang="en-US" sz="2400">
                <a:solidFill>
                  <a:srgbClr val="543800"/>
                </a:solidFill>
                <a:sym typeface="Symbol" pitchFamily="18" charset="2"/>
              </a:rPr>
              <a:t>      = </a:t>
            </a:r>
            <a:r>
              <a:rPr lang="en-US" sz="2400">
                <a:solidFill>
                  <a:srgbClr val="543800"/>
                </a:solidFill>
              </a:rPr>
              <a:t>~</a:t>
            </a:r>
            <a:r>
              <a:rPr lang="en-US" sz="2400">
                <a:solidFill>
                  <a:srgbClr val="543800"/>
                </a:solidFill>
                <a:sym typeface="Symbol" pitchFamily="18" charset="2"/>
              </a:rPr>
              <a:t>take</a:t>
            </a:r>
            <a:endParaRPr lang="en-US" sz="2400">
              <a:solidFill>
                <a:srgbClr val="5438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400">
                <a:solidFill>
                  <a:srgbClr val="543800"/>
                </a:solidFill>
              </a:rPr>
              <a:t>                    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Umbrella Network</a:t>
            </a:r>
          </a:p>
        </p:txBody>
      </p:sp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5029200" y="2971800"/>
            <a:ext cx="1295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rain</a:t>
            </a: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6858000" y="4038600"/>
            <a:ext cx="1295400" cy="5334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forecast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914400" y="2819400"/>
            <a:ext cx="19050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Take Umbrella</a:t>
            </a:r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3352800" y="4267200"/>
            <a:ext cx="1676400" cy="685800"/>
          </a:xfrm>
          <a:prstGeom prst="flowChartDecision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happiness</a:t>
            </a:r>
          </a:p>
        </p:txBody>
      </p:sp>
      <p:cxnSp>
        <p:nvCxnSpPr>
          <p:cNvPr id="28679" name="AutoShape 7"/>
          <p:cNvCxnSpPr>
            <a:cxnSpLocks noChangeShapeType="1"/>
            <a:stCxn id="28675" idx="4"/>
            <a:endCxn id="28678" idx="0"/>
          </p:cNvCxnSpPr>
          <p:nvPr/>
        </p:nvCxnSpPr>
        <p:spPr bwMode="auto">
          <a:xfrm flipH="1">
            <a:off x="4191000" y="3505200"/>
            <a:ext cx="1485900" cy="762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680" name="AutoShape 8"/>
          <p:cNvCxnSpPr>
            <a:cxnSpLocks noChangeShapeType="1"/>
            <a:stCxn id="28685" idx="4"/>
            <a:endCxn id="28678" idx="0"/>
          </p:cNvCxnSpPr>
          <p:nvPr/>
        </p:nvCxnSpPr>
        <p:spPr bwMode="auto">
          <a:xfrm>
            <a:off x="2743200" y="4114800"/>
            <a:ext cx="14478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681" name="AutoShape 9"/>
          <p:cNvCxnSpPr>
            <a:cxnSpLocks noChangeShapeType="1"/>
            <a:stCxn id="28675" idx="4"/>
            <a:endCxn id="28676" idx="1"/>
          </p:cNvCxnSpPr>
          <p:nvPr/>
        </p:nvCxnSpPr>
        <p:spPr bwMode="auto">
          <a:xfrm>
            <a:off x="5676900" y="3505200"/>
            <a:ext cx="1370013" cy="6111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127125" y="2362200"/>
            <a:ext cx="167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take/don’t take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4953000" y="25146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P(rain) = 0.4</a:t>
            </a:r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2667000" y="5257800"/>
            <a:ext cx="2606675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U(~umb, ~rain) = 100</a:t>
            </a:r>
          </a:p>
          <a:p>
            <a:r>
              <a:rPr lang="en-US"/>
              <a:t>U(~umb, rain) = -100 </a:t>
            </a:r>
          </a:p>
          <a:p>
            <a:r>
              <a:rPr lang="en-US" sz="1800"/>
              <a:t>U(umb,~rain) = 0</a:t>
            </a:r>
          </a:p>
          <a:p>
            <a:r>
              <a:rPr lang="en-US"/>
              <a:t>U(umb,rain) = -25</a:t>
            </a:r>
            <a:endParaRPr lang="en-US" sz="1800"/>
          </a:p>
        </p:txBody>
      </p:sp>
      <p:sp>
        <p:nvSpPr>
          <p:cNvPr id="28685" name="Oval 13"/>
          <p:cNvSpPr>
            <a:spLocks noChangeArrowheads="1"/>
          </p:cNvSpPr>
          <p:nvPr/>
        </p:nvSpPr>
        <p:spPr bwMode="auto">
          <a:xfrm>
            <a:off x="1905000" y="3581400"/>
            <a:ext cx="16764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mic Sans MS" pitchFamily="66" charset="0"/>
              </a:rPr>
              <a:t> umbrella</a:t>
            </a:r>
          </a:p>
        </p:txBody>
      </p:sp>
      <p:cxnSp>
        <p:nvCxnSpPr>
          <p:cNvPr id="28686" name="AutoShape 14"/>
          <p:cNvCxnSpPr>
            <a:cxnSpLocks noChangeShapeType="1"/>
            <a:stCxn id="28677" idx="2"/>
            <a:endCxn id="28685" idx="1"/>
          </p:cNvCxnSpPr>
          <p:nvPr/>
        </p:nvCxnSpPr>
        <p:spPr bwMode="auto">
          <a:xfrm>
            <a:off x="1866900" y="3276600"/>
            <a:ext cx="284163" cy="382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304800" y="4159250"/>
            <a:ext cx="2141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P(umb|take) = 1.0</a:t>
            </a:r>
          </a:p>
          <a:p>
            <a:r>
              <a:rPr lang="en-US" sz="1800"/>
              <a:t>P(~umb|~take)=1.0</a:t>
            </a:r>
          </a:p>
        </p:txBody>
      </p:sp>
      <p:graphicFrame>
        <p:nvGraphicFramePr>
          <p:cNvPr id="389136" name="Group 16"/>
          <p:cNvGraphicFramePr>
            <a:graphicFrameLocks noGrp="1"/>
          </p:cNvGraphicFramePr>
          <p:nvPr/>
        </p:nvGraphicFramePr>
        <p:xfrm>
          <a:off x="5562600" y="4724400"/>
          <a:ext cx="3276600" cy="1574800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P(F|R)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9162" name="Group 42"/>
          <p:cNvGraphicFramePr>
            <a:graphicFrameLocks noGrp="1"/>
          </p:cNvGraphicFramePr>
          <p:nvPr/>
        </p:nvGraphicFramePr>
        <p:xfrm>
          <a:off x="5562600" y="685800"/>
          <a:ext cx="3276600" cy="1565275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P(R|F)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9188" name="Text Box 68"/>
          <p:cNvSpPr txBox="1">
            <a:spLocks noChangeArrowheads="1"/>
          </p:cNvSpPr>
          <p:nvPr/>
        </p:nvSpPr>
        <p:spPr bwMode="auto">
          <a:xfrm>
            <a:off x="6553200" y="228600"/>
            <a:ext cx="183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P(F=rainy) = 0.4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8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VPI (Value of Information)</a:t>
            </a:r>
          </a:p>
        </p:txBody>
      </p:sp>
      <p:sp>
        <p:nvSpPr>
          <p:cNvPr id="396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/>
              <a:t>VPI(forecast)</a:t>
            </a:r>
            <a:r>
              <a:rPr lang="en-US"/>
              <a:t>=</a:t>
            </a:r>
            <a:br>
              <a:rPr lang="en-US"/>
            </a:br>
            <a:r>
              <a:rPr lang="en-US"/>
              <a:t>  </a:t>
            </a:r>
            <a:r>
              <a:rPr lang="en-US">
                <a:solidFill>
                  <a:srgbClr val="00B050"/>
                </a:solidFill>
              </a:rPr>
              <a:t>P(F=rainy)EU(</a:t>
            </a:r>
            <a:r>
              <a:rPr lang="en-US">
                <a:solidFill>
                  <a:srgbClr val="00B050"/>
                </a:solidFill>
                <a:sym typeface="Symbol" pitchFamily="18" charset="2"/>
              </a:rPr>
              <a:t></a:t>
            </a:r>
            <a:r>
              <a:rPr lang="en-US" baseline="-25000">
                <a:solidFill>
                  <a:srgbClr val="00B050"/>
                </a:solidFill>
                <a:sym typeface="Symbol" pitchFamily="18" charset="2"/>
              </a:rPr>
              <a:t>F=rainy</a:t>
            </a:r>
            <a:r>
              <a:rPr lang="en-US">
                <a:solidFill>
                  <a:srgbClr val="00B050"/>
                </a:solidFill>
                <a:sym typeface="Symbol" pitchFamily="18" charset="2"/>
              </a:rPr>
              <a:t>) </a:t>
            </a:r>
            <a:r>
              <a:rPr lang="en-US">
                <a:sym typeface="Symbol" pitchFamily="18" charset="2"/>
              </a:rPr>
              <a:t>+</a:t>
            </a:r>
            <a:br>
              <a:rPr lang="en-US">
                <a:sym typeface="Symbol" pitchFamily="18" charset="2"/>
              </a:rPr>
            </a:br>
            <a:r>
              <a:rPr lang="en-US">
                <a:sym typeface="Symbol" pitchFamily="18" charset="2"/>
              </a:rPr>
              <a:t>  </a:t>
            </a:r>
            <a:r>
              <a:rPr lang="en-US">
                <a:solidFill>
                  <a:srgbClr val="C00000"/>
                </a:solidFill>
              </a:rPr>
              <a:t>P(F=~rainy)EU(</a:t>
            </a:r>
            <a:r>
              <a:rPr lang="en-US">
                <a:solidFill>
                  <a:srgbClr val="C00000"/>
                </a:solidFill>
                <a:sym typeface="Symbol" pitchFamily="18" charset="2"/>
              </a:rPr>
              <a:t></a:t>
            </a:r>
            <a:r>
              <a:rPr lang="en-US" baseline="-25000">
                <a:solidFill>
                  <a:srgbClr val="C00000"/>
                </a:solidFill>
                <a:sym typeface="Symbol" pitchFamily="18" charset="2"/>
              </a:rPr>
              <a:t>F=~rainy</a:t>
            </a:r>
            <a:r>
              <a:rPr lang="en-US">
                <a:solidFill>
                  <a:srgbClr val="C00000"/>
                </a:solidFill>
                <a:sym typeface="Symbol" pitchFamily="18" charset="2"/>
              </a:rPr>
              <a:t>) </a:t>
            </a:r>
            <a:r>
              <a:rPr lang="en-US">
                <a:sym typeface="Symbol" pitchFamily="18" charset="2"/>
              </a:rPr>
              <a:t>–</a:t>
            </a:r>
            <a:br>
              <a:rPr lang="en-US">
                <a:sym typeface="Symbol" pitchFamily="18" charset="2"/>
              </a:rPr>
            </a:br>
            <a:r>
              <a:rPr lang="en-US">
                <a:sym typeface="Symbol" pitchFamily="18" charset="2"/>
              </a:rPr>
              <a:t>  </a:t>
            </a:r>
            <a:r>
              <a:rPr lang="en-US">
                <a:solidFill>
                  <a:srgbClr val="0070C0"/>
                </a:solidFill>
                <a:sym typeface="Symbol" pitchFamily="18" charset="2"/>
              </a:rPr>
              <a:t>EU()</a:t>
            </a:r>
          </a:p>
          <a:p>
            <a:pPr eaLnBrk="1" hangingPunct="1"/>
            <a:endParaRPr lang="en-US">
              <a:solidFill>
                <a:srgbClr val="0070C0"/>
              </a:solidFill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>
                <a:solidFill>
                  <a:srgbClr val="0070C0"/>
                </a:solidFill>
                <a:sym typeface="Symbol" pitchFamily="18" charset="2"/>
              </a:rPr>
              <a:t>= </a:t>
            </a:r>
            <a:r>
              <a:rPr lang="en-US">
                <a:solidFill>
                  <a:srgbClr val="00B050"/>
                </a:solidFill>
                <a:sym typeface="Symbol" pitchFamily="18" charset="2"/>
              </a:rPr>
              <a:t>(0.4)(-17.5) </a:t>
            </a:r>
            <a:r>
              <a:rPr lang="en-US">
                <a:solidFill>
                  <a:srgbClr val="0070C0"/>
                </a:solidFill>
                <a:sym typeface="Symbol" pitchFamily="18" charset="2"/>
              </a:rPr>
              <a:t>+ </a:t>
            </a:r>
            <a:r>
              <a:rPr lang="en-US">
                <a:solidFill>
                  <a:srgbClr val="C00000"/>
                </a:solidFill>
                <a:sym typeface="Symbol" pitchFamily="18" charset="2"/>
              </a:rPr>
              <a:t>(0.6)(60) </a:t>
            </a:r>
            <a:r>
              <a:rPr lang="en-US">
                <a:solidFill>
                  <a:srgbClr val="0070C0"/>
                </a:solidFill>
                <a:sym typeface="Symbol" pitchFamily="18" charset="2"/>
              </a:rPr>
              <a:t>– (20)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>
                <a:solidFill>
                  <a:srgbClr val="0070C0"/>
                </a:solidFill>
                <a:sym typeface="Symbol" pitchFamily="18" charset="2"/>
              </a:rPr>
              <a:t>= </a:t>
            </a:r>
            <a:r>
              <a:rPr lang="en-US">
                <a:solidFill>
                  <a:srgbClr val="00B050"/>
                </a:solidFill>
                <a:sym typeface="Symbol" pitchFamily="18" charset="2"/>
              </a:rPr>
              <a:t>-7</a:t>
            </a:r>
            <a:r>
              <a:rPr lang="en-US">
                <a:solidFill>
                  <a:srgbClr val="0070C0"/>
                </a:solidFill>
                <a:sym typeface="Symbol" pitchFamily="18" charset="2"/>
              </a:rPr>
              <a:t> + </a:t>
            </a:r>
            <a:r>
              <a:rPr lang="en-US">
                <a:solidFill>
                  <a:srgbClr val="C00000"/>
                </a:solidFill>
                <a:sym typeface="Symbol" pitchFamily="18" charset="2"/>
              </a:rPr>
              <a:t>36</a:t>
            </a:r>
            <a:r>
              <a:rPr lang="en-US">
                <a:solidFill>
                  <a:srgbClr val="0070C0"/>
                </a:solidFill>
                <a:sym typeface="Symbol" pitchFamily="18" charset="2"/>
              </a:rPr>
              <a:t> – 20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>
                <a:solidFill>
                  <a:srgbClr val="0070C0"/>
                </a:solidFill>
                <a:sym typeface="Symbol" pitchFamily="18" charset="2"/>
              </a:rPr>
              <a:t>= </a:t>
            </a:r>
            <a:r>
              <a:rPr lang="en-US">
                <a:sym typeface="Symbol" pitchFamily="18" charset="2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5">
              <a:lumMod val="9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Sequential Decision Making</a:t>
            </a:r>
          </a:p>
        </p:txBody>
      </p:sp>
      <p:sp>
        <p:nvSpPr>
          <p:cNvPr id="307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Finite Horizon</a:t>
            </a:r>
          </a:p>
          <a:p>
            <a:pPr lvl="1" eaLnBrk="1" hangingPunct="1"/>
            <a:r>
              <a:rPr lang="en-US" sz="2000"/>
              <a:t>there is a fixed time N</a:t>
            </a:r>
          </a:p>
          <a:p>
            <a:pPr lvl="1" eaLnBrk="1" hangingPunct="1"/>
            <a:r>
              <a:rPr lang="en-US" sz="2000"/>
              <a:t>So, with a finite horizon, the optimal action in a given state could change over time.</a:t>
            </a:r>
          </a:p>
          <a:p>
            <a:pPr lvl="1" eaLnBrk="1" hangingPunct="1"/>
            <a:r>
              <a:rPr lang="en-US" sz="2000"/>
              <a:t>We say that the optimal policy for a finite horizon is </a:t>
            </a:r>
            <a:r>
              <a:rPr lang="en-US" sz="2000" b="1"/>
              <a:t>nonstationary</a:t>
            </a:r>
            <a:r>
              <a:rPr lang="en-US" sz="2000"/>
              <a:t>.</a:t>
            </a:r>
          </a:p>
          <a:p>
            <a:pPr eaLnBrk="1" hangingPunct="1"/>
            <a:r>
              <a:rPr lang="en-US"/>
              <a:t>Infinite Horizon</a:t>
            </a:r>
          </a:p>
          <a:p>
            <a:pPr lvl="1" eaLnBrk="1" hangingPunct="1"/>
            <a:r>
              <a:rPr lang="en-US" sz="2000"/>
              <a:t>With no fixed time limit</a:t>
            </a:r>
          </a:p>
          <a:p>
            <a:pPr lvl="1" eaLnBrk="1" hangingPunct="1"/>
            <a:r>
              <a:rPr lang="en-US" sz="2000"/>
              <a:t>the optimal action depends only on the current state </a:t>
            </a:r>
          </a:p>
          <a:p>
            <a:pPr lvl="1" eaLnBrk="1" hangingPunct="1"/>
            <a:r>
              <a:rPr lang="en-US" sz="2000"/>
              <a:t>the optimal policy is </a:t>
            </a:r>
            <a:r>
              <a:rPr lang="en-US" sz="2000" b="1"/>
              <a:t>stationary</a:t>
            </a:r>
            <a:r>
              <a:rPr lang="en-US" sz="200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>
                <a:effectLst>
                  <a:outerShdw blurRad="38100" dist="38100" dir="2700000" algn="tl">
                    <a:srgbClr val="C0C0C0"/>
                  </a:outerShdw>
                </a:effectLst>
              </a:rPr>
              <a:t>Simple Robot Navigation Problem</a:t>
            </a:r>
          </a:p>
        </p:txBody>
      </p:sp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3352800" y="1676400"/>
            <a:ext cx="2438400" cy="1828800"/>
            <a:chOff x="960" y="1152"/>
            <a:chExt cx="1536" cy="1152"/>
          </a:xfrm>
        </p:grpSpPr>
        <p:sp>
          <p:nvSpPr>
            <p:cNvPr id="31749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31750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1751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1752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1753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1754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1755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31748" name="Freeform 11"/>
          <p:cNvSpPr>
            <a:spLocks/>
          </p:cNvSpPr>
          <p:nvPr/>
        </p:nvSpPr>
        <p:spPr bwMode="auto">
          <a:xfrm>
            <a:off x="3517900" y="30480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Probabilistic Transition Model</a:t>
            </a:r>
          </a:p>
        </p:txBody>
      </p:sp>
      <p:grpSp>
        <p:nvGrpSpPr>
          <p:cNvPr id="32771" name="Group 3"/>
          <p:cNvGrpSpPr>
            <a:grpSpLocks/>
          </p:cNvGrpSpPr>
          <p:nvPr/>
        </p:nvGrpSpPr>
        <p:grpSpPr bwMode="auto">
          <a:xfrm>
            <a:off x="3352800" y="1676400"/>
            <a:ext cx="2438400" cy="1828800"/>
            <a:chOff x="2112" y="1056"/>
            <a:chExt cx="1536" cy="1152"/>
          </a:xfrm>
        </p:grpSpPr>
        <p:grpSp>
          <p:nvGrpSpPr>
            <p:cNvPr id="32773" name="Group 4"/>
            <p:cNvGrpSpPr>
              <a:grpSpLocks/>
            </p:cNvGrpSpPr>
            <p:nvPr/>
          </p:nvGrpSpPr>
          <p:grpSpPr bwMode="auto">
            <a:xfrm>
              <a:off x="2112" y="1056"/>
              <a:ext cx="1536" cy="1152"/>
              <a:chOff x="960" y="1152"/>
              <a:chExt cx="1536" cy="1152"/>
            </a:xfrm>
          </p:grpSpPr>
          <p:sp>
            <p:nvSpPr>
              <p:cNvPr id="32775" name="Rectangle 5"/>
              <p:cNvSpPr>
                <a:spLocks noChangeArrowheads="1"/>
              </p:cNvSpPr>
              <p:nvPr/>
            </p:nvSpPr>
            <p:spPr bwMode="auto">
              <a:xfrm>
                <a:off x="960" y="1152"/>
                <a:ext cx="1536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32776" name="Line 6"/>
              <p:cNvSpPr>
                <a:spLocks noChangeShapeType="1"/>
              </p:cNvSpPr>
              <p:nvPr/>
            </p:nvSpPr>
            <p:spPr bwMode="auto">
              <a:xfrm>
                <a:off x="1344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2777" name="Line 7"/>
              <p:cNvSpPr>
                <a:spLocks noChangeShapeType="1"/>
              </p:cNvSpPr>
              <p:nvPr/>
            </p:nvSpPr>
            <p:spPr bwMode="auto">
              <a:xfrm>
                <a:off x="1728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2778" name="Line 8"/>
              <p:cNvSpPr>
                <a:spLocks noChangeShapeType="1"/>
              </p:cNvSpPr>
              <p:nvPr/>
            </p:nvSpPr>
            <p:spPr bwMode="auto">
              <a:xfrm>
                <a:off x="2112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2779" name="Line 9"/>
              <p:cNvSpPr>
                <a:spLocks noChangeShapeType="1"/>
              </p:cNvSpPr>
              <p:nvPr/>
            </p:nvSpPr>
            <p:spPr bwMode="auto">
              <a:xfrm>
                <a:off x="960" y="1536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2780" name="Line 10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2781" name="Rectangle 11"/>
              <p:cNvSpPr>
                <a:spLocks noChangeArrowheads="1"/>
              </p:cNvSpPr>
              <p:nvPr/>
            </p:nvSpPr>
            <p:spPr bwMode="auto">
              <a:xfrm>
                <a:off x="1344" y="1536"/>
                <a:ext cx="384" cy="38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32774" name="Freeform 12"/>
            <p:cNvSpPr>
              <a:spLocks/>
            </p:cNvSpPr>
            <p:nvPr/>
          </p:nvSpPr>
          <p:spPr bwMode="auto">
            <a:xfrm>
              <a:off x="2216" y="1920"/>
              <a:ext cx="192" cy="192"/>
            </a:xfrm>
            <a:custGeom>
              <a:avLst/>
              <a:gdLst>
                <a:gd name="T0" fmla="*/ 96 w 192"/>
                <a:gd name="T1" fmla="*/ 0 h 192"/>
                <a:gd name="T2" fmla="*/ 0 w 192"/>
                <a:gd name="T3" fmla="*/ 192 h 192"/>
                <a:gd name="T4" fmla="*/ 144 w 192"/>
                <a:gd name="T5" fmla="*/ 192 h 192"/>
                <a:gd name="T6" fmla="*/ 192 w 192"/>
                <a:gd name="T7" fmla="*/ 192 h 192"/>
                <a:gd name="T8" fmla="*/ 96 w 192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192"/>
                <a:gd name="T17" fmla="*/ 192 w 192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192">
                  <a:moveTo>
                    <a:pt x="96" y="0"/>
                  </a:moveTo>
                  <a:lnTo>
                    <a:pt x="0" y="192"/>
                  </a:lnTo>
                  <a:lnTo>
                    <a:pt x="144" y="192"/>
                  </a:lnTo>
                  <a:lnTo>
                    <a:pt x="192" y="192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</p:grpSp>
      <p:sp>
        <p:nvSpPr>
          <p:cNvPr id="34820" name="Text Box 13"/>
          <p:cNvSpPr txBox="1">
            <a:spLocks noChangeArrowheads="1"/>
          </p:cNvSpPr>
          <p:nvPr/>
        </p:nvSpPr>
        <p:spPr bwMode="auto">
          <a:xfrm>
            <a:off x="762000" y="3733800"/>
            <a:ext cx="7700963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In each state, the possible actions are </a:t>
            </a:r>
            <a:r>
              <a:rPr lang="en-US">
                <a:solidFill>
                  <a:srgbClr val="990000"/>
                </a:solidFill>
                <a:latin typeface="Tahoma" pitchFamily="34" charset="0"/>
              </a:rPr>
              <a:t>U</a:t>
            </a:r>
            <a:r>
              <a:rPr lang="en-US">
                <a:latin typeface="Tahoma" pitchFamily="34" charset="0"/>
              </a:rPr>
              <a:t>, </a:t>
            </a:r>
            <a:r>
              <a:rPr lang="en-US">
                <a:solidFill>
                  <a:srgbClr val="990000"/>
                </a:solidFill>
                <a:latin typeface="Tahoma" pitchFamily="34" charset="0"/>
              </a:rPr>
              <a:t>D</a:t>
            </a:r>
            <a:r>
              <a:rPr lang="en-US">
                <a:latin typeface="Tahoma" pitchFamily="34" charset="0"/>
              </a:rPr>
              <a:t>, </a:t>
            </a:r>
            <a:r>
              <a:rPr lang="en-US">
                <a:solidFill>
                  <a:srgbClr val="990000"/>
                </a:solidFill>
                <a:latin typeface="Tahoma" pitchFamily="34" charset="0"/>
              </a:rPr>
              <a:t>R</a:t>
            </a:r>
            <a:r>
              <a:rPr lang="en-US">
                <a:latin typeface="Tahoma" pitchFamily="34" charset="0"/>
              </a:rPr>
              <a:t>, and </a:t>
            </a:r>
            <a:r>
              <a:rPr lang="en-US">
                <a:solidFill>
                  <a:srgbClr val="990000"/>
                </a:solidFill>
                <a:latin typeface="Tahoma" pitchFamily="34" charset="0"/>
              </a:rPr>
              <a:t>L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The effect of </a:t>
            </a:r>
            <a:r>
              <a:rPr lang="en-US">
                <a:solidFill>
                  <a:srgbClr val="990000"/>
                </a:solidFill>
                <a:latin typeface="Tahoma" pitchFamily="34" charset="0"/>
              </a:rPr>
              <a:t>U</a:t>
            </a:r>
            <a:r>
              <a:rPr lang="en-US">
                <a:latin typeface="Tahoma" pitchFamily="34" charset="0"/>
              </a:rPr>
              <a:t> is as follows (</a:t>
            </a:r>
            <a:r>
              <a:rPr lang="en-US">
                <a:solidFill>
                  <a:srgbClr val="009900"/>
                </a:solidFill>
                <a:latin typeface="Tahoma" pitchFamily="34" charset="0"/>
              </a:rPr>
              <a:t>transition model</a:t>
            </a:r>
            <a:r>
              <a:rPr lang="en-US">
                <a:latin typeface="Tahoma" pitchFamily="34" charset="0"/>
              </a:rPr>
              <a:t>):</a:t>
            </a:r>
          </a:p>
          <a:p>
            <a:pPr lvl="1"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With probability 0.8 the robot moves up one square (if the </a:t>
            </a:r>
            <a:br>
              <a:rPr lang="en-US">
                <a:latin typeface="Tahoma" pitchFamily="34" charset="0"/>
              </a:rPr>
            </a:br>
            <a:r>
              <a:rPr lang="en-US">
                <a:latin typeface="Tahoma" pitchFamily="34" charset="0"/>
              </a:rPr>
              <a:t>   robot is already in the top row, then it does not move)</a:t>
            </a:r>
          </a:p>
          <a:p>
            <a:pPr lvl="1"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With probability 0.1 the robot moves right one square (if the</a:t>
            </a:r>
            <a:br>
              <a:rPr lang="en-US">
                <a:latin typeface="Tahoma" pitchFamily="34" charset="0"/>
              </a:rPr>
            </a:br>
            <a:r>
              <a:rPr lang="en-US">
                <a:latin typeface="Tahoma" pitchFamily="34" charset="0"/>
              </a:rPr>
              <a:t>   robot is already in the rightmost row, then it does not move)</a:t>
            </a:r>
          </a:p>
          <a:p>
            <a:pPr lvl="1"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With probability 0.1 the robot moves left one square (if the</a:t>
            </a:r>
            <a:br>
              <a:rPr lang="en-US">
                <a:latin typeface="Tahoma" pitchFamily="34" charset="0"/>
              </a:rPr>
            </a:br>
            <a:r>
              <a:rPr lang="en-US">
                <a:latin typeface="Tahoma" pitchFamily="34" charset="0"/>
              </a:rPr>
              <a:t>   robot is already in the leftmost row, then it does not move)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Markov Property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990600" y="2286000"/>
            <a:ext cx="705326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200">
                <a:solidFill>
                  <a:srgbClr val="990000"/>
                </a:solidFill>
                <a:latin typeface="Tahoma" pitchFamily="34" charset="0"/>
              </a:rPr>
              <a:t>The transition properties depend only </a:t>
            </a:r>
            <a:br>
              <a:rPr lang="en-US" sz="3200">
                <a:solidFill>
                  <a:srgbClr val="990000"/>
                </a:solidFill>
                <a:latin typeface="Tahoma" pitchFamily="34" charset="0"/>
              </a:rPr>
            </a:br>
            <a:r>
              <a:rPr lang="en-US" sz="3200">
                <a:solidFill>
                  <a:srgbClr val="990000"/>
                </a:solidFill>
                <a:latin typeface="Tahoma" pitchFamily="34" charset="0"/>
              </a:rPr>
              <a:t>on the current state, not on previous </a:t>
            </a:r>
            <a:br>
              <a:rPr lang="en-US" sz="3200">
                <a:solidFill>
                  <a:srgbClr val="990000"/>
                </a:solidFill>
                <a:latin typeface="Tahoma" pitchFamily="34" charset="0"/>
              </a:rPr>
            </a:br>
            <a:r>
              <a:rPr lang="en-US" sz="3200">
                <a:solidFill>
                  <a:srgbClr val="990000"/>
                </a:solidFill>
                <a:latin typeface="Tahoma" pitchFamily="34" charset="0"/>
              </a:rPr>
              <a:t>history (how that state was reached)</a:t>
            </a:r>
            <a:r>
              <a:rPr lang="en-US" sz="2400">
                <a:latin typeface="Tahoma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Sequence of Actions</a:t>
            </a:r>
          </a:p>
        </p:txBody>
      </p:sp>
      <p:grpSp>
        <p:nvGrpSpPr>
          <p:cNvPr id="34819" name="Group 3"/>
          <p:cNvGrpSpPr>
            <a:grpSpLocks/>
          </p:cNvGrpSpPr>
          <p:nvPr/>
        </p:nvGrpSpPr>
        <p:grpSpPr bwMode="auto">
          <a:xfrm>
            <a:off x="1524000" y="1676400"/>
            <a:ext cx="2438400" cy="1828800"/>
            <a:chOff x="960" y="1152"/>
            <a:chExt cx="1536" cy="1152"/>
          </a:xfrm>
        </p:grpSpPr>
        <p:sp>
          <p:nvSpPr>
            <p:cNvPr id="34831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34832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4833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4834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4835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4836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4837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34820" name="Freeform 11"/>
          <p:cNvSpPr>
            <a:spLocks/>
          </p:cNvSpPr>
          <p:nvPr/>
        </p:nvSpPr>
        <p:spPr bwMode="auto">
          <a:xfrm>
            <a:off x="2895600" y="24384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4821" name="Text Box 12"/>
          <p:cNvSpPr txBox="1">
            <a:spLocks noChangeArrowheads="1"/>
          </p:cNvSpPr>
          <p:nvPr/>
        </p:nvSpPr>
        <p:spPr bwMode="auto">
          <a:xfrm>
            <a:off x="2286000" y="3886200"/>
            <a:ext cx="4486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Planned sequence of actions:  (U, R)</a:t>
            </a:r>
          </a:p>
        </p:txBody>
      </p:sp>
      <p:sp>
        <p:nvSpPr>
          <p:cNvPr id="34822" name="Rectangle 13"/>
          <p:cNvSpPr>
            <a:spLocks noChangeArrowheads="1"/>
          </p:cNvSpPr>
          <p:nvPr/>
        </p:nvSpPr>
        <p:spPr bwMode="auto">
          <a:xfrm>
            <a:off x="3352800" y="1676400"/>
            <a:ext cx="609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4823" name="Text Box 14"/>
          <p:cNvSpPr txBox="1">
            <a:spLocks noChangeArrowheads="1"/>
          </p:cNvSpPr>
          <p:nvPr/>
        </p:nvSpPr>
        <p:spPr bwMode="auto">
          <a:xfrm>
            <a:off x="11430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34824" name="Text Box 15"/>
          <p:cNvSpPr txBox="1">
            <a:spLocks noChangeArrowheads="1"/>
          </p:cNvSpPr>
          <p:nvPr/>
        </p:nvSpPr>
        <p:spPr bwMode="auto">
          <a:xfrm>
            <a:off x="11430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34825" name="Text Box 16"/>
          <p:cNvSpPr txBox="1">
            <a:spLocks noChangeArrowheads="1"/>
          </p:cNvSpPr>
          <p:nvPr/>
        </p:nvSpPr>
        <p:spPr bwMode="auto">
          <a:xfrm>
            <a:off x="11430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34826" name="Text Box 17"/>
          <p:cNvSpPr txBox="1">
            <a:spLocks noChangeArrowheads="1"/>
          </p:cNvSpPr>
          <p:nvPr/>
        </p:nvSpPr>
        <p:spPr bwMode="auto">
          <a:xfrm>
            <a:off x="3505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34827" name="Text Box 18"/>
          <p:cNvSpPr txBox="1">
            <a:spLocks noChangeArrowheads="1"/>
          </p:cNvSpPr>
          <p:nvPr/>
        </p:nvSpPr>
        <p:spPr bwMode="auto">
          <a:xfrm>
            <a:off x="28956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34828" name="Text Box 19"/>
          <p:cNvSpPr txBox="1">
            <a:spLocks noChangeArrowheads="1"/>
          </p:cNvSpPr>
          <p:nvPr/>
        </p:nvSpPr>
        <p:spPr bwMode="auto">
          <a:xfrm>
            <a:off x="22860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34829" name="Text Box 20"/>
          <p:cNvSpPr txBox="1">
            <a:spLocks noChangeArrowheads="1"/>
          </p:cNvSpPr>
          <p:nvPr/>
        </p:nvSpPr>
        <p:spPr bwMode="auto">
          <a:xfrm>
            <a:off x="1676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34830" name="Text Box 21"/>
          <p:cNvSpPr txBox="1">
            <a:spLocks noChangeArrowheads="1"/>
          </p:cNvSpPr>
          <p:nvPr/>
        </p:nvSpPr>
        <p:spPr bwMode="auto">
          <a:xfrm>
            <a:off x="6096000" y="1524000"/>
            <a:ext cx="7397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[3,2]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Sequence of Actions</a:t>
            </a:r>
          </a:p>
        </p:txBody>
      </p:sp>
      <p:grpSp>
        <p:nvGrpSpPr>
          <p:cNvPr id="35843" name="Group 3"/>
          <p:cNvGrpSpPr>
            <a:grpSpLocks/>
          </p:cNvGrpSpPr>
          <p:nvPr/>
        </p:nvGrpSpPr>
        <p:grpSpPr bwMode="auto">
          <a:xfrm>
            <a:off x="1524000" y="1676400"/>
            <a:ext cx="2438400" cy="1828800"/>
            <a:chOff x="960" y="1152"/>
            <a:chExt cx="1536" cy="1152"/>
          </a:xfrm>
        </p:grpSpPr>
        <p:sp>
          <p:nvSpPr>
            <p:cNvPr id="35865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35866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5867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5868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5869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5870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5871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35844" name="Freeform 11"/>
          <p:cNvSpPr>
            <a:spLocks/>
          </p:cNvSpPr>
          <p:nvPr/>
        </p:nvSpPr>
        <p:spPr bwMode="auto">
          <a:xfrm>
            <a:off x="2895600" y="18288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5845" name="Text Box 12"/>
          <p:cNvSpPr txBox="1">
            <a:spLocks noChangeArrowheads="1"/>
          </p:cNvSpPr>
          <p:nvPr/>
        </p:nvSpPr>
        <p:spPr bwMode="auto">
          <a:xfrm>
            <a:off x="2286000" y="3886200"/>
            <a:ext cx="44862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Planned sequence of actions:  (U, R)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U is executed</a:t>
            </a:r>
          </a:p>
        </p:txBody>
      </p:sp>
      <p:sp>
        <p:nvSpPr>
          <p:cNvPr id="35846" name="Freeform 13"/>
          <p:cNvSpPr>
            <a:spLocks/>
          </p:cNvSpPr>
          <p:nvPr/>
        </p:nvSpPr>
        <p:spPr bwMode="auto">
          <a:xfrm>
            <a:off x="3505200" y="24384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5847" name="Rectangle 14"/>
          <p:cNvSpPr>
            <a:spLocks noChangeArrowheads="1"/>
          </p:cNvSpPr>
          <p:nvPr/>
        </p:nvSpPr>
        <p:spPr bwMode="auto">
          <a:xfrm>
            <a:off x="3352800" y="1676400"/>
            <a:ext cx="609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5848" name="Text Box 15"/>
          <p:cNvSpPr txBox="1">
            <a:spLocks noChangeArrowheads="1"/>
          </p:cNvSpPr>
          <p:nvPr/>
        </p:nvSpPr>
        <p:spPr bwMode="auto">
          <a:xfrm>
            <a:off x="11430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35849" name="Text Box 16"/>
          <p:cNvSpPr txBox="1">
            <a:spLocks noChangeArrowheads="1"/>
          </p:cNvSpPr>
          <p:nvPr/>
        </p:nvSpPr>
        <p:spPr bwMode="auto">
          <a:xfrm>
            <a:off x="11430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35850" name="Text Box 17"/>
          <p:cNvSpPr txBox="1">
            <a:spLocks noChangeArrowheads="1"/>
          </p:cNvSpPr>
          <p:nvPr/>
        </p:nvSpPr>
        <p:spPr bwMode="auto">
          <a:xfrm>
            <a:off x="11430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35851" name="Text Box 18"/>
          <p:cNvSpPr txBox="1">
            <a:spLocks noChangeArrowheads="1"/>
          </p:cNvSpPr>
          <p:nvPr/>
        </p:nvSpPr>
        <p:spPr bwMode="auto">
          <a:xfrm>
            <a:off x="3505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35852" name="Text Box 19"/>
          <p:cNvSpPr txBox="1">
            <a:spLocks noChangeArrowheads="1"/>
          </p:cNvSpPr>
          <p:nvPr/>
        </p:nvSpPr>
        <p:spPr bwMode="auto">
          <a:xfrm>
            <a:off x="28956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35853" name="Text Box 20"/>
          <p:cNvSpPr txBox="1">
            <a:spLocks noChangeArrowheads="1"/>
          </p:cNvSpPr>
          <p:nvPr/>
        </p:nvSpPr>
        <p:spPr bwMode="auto">
          <a:xfrm>
            <a:off x="22860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35854" name="Text Box 21"/>
          <p:cNvSpPr txBox="1">
            <a:spLocks noChangeArrowheads="1"/>
          </p:cNvSpPr>
          <p:nvPr/>
        </p:nvSpPr>
        <p:spPr bwMode="auto">
          <a:xfrm>
            <a:off x="1676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35855" name="Freeform 22"/>
          <p:cNvSpPr>
            <a:spLocks/>
          </p:cNvSpPr>
          <p:nvPr/>
        </p:nvSpPr>
        <p:spPr bwMode="auto">
          <a:xfrm>
            <a:off x="2895600" y="24384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grpSp>
        <p:nvGrpSpPr>
          <p:cNvPr id="35856" name="Group 23"/>
          <p:cNvGrpSpPr>
            <a:grpSpLocks/>
          </p:cNvGrpSpPr>
          <p:nvPr/>
        </p:nvGrpSpPr>
        <p:grpSpPr bwMode="auto">
          <a:xfrm>
            <a:off x="5410200" y="1600200"/>
            <a:ext cx="2263775" cy="1168400"/>
            <a:chOff x="3600" y="1008"/>
            <a:chExt cx="1426" cy="736"/>
          </a:xfrm>
        </p:grpSpPr>
        <p:grpSp>
          <p:nvGrpSpPr>
            <p:cNvPr id="35857" name="Group 24"/>
            <p:cNvGrpSpPr>
              <a:grpSpLocks/>
            </p:cNvGrpSpPr>
            <p:nvPr/>
          </p:nvGrpSpPr>
          <p:grpSpPr bwMode="auto">
            <a:xfrm>
              <a:off x="3600" y="1008"/>
              <a:ext cx="1426" cy="736"/>
              <a:chOff x="3600" y="1008"/>
              <a:chExt cx="1426" cy="736"/>
            </a:xfrm>
          </p:grpSpPr>
          <p:sp>
            <p:nvSpPr>
              <p:cNvPr id="35861" name="Text Box 25"/>
              <p:cNvSpPr txBox="1">
                <a:spLocks noChangeArrowheads="1"/>
              </p:cNvSpPr>
              <p:nvPr/>
            </p:nvSpPr>
            <p:spPr bwMode="auto">
              <a:xfrm>
                <a:off x="4080" y="1008"/>
                <a:ext cx="46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ahoma" pitchFamily="34" charset="0"/>
                  </a:rPr>
                  <a:t>[3,2]</a:t>
                </a:r>
              </a:p>
            </p:txBody>
          </p:sp>
          <p:sp>
            <p:nvSpPr>
              <p:cNvPr id="35862" name="Text Box 26"/>
              <p:cNvSpPr txBox="1">
                <a:spLocks noChangeArrowheads="1"/>
              </p:cNvSpPr>
              <p:nvPr/>
            </p:nvSpPr>
            <p:spPr bwMode="auto">
              <a:xfrm>
                <a:off x="4560" y="1488"/>
                <a:ext cx="46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ahoma" pitchFamily="34" charset="0"/>
                  </a:rPr>
                  <a:t>[4,2]</a:t>
                </a:r>
              </a:p>
            </p:txBody>
          </p:sp>
          <p:sp>
            <p:nvSpPr>
              <p:cNvPr id="35863" name="Text Box 27"/>
              <p:cNvSpPr txBox="1">
                <a:spLocks noChangeArrowheads="1"/>
              </p:cNvSpPr>
              <p:nvPr/>
            </p:nvSpPr>
            <p:spPr bwMode="auto">
              <a:xfrm>
                <a:off x="4080" y="1488"/>
                <a:ext cx="46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ahoma" pitchFamily="34" charset="0"/>
                  </a:rPr>
                  <a:t>[3,3]</a:t>
                </a:r>
              </a:p>
            </p:txBody>
          </p:sp>
          <p:sp>
            <p:nvSpPr>
              <p:cNvPr id="35864" name="Text Box 28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46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ahoma" pitchFamily="34" charset="0"/>
                  </a:rPr>
                  <a:t>[3,2]</a:t>
                </a:r>
              </a:p>
            </p:txBody>
          </p:sp>
        </p:grpSp>
        <p:sp>
          <p:nvSpPr>
            <p:cNvPr id="35858" name="Line 29"/>
            <p:cNvSpPr>
              <a:spLocks noChangeShapeType="1"/>
            </p:cNvSpPr>
            <p:nvPr/>
          </p:nvSpPr>
          <p:spPr bwMode="auto">
            <a:xfrm flipH="1">
              <a:off x="3840" y="1248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5859" name="Line 30"/>
            <p:cNvSpPr>
              <a:spLocks noChangeShapeType="1"/>
            </p:cNvSpPr>
            <p:nvPr/>
          </p:nvSpPr>
          <p:spPr bwMode="auto">
            <a:xfrm>
              <a:off x="4320" y="12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5860" name="Line 31"/>
            <p:cNvSpPr>
              <a:spLocks noChangeShapeType="1"/>
            </p:cNvSpPr>
            <p:nvPr/>
          </p:nvSpPr>
          <p:spPr bwMode="auto">
            <a:xfrm>
              <a:off x="4320" y="1248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3352800" y="1676400"/>
            <a:ext cx="609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Histories</a:t>
            </a:r>
          </a:p>
        </p:txBody>
      </p:sp>
      <p:grpSp>
        <p:nvGrpSpPr>
          <p:cNvPr id="36868" name="Group 4"/>
          <p:cNvGrpSpPr>
            <a:grpSpLocks/>
          </p:cNvGrpSpPr>
          <p:nvPr/>
        </p:nvGrpSpPr>
        <p:grpSpPr bwMode="auto">
          <a:xfrm>
            <a:off x="1524000" y="1676400"/>
            <a:ext cx="2438400" cy="1828800"/>
            <a:chOff x="960" y="1152"/>
            <a:chExt cx="1536" cy="1152"/>
          </a:xfrm>
        </p:grpSpPr>
        <p:sp>
          <p:nvSpPr>
            <p:cNvPr id="36908" name="Rectangle 5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36909" name="Line 6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6910" name="Line 7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6911" name="Line 8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6912" name="Line 9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6913" name="Line 10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6914" name="Rectangle 11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36869" name="Freeform 12"/>
          <p:cNvSpPr>
            <a:spLocks/>
          </p:cNvSpPr>
          <p:nvPr/>
        </p:nvSpPr>
        <p:spPr bwMode="auto">
          <a:xfrm>
            <a:off x="2895600" y="18288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70" name="Text Box 13"/>
          <p:cNvSpPr txBox="1">
            <a:spLocks noChangeArrowheads="1"/>
          </p:cNvSpPr>
          <p:nvPr/>
        </p:nvSpPr>
        <p:spPr bwMode="auto">
          <a:xfrm>
            <a:off x="2286000" y="3886200"/>
            <a:ext cx="5649913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Planned sequence of actions:  (U, R)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U has been executed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R is executed</a:t>
            </a:r>
          </a:p>
          <a:p>
            <a:pPr eaLnBrk="1" hangingPunct="1"/>
            <a:endParaRPr lang="en-US">
              <a:latin typeface="Tahoma" pitchFamily="34" charset="0"/>
            </a:endParaRP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</a:t>
            </a:r>
            <a:r>
              <a:rPr lang="en-US">
                <a:solidFill>
                  <a:srgbClr val="990000"/>
                </a:solidFill>
                <a:latin typeface="Tahoma" pitchFamily="34" charset="0"/>
              </a:rPr>
              <a:t>There are 9 possible sequences of states </a:t>
            </a:r>
            <a:br>
              <a:rPr lang="en-US">
                <a:solidFill>
                  <a:srgbClr val="990000"/>
                </a:solidFill>
                <a:latin typeface="Tahoma" pitchFamily="34" charset="0"/>
              </a:rPr>
            </a:br>
            <a:r>
              <a:rPr lang="en-US">
                <a:solidFill>
                  <a:srgbClr val="990000"/>
                </a:solidFill>
                <a:latin typeface="Tahoma" pitchFamily="34" charset="0"/>
              </a:rPr>
              <a:t>   – called </a:t>
            </a:r>
            <a:r>
              <a:rPr lang="en-US">
                <a:solidFill>
                  <a:srgbClr val="2B51F3"/>
                </a:solidFill>
                <a:latin typeface="Tahoma" pitchFamily="34" charset="0"/>
              </a:rPr>
              <a:t>histories</a:t>
            </a:r>
            <a:r>
              <a:rPr lang="en-US">
                <a:solidFill>
                  <a:srgbClr val="990000"/>
                </a:solidFill>
                <a:latin typeface="Tahoma" pitchFamily="34" charset="0"/>
              </a:rPr>
              <a:t> –  and 6 possible final states </a:t>
            </a:r>
            <a:br>
              <a:rPr lang="en-US">
                <a:solidFill>
                  <a:srgbClr val="990000"/>
                </a:solidFill>
                <a:latin typeface="Tahoma" pitchFamily="34" charset="0"/>
              </a:rPr>
            </a:br>
            <a:r>
              <a:rPr lang="en-US">
                <a:solidFill>
                  <a:srgbClr val="990000"/>
                </a:solidFill>
                <a:latin typeface="Tahoma" pitchFamily="34" charset="0"/>
              </a:rPr>
              <a:t>   for the robot!</a:t>
            </a:r>
          </a:p>
        </p:txBody>
      </p:sp>
      <p:sp>
        <p:nvSpPr>
          <p:cNvPr id="36871" name="Freeform 14"/>
          <p:cNvSpPr>
            <a:spLocks/>
          </p:cNvSpPr>
          <p:nvPr/>
        </p:nvSpPr>
        <p:spPr bwMode="auto">
          <a:xfrm>
            <a:off x="3505200" y="24384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72" name="Freeform 15"/>
          <p:cNvSpPr>
            <a:spLocks/>
          </p:cNvSpPr>
          <p:nvPr/>
        </p:nvSpPr>
        <p:spPr bwMode="auto">
          <a:xfrm>
            <a:off x="3505200" y="18288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73" name="Freeform 16"/>
          <p:cNvSpPr>
            <a:spLocks/>
          </p:cNvSpPr>
          <p:nvPr/>
        </p:nvSpPr>
        <p:spPr bwMode="auto">
          <a:xfrm>
            <a:off x="2895600" y="24384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74" name="Freeform 17"/>
          <p:cNvSpPr>
            <a:spLocks/>
          </p:cNvSpPr>
          <p:nvPr/>
        </p:nvSpPr>
        <p:spPr bwMode="auto">
          <a:xfrm>
            <a:off x="3505200" y="30480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75" name="Text Box 18"/>
          <p:cNvSpPr txBox="1">
            <a:spLocks noChangeArrowheads="1"/>
          </p:cNvSpPr>
          <p:nvPr/>
        </p:nvSpPr>
        <p:spPr bwMode="auto">
          <a:xfrm>
            <a:off x="3505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36876" name="Text Box 19"/>
          <p:cNvSpPr txBox="1">
            <a:spLocks noChangeArrowheads="1"/>
          </p:cNvSpPr>
          <p:nvPr/>
        </p:nvSpPr>
        <p:spPr bwMode="auto">
          <a:xfrm>
            <a:off x="28956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36877" name="Text Box 20"/>
          <p:cNvSpPr txBox="1">
            <a:spLocks noChangeArrowheads="1"/>
          </p:cNvSpPr>
          <p:nvPr/>
        </p:nvSpPr>
        <p:spPr bwMode="auto">
          <a:xfrm>
            <a:off x="22860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36878" name="Text Box 21"/>
          <p:cNvSpPr txBox="1">
            <a:spLocks noChangeArrowheads="1"/>
          </p:cNvSpPr>
          <p:nvPr/>
        </p:nvSpPr>
        <p:spPr bwMode="auto">
          <a:xfrm>
            <a:off x="1676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36879" name="Text Box 22"/>
          <p:cNvSpPr txBox="1">
            <a:spLocks noChangeArrowheads="1"/>
          </p:cNvSpPr>
          <p:nvPr/>
        </p:nvSpPr>
        <p:spPr bwMode="auto">
          <a:xfrm>
            <a:off x="11430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36880" name="Text Box 23"/>
          <p:cNvSpPr txBox="1">
            <a:spLocks noChangeArrowheads="1"/>
          </p:cNvSpPr>
          <p:nvPr/>
        </p:nvSpPr>
        <p:spPr bwMode="auto">
          <a:xfrm>
            <a:off x="11430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36881" name="Text Box 24"/>
          <p:cNvSpPr txBox="1">
            <a:spLocks noChangeArrowheads="1"/>
          </p:cNvSpPr>
          <p:nvPr/>
        </p:nvSpPr>
        <p:spPr bwMode="auto">
          <a:xfrm>
            <a:off x="11430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grpSp>
        <p:nvGrpSpPr>
          <p:cNvPr id="36882" name="Group 25"/>
          <p:cNvGrpSpPr>
            <a:grpSpLocks/>
          </p:cNvGrpSpPr>
          <p:nvPr/>
        </p:nvGrpSpPr>
        <p:grpSpPr bwMode="auto">
          <a:xfrm>
            <a:off x="5410200" y="1600200"/>
            <a:ext cx="2263775" cy="1168400"/>
            <a:chOff x="3600" y="1008"/>
            <a:chExt cx="1426" cy="736"/>
          </a:xfrm>
        </p:grpSpPr>
        <p:grpSp>
          <p:nvGrpSpPr>
            <p:cNvPr id="36900" name="Group 26"/>
            <p:cNvGrpSpPr>
              <a:grpSpLocks/>
            </p:cNvGrpSpPr>
            <p:nvPr/>
          </p:nvGrpSpPr>
          <p:grpSpPr bwMode="auto">
            <a:xfrm>
              <a:off x="3600" y="1008"/>
              <a:ext cx="1426" cy="736"/>
              <a:chOff x="3600" y="1008"/>
              <a:chExt cx="1426" cy="736"/>
            </a:xfrm>
          </p:grpSpPr>
          <p:sp>
            <p:nvSpPr>
              <p:cNvPr id="36904" name="Text Box 27"/>
              <p:cNvSpPr txBox="1">
                <a:spLocks noChangeArrowheads="1"/>
              </p:cNvSpPr>
              <p:nvPr/>
            </p:nvSpPr>
            <p:spPr bwMode="auto">
              <a:xfrm>
                <a:off x="4080" y="1008"/>
                <a:ext cx="46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ahoma" pitchFamily="34" charset="0"/>
                  </a:rPr>
                  <a:t>[3,2]</a:t>
                </a:r>
              </a:p>
            </p:txBody>
          </p:sp>
          <p:sp>
            <p:nvSpPr>
              <p:cNvPr id="36905" name="Text Box 28"/>
              <p:cNvSpPr txBox="1">
                <a:spLocks noChangeArrowheads="1"/>
              </p:cNvSpPr>
              <p:nvPr/>
            </p:nvSpPr>
            <p:spPr bwMode="auto">
              <a:xfrm>
                <a:off x="4560" y="1488"/>
                <a:ext cx="46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ahoma" pitchFamily="34" charset="0"/>
                  </a:rPr>
                  <a:t>[4,2]</a:t>
                </a:r>
              </a:p>
            </p:txBody>
          </p:sp>
          <p:sp>
            <p:nvSpPr>
              <p:cNvPr id="36906" name="Text Box 29"/>
              <p:cNvSpPr txBox="1">
                <a:spLocks noChangeArrowheads="1"/>
              </p:cNvSpPr>
              <p:nvPr/>
            </p:nvSpPr>
            <p:spPr bwMode="auto">
              <a:xfrm>
                <a:off x="4080" y="1488"/>
                <a:ext cx="46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ahoma" pitchFamily="34" charset="0"/>
                  </a:rPr>
                  <a:t>[3,3]</a:t>
                </a:r>
              </a:p>
            </p:txBody>
          </p:sp>
          <p:sp>
            <p:nvSpPr>
              <p:cNvPr id="36907" name="Text Box 30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46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ahoma" pitchFamily="34" charset="0"/>
                  </a:rPr>
                  <a:t>[3,2]</a:t>
                </a:r>
              </a:p>
            </p:txBody>
          </p:sp>
        </p:grpSp>
        <p:sp>
          <p:nvSpPr>
            <p:cNvPr id="36901" name="Line 31"/>
            <p:cNvSpPr>
              <a:spLocks noChangeShapeType="1"/>
            </p:cNvSpPr>
            <p:nvPr/>
          </p:nvSpPr>
          <p:spPr bwMode="auto">
            <a:xfrm flipH="1">
              <a:off x="3840" y="1248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6902" name="Line 32"/>
            <p:cNvSpPr>
              <a:spLocks noChangeShapeType="1"/>
            </p:cNvSpPr>
            <p:nvPr/>
          </p:nvSpPr>
          <p:spPr bwMode="auto">
            <a:xfrm>
              <a:off x="4320" y="12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6903" name="Line 33"/>
            <p:cNvSpPr>
              <a:spLocks noChangeShapeType="1"/>
            </p:cNvSpPr>
            <p:nvPr/>
          </p:nvSpPr>
          <p:spPr bwMode="auto">
            <a:xfrm>
              <a:off x="4320" y="1248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</p:grpSp>
      <p:sp>
        <p:nvSpPr>
          <p:cNvPr id="36883" name="Freeform 34"/>
          <p:cNvSpPr>
            <a:spLocks/>
          </p:cNvSpPr>
          <p:nvPr/>
        </p:nvSpPr>
        <p:spPr bwMode="auto">
          <a:xfrm>
            <a:off x="2895600" y="30480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grpSp>
        <p:nvGrpSpPr>
          <p:cNvPr id="36884" name="Group 35"/>
          <p:cNvGrpSpPr>
            <a:grpSpLocks/>
          </p:cNvGrpSpPr>
          <p:nvPr/>
        </p:nvGrpSpPr>
        <p:grpSpPr bwMode="auto">
          <a:xfrm>
            <a:off x="4267200" y="3200400"/>
            <a:ext cx="4549775" cy="406400"/>
            <a:chOff x="2400" y="1920"/>
            <a:chExt cx="2866" cy="256"/>
          </a:xfrm>
        </p:grpSpPr>
        <p:sp>
          <p:nvSpPr>
            <p:cNvPr id="36894" name="Text Box 36"/>
            <p:cNvSpPr txBox="1">
              <a:spLocks noChangeArrowheads="1"/>
            </p:cNvSpPr>
            <p:nvPr/>
          </p:nvSpPr>
          <p:spPr bwMode="auto">
            <a:xfrm>
              <a:off x="3360" y="1920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[3,3]</a:t>
              </a:r>
            </a:p>
          </p:txBody>
        </p:sp>
        <p:sp>
          <p:nvSpPr>
            <p:cNvPr id="36895" name="Text Box 37"/>
            <p:cNvSpPr txBox="1">
              <a:spLocks noChangeArrowheads="1"/>
            </p:cNvSpPr>
            <p:nvPr/>
          </p:nvSpPr>
          <p:spPr bwMode="auto">
            <a:xfrm>
              <a:off x="2880" y="1920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36896" name="Text Box 38"/>
            <p:cNvSpPr txBox="1">
              <a:spLocks noChangeArrowheads="1"/>
            </p:cNvSpPr>
            <p:nvPr/>
          </p:nvSpPr>
          <p:spPr bwMode="auto">
            <a:xfrm>
              <a:off x="3840" y="1920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[4,1]</a:t>
              </a:r>
            </a:p>
          </p:txBody>
        </p:sp>
        <p:sp>
          <p:nvSpPr>
            <p:cNvPr id="36897" name="Text Box 39"/>
            <p:cNvSpPr txBox="1">
              <a:spLocks noChangeArrowheads="1"/>
            </p:cNvSpPr>
            <p:nvPr/>
          </p:nvSpPr>
          <p:spPr bwMode="auto">
            <a:xfrm>
              <a:off x="4320" y="1920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[4,2]</a:t>
              </a:r>
            </a:p>
          </p:txBody>
        </p:sp>
        <p:sp>
          <p:nvSpPr>
            <p:cNvPr id="36898" name="Text Box 40"/>
            <p:cNvSpPr txBox="1">
              <a:spLocks noChangeArrowheads="1"/>
            </p:cNvSpPr>
            <p:nvPr/>
          </p:nvSpPr>
          <p:spPr bwMode="auto">
            <a:xfrm>
              <a:off x="4800" y="1920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[4,3]</a:t>
              </a:r>
            </a:p>
          </p:txBody>
        </p:sp>
        <p:sp>
          <p:nvSpPr>
            <p:cNvPr id="36899" name="Text Box 41"/>
            <p:cNvSpPr txBox="1">
              <a:spLocks noChangeArrowheads="1"/>
            </p:cNvSpPr>
            <p:nvPr/>
          </p:nvSpPr>
          <p:spPr bwMode="auto">
            <a:xfrm>
              <a:off x="2400" y="1920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[3,1]</a:t>
              </a:r>
            </a:p>
          </p:txBody>
        </p:sp>
      </p:grpSp>
      <p:sp>
        <p:nvSpPr>
          <p:cNvPr id="36885" name="Line 42"/>
          <p:cNvSpPr>
            <a:spLocks noChangeShapeType="1"/>
          </p:cNvSpPr>
          <p:nvPr/>
        </p:nvSpPr>
        <p:spPr bwMode="auto">
          <a:xfrm>
            <a:off x="5791200" y="2743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86" name="Line 43"/>
          <p:cNvSpPr>
            <a:spLocks noChangeShapeType="1"/>
          </p:cNvSpPr>
          <p:nvPr/>
        </p:nvSpPr>
        <p:spPr bwMode="auto">
          <a:xfrm flipH="1">
            <a:off x="4648200" y="27432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87" name="Line 44"/>
          <p:cNvSpPr>
            <a:spLocks noChangeShapeType="1"/>
          </p:cNvSpPr>
          <p:nvPr/>
        </p:nvSpPr>
        <p:spPr bwMode="auto">
          <a:xfrm>
            <a:off x="5791200" y="2743200"/>
            <a:ext cx="1828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88" name="Line 45"/>
          <p:cNvSpPr>
            <a:spLocks noChangeShapeType="1"/>
          </p:cNvSpPr>
          <p:nvPr/>
        </p:nvSpPr>
        <p:spPr bwMode="auto">
          <a:xfrm flipH="1">
            <a:off x="6172200" y="2743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89" name="Line 46"/>
          <p:cNvSpPr>
            <a:spLocks noChangeShapeType="1"/>
          </p:cNvSpPr>
          <p:nvPr/>
        </p:nvSpPr>
        <p:spPr bwMode="auto">
          <a:xfrm flipH="1">
            <a:off x="5486400" y="2743200"/>
            <a:ext cx="1066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90" name="Line 47"/>
          <p:cNvSpPr>
            <a:spLocks noChangeShapeType="1"/>
          </p:cNvSpPr>
          <p:nvPr/>
        </p:nvSpPr>
        <p:spPr bwMode="auto">
          <a:xfrm>
            <a:off x="6553200" y="2743200"/>
            <a:ext cx="1905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91" name="Line 48"/>
          <p:cNvSpPr>
            <a:spLocks noChangeShapeType="1"/>
          </p:cNvSpPr>
          <p:nvPr/>
        </p:nvSpPr>
        <p:spPr bwMode="auto">
          <a:xfrm>
            <a:off x="7315200" y="27432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92" name="Line 49"/>
          <p:cNvSpPr>
            <a:spLocks noChangeShapeType="1"/>
          </p:cNvSpPr>
          <p:nvPr/>
        </p:nvSpPr>
        <p:spPr bwMode="auto">
          <a:xfrm flipH="1">
            <a:off x="6934200" y="2743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6893" name="Line 50"/>
          <p:cNvSpPr>
            <a:spLocks noChangeShapeType="1"/>
          </p:cNvSpPr>
          <p:nvPr/>
        </p:nvSpPr>
        <p:spPr bwMode="auto">
          <a:xfrm>
            <a:off x="7315200" y="2743200"/>
            <a:ext cx="1066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5181600" y="1676400"/>
            <a:ext cx="609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b="1">
                <a:effectLst>
                  <a:outerShdw blurRad="38100" dist="38100" dir="2700000" algn="tl">
                    <a:srgbClr val="C0C0C0"/>
                  </a:outerShdw>
                </a:effectLst>
              </a:rPr>
              <a:t>Probability of Reaching the Goal</a:t>
            </a:r>
          </a:p>
        </p:txBody>
      </p:sp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3352800" y="1676400"/>
            <a:ext cx="2438400" cy="1828800"/>
            <a:chOff x="960" y="1152"/>
            <a:chExt cx="1536" cy="1152"/>
          </a:xfrm>
        </p:grpSpPr>
        <p:sp>
          <p:nvSpPr>
            <p:cNvPr id="37910" name="Rectangle 5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37911" name="Line 6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7912" name="Line 7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7913" name="Line 8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7914" name="Line 9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7915" name="Line 10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37916" name="Rectangle 11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37893" name="Freeform 12"/>
          <p:cNvSpPr>
            <a:spLocks/>
          </p:cNvSpPr>
          <p:nvPr/>
        </p:nvSpPr>
        <p:spPr bwMode="auto">
          <a:xfrm>
            <a:off x="4724400" y="18288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19501" name="Text Box 13"/>
          <p:cNvSpPr txBox="1">
            <a:spLocks noChangeArrowheads="1"/>
          </p:cNvSpPr>
          <p:nvPr/>
        </p:nvSpPr>
        <p:spPr bwMode="auto">
          <a:xfrm>
            <a:off x="914400" y="3836988"/>
            <a:ext cx="778668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b="1">
                <a:latin typeface="Tahoma" pitchFamily="34" charset="0"/>
              </a:rPr>
              <a:t>P</a:t>
            </a:r>
            <a:r>
              <a:rPr lang="en-US" sz="2400">
                <a:latin typeface="Tahoma" pitchFamily="34" charset="0"/>
              </a:rPr>
              <a:t>([4,3] | (U,R).[3,2]) = </a:t>
            </a:r>
          </a:p>
          <a:p>
            <a:pPr eaLnBrk="1" hangingPunct="1"/>
            <a:r>
              <a:rPr lang="en-US" sz="2400" b="1">
                <a:latin typeface="Tahoma" pitchFamily="34" charset="0"/>
              </a:rPr>
              <a:t>                           </a:t>
            </a:r>
            <a:r>
              <a:rPr lang="en-US" sz="2400" b="1">
                <a:solidFill>
                  <a:srgbClr val="006600"/>
                </a:solidFill>
                <a:latin typeface="Tahoma" pitchFamily="34" charset="0"/>
              </a:rPr>
              <a:t>P</a:t>
            </a:r>
            <a:r>
              <a:rPr lang="en-US" sz="2400">
                <a:solidFill>
                  <a:srgbClr val="006600"/>
                </a:solidFill>
                <a:latin typeface="Tahoma" pitchFamily="34" charset="0"/>
              </a:rPr>
              <a:t>([4,3] | R.[3,3])</a:t>
            </a:r>
            <a:r>
              <a:rPr lang="en-US" sz="2400">
                <a:latin typeface="Tahoma" pitchFamily="34" charset="0"/>
              </a:rPr>
              <a:t> x </a:t>
            </a:r>
            <a:r>
              <a:rPr lang="en-US" sz="2400" b="1">
                <a:solidFill>
                  <a:schemeClr val="tx2"/>
                </a:solidFill>
                <a:latin typeface="Tahoma" pitchFamily="34" charset="0"/>
              </a:rPr>
              <a:t>P</a:t>
            </a:r>
            <a:r>
              <a:rPr lang="en-US" sz="2400">
                <a:solidFill>
                  <a:schemeClr val="tx2"/>
                </a:solidFill>
                <a:latin typeface="Tahoma" pitchFamily="34" charset="0"/>
              </a:rPr>
              <a:t>([3,3] | U.[3,2])</a:t>
            </a:r>
            <a:r>
              <a:rPr lang="en-US" sz="2400">
                <a:latin typeface="Tahoma" pitchFamily="34" charset="0"/>
              </a:rPr>
              <a:t> </a:t>
            </a:r>
            <a:br>
              <a:rPr lang="en-US" sz="2400">
                <a:latin typeface="Tahoma" pitchFamily="34" charset="0"/>
              </a:rPr>
            </a:br>
            <a:r>
              <a:rPr lang="en-US" sz="2400">
                <a:latin typeface="Tahoma" pitchFamily="34" charset="0"/>
              </a:rPr>
              <a:t>                      + </a:t>
            </a:r>
            <a:r>
              <a:rPr lang="en-US" sz="2400" b="1">
                <a:solidFill>
                  <a:srgbClr val="006600"/>
                </a:solidFill>
                <a:latin typeface="Tahoma" pitchFamily="34" charset="0"/>
              </a:rPr>
              <a:t>P</a:t>
            </a:r>
            <a:r>
              <a:rPr lang="en-US" sz="2400">
                <a:solidFill>
                  <a:srgbClr val="006600"/>
                </a:solidFill>
                <a:latin typeface="Tahoma" pitchFamily="34" charset="0"/>
              </a:rPr>
              <a:t>([4,3] | U.[4,2])</a:t>
            </a:r>
            <a:r>
              <a:rPr lang="en-US" sz="2400">
                <a:latin typeface="Tahoma" pitchFamily="34" charset="0"/>
              </a:rPr>
              <a:t> x </a:t>
            </a:r>
            <a:r>
              <a:rPr lang="en-US" sz="2400" b="1">
                <a:solidFill>
                  <a:schemeClr val="tx2"/>
                </a:solidFill>
                <a:latin typeface="Tahoma" pitchFamily="34" charset="0"/>
              </a:rPr>
              <a:t>P</a:t>
            </a:r>
            <a:r>
              <a:rPr lang="en-US" sz="2400">
                <a:solidFill>
                  <a:schemeClr val="tx2"/>
                </a:solidFill>
                <a:latin typeface="Tahoma" pitchFamily="34" charset="0"/>
              </a:rPr>
              <a:t>([4,2] | R.[3,2])</a:t>
            </a:r>
          </a:p>
        </p:txBody>
      </p:sp>
      <p:sp>
        <p:nvSpPr>
          <p:cNvPr id="37895" name="Freeform 14"/>
          <p:cNvSpPr>
            <a:spLocks/>
          </p:cNvSpPr>
          <p:nvPr/>
        </p:nvSpPr>
        <p:spPr bwMode="auto">
          <a:xfrm>
            <a:off x="5334000" y="24384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7896" name="Freeform 15"/>
          <p:cNvSpPr>
            <a:spLocks/>
          </p:cNvSpPr>
          <p:nvPr/>
        </p:nvSpPr>
        <p:spPr bwMode="auto">
          <a:xfrm>
            <a:off x="5334000" y="18288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7897" name="Freeform 16"/>
          <p:cNvSpPr>
            <a:spLocks/>
          </p:cNvSpPr>
          <p:nvPr/>
        </p:nvSpPr>
        <p:spPr bwMode="auto">
          <a:xfrm>
            <a:off x="4724400" y="24384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7898" name="Freeform 17"/>
          <p:cNvSpPr>
            <a:spLocks/>
          </p:cNvSpPr>
          <p:nvPr/>
        </p:nvSpPr>
        <p:spPr bwMode="auto">
          <a:xfrm>
            <a:off x="5334000" y="30480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7899" name="Text Box 18"/>
          <p:cNvSpPr txBox="1">
            <a:spLocks noChangeArrowheads="1"/>
          </p:cNvSpPr>
          <p:nvPr/>
        </p:nvSpPr>
        <p:spPr bwMode="auto">
          <a:xfrm>
            <a:off x="29718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37900" name="Text Box 19"/>
          <p:cNvSpPr txBox="1">
            <a:spLocks noChangeArrowheads="1"/>
          </p:cNvSpPr>
          <p:nvPr/>
        </p:nvSpPr>
        <p:spPr bwMode="auto">
          <a:xfrm>
            <a:off x="29718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37901" name="Text Box 20"/>
          <p:cNvSpPr txBox="1">
            <a:spLocks noChangeArrowheads="1"/>
          </p:cNvSpPr>
          <p:nvPr/>
        </p:nvSpPr>
        <p:spPr bwMode="auto">
          <a:xfrm>
            <a:off x="29718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37902" name="Text Box 21"/>
          <p:cNvSpPr txBox="1">
            <a:spLocks noChangeArrowheads="1"/>
          </p:cNvSpPr>
          <p:nvPr/>
        </p:nvSpPr>
        <p:spPr bwMode="auto">
          <a:xfrm>
            <a:off x="53340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37903" name="Text Box 22"/>
          <p:cNvSpPr txBox="1">
            <a:spLocks noChangeArrowheads="1"/>
          </p:cNvSpPr>
          <p:nvPr/>
        </p:nvSpPr>
        <p:spPr bwMode="auto">
          <a:xfrm>
            <a:off x="4724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37904" name="Text Box 23"/>
          <p:cNvSpPr txBox="1">
            <a:spLocks noChangeArrowheads="1"/>
          </p:cNvSpPr>
          <p:nvPr/>
        </p:nvSpPr>
        <p:spPr bwMode="auto">
          <a:xfrm>
            <a:off x="41148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37905" name="Text Box 24"/>
          <p:cNvSpPr txBox="1">
            <a:spLocks noChangeArrowheads="1"/>
          </p:cNvSpPr>
          <p:nvPr/>
        </p:nvSpPr>
        <p:spPr bwMode="auto">
          <a:xfrm>
            <a:off x="3505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37906" name="Freeform 25"/>
          <p:cNvSpPr>
            <a:spLocks/>
          </p:cNvSpPr>
          <p:nvPr/>
        </p:nvSpPr>
        <p:spPr bwMode="auto">
          <a:xfrm>
            <a:off x="4724400" y="3048000"/>
            <a:ext cx="304800" cy="304800"/>
          </a:xfrm>
          <a:custGeom>
            <a:avLst/>
            <a:gdLst>
              <a:gd name="T0" fmla="*/ 241935022 w 192"/>
              <a:gd name="T1" fmla="*/ 0 h 192"/>
              <a:gd name="T2" fmla="*/ 0 w 192"/>
              <a:gd name="T3" fmla="*/ 483870045 h 192"/>
              <a:gd name="T4" fmla="*/ 362902484 w 192"/>
              <a:gd name="T5" fmla="*/ 483870045 h 192"/>
              <a:gd name="T6" fmla="*/ 483870045 w 192"/>
              <a:gd name="T7" fmla="*/ 483870045 h 192"/>
              <a:gd name="T8" fmla="*/ 241935022 w 192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2"/>
              <a:gd name="T17" fmla="*/ 192 w 192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2">
                <a:moveTo>
                  <a:pt x="96" y="0"/>
                </a:moveTo>
                <a:lnTo>
                  <a:pt x="0" y="192"/>
                </a:lnTo>
                <a:lnTo>
                  <a:pt x="144" y="192"/>
                </a:lnTo>
                <a:lnTo>
                  <a:pt x="192" y="192"/>
                </a:lnTo>
                <a:lnTo>
                  <a:pt x="9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19515" name="Text Box 27"/>
          <p:cNvSpPr txBox="1">
            <a:spLocks noChangeArrowheads="1"/>
          </p:cNvSpPr>
          <p:nvPr/>
        </p:nvSpPr>
        <p:spPr bwMode="auto">
          <a:xfrm>
            <a:off x="4724400" y="4953000"/>
            <a:ext cx="354488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b="1">
                <a:solidFill>
                  <a:schemeClr val="tx2"/>
                </a:solidFill>
                <a:latin typeface="Tahoma" pitchFamily="34" charset="0"/>
              </a:rPr>
              <a:t>P</a:t>
            </a:r>
            <a:r>
              <a:rPr lang="en-US" sz="2400">
                <a:solidFill>
                  <a:schemeClr val="tx2"/>
                </a:solidFill>
                <a:latin typeface="Tahoma" pitchFamily="34" charset="0"/>
              </a:rPr>
              <a:t>([3,3] | U.[3,2]) = 0.8</a:t>
            </a:r>
          </a:p>
          <a:p>
            <a:pPr eaLnBrk="1" hangingPunct="1">
              <a:buFontTx/>
              <a:buChar char="•"/>
            </a:pPr>
            <a:r>
              <a:rPr lang="en-US" sz="2400" b="1">
                <a:solidFill>
                  <a:schemeClr val="tx2"/>
                </a:solidFill>
                <a:latin typeface="Tahoma" pitchFamily="34" charset="0"/>
              </a:rPr>
              <a:t>P</a:t>
            </a:r>
            <a:r>
              <a:rPr lang="en-US" sz="2400">
                <a:solidFill>
                  <a:schemeClr val="tx2"/>
                </a:solidFill>
                <a:latin typeface="Tahoma" pitchFamily="34" charset="0"/>
              </a:rPr>
              <a:t>([4,2] | R.[3,2]) = 0.1</a:t>
            </a:r>
          </a:p>
        </p:txBody>
      </p:sp>
      <p:sp>
        <p:nvSpPr>
          <p:cNvPr id="319516" name="Text Box 28"/>
          <p:cNvSpPr txBox="1">
            <a:spLocks noChangeArrowheads="1"/>
          </p:cNvSpPr>
          <p:nvPr/>
        </p:nvSpPr>
        <p:spPr bwMode="auto">
          <a:xfrm>
            <a:off x="838200" y="4953000"/>
            <a:ext cx="3541713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b="1">
                <a:solidFill>
                  <a:srgbClr val="006600"/>
                </a:solidFill>
                <a:latin typeface="Tahoma" pitchFamily="34" charset="0"/>
              </a:rPr>
              <a:t>P</a:t>
            </a:r>
            <a:r>
              <a:rPr lang="en-US" sz="2400">
                <a:solidFill>
                  <a:srgbClr val="006600"/>
                </a:solidFill>
                <a:latin typeface="Tahoma" pitchFamily="34" charset="0"/>
              </a:rPr>
              <a:t>([4,3] | R.[3,3]) = 0.8</a:t>
            </a:r>
          </a:p>
          <a:p>
            <a:pPr eaLnBrk="1" hangingPunct="1">
              <a:buFontTx/>
              <a:buChar char="•"/>
            </a:pPr>
            <a:r>
              <a:rPr lang="en-US" sz="2400" b="1">
                <a:solidFill>
                  <a:srgbClr val="006600"/>
                </a:solidFill>
                <a:latin typeface="Tahoma" pitchFamily="34" charset="0"/>
              </a:rPr>
              <a:t>P</a:t>
            </a:r>
            <a:r>
              <a:rPr lang="en-US" sz="2400">
                <a:solidFill>
                  <a:srgbClr val="006600"/>
                </a:solidFill>
                <a:latin typeface="Tahoma" pitchFamily="34" charset="0"/>
              </a:rPr>
              <a:t>([4,3] | U.[4,2]) = 0.1</a:t>
            </a:r>
          </a:p>
          <a:p>
            <a:pPr eaLnBrk="1" hangingPunct="1"/>
            <a:endParaRPr lang="en-US" sz="2400">
              <a:latin typeface="Tahoma" pitchFamily="34" charset="0"/>
            </a:endParaRPr>
          </a:p>
        </p:txBody>
      </p:sp>
      <p:sp>
        <p:nvSpPr>
          <p:cNvPr id="319517" name="Text Box 29"/>
          <p:cNvSpPr txBox="1">
            <a:spLocks noChangeArrowheads="1"/>
          </p:cNvSpPr>
          <p:nvPr/>
        </p:nvSpPr>
        <p:spPr bwMode="auto">
          <a:xfrm>
            <a:off x="838200" y="5867400"/>
            <a:ext cx="6781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 b="1">
                <a:latin typeface="Tahoma" pitchFamily="34" charset="0"/>
              </a:rPr>
              <a:t>P</a:t>
            </a:r>
            <a:r>
              <a:rPr lang="en-US" sz="2400">
                <a:latin typeface="Tahoma" pitchFamily="34" charset="0"/>
              </a:rPr>
              <a:t>([4,3] | (U,R).[3,2]) = (0.64 + 0.01) = 0.65</a:t>
            </a:r>
          </a:p>
          <a:p>
            <a:pPr eaLnBrk="1" hangingPunct="1"/>
            <a:endParaRPr lang="en-US" sz="240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501" grpId="0" autoUpdateAnimBg="0"/>
      <p:bldP spid="319515" grpId="0" autoUpdateAnimBg="0"/>
      <p:bldP spid="319516" grpId="0" autoUpdateAnimBg="0"/>
      <p:bldP spid="319517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Utility Function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762000" y="4038600"/>
            <a:ext cx="66960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[4,3] provides </a:t>
            </a:r>
            <a:r>
              <a:rPr lang="en-US">
                <a:solidFill>
                  <a:srgbClr val="008000"/>
                </a:solidFill>
                <a:latin typeface="Tahoma" pitchFamily="34" charset="0"/>
              </a:rPr>
              <a:t>power supply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[4,2] is a </a:t>
            </a:r>
            <a:r>
              <a:rPr lang="en-US">
                <a:solidFill>
                  <a:srgbClr val="FF0000"/>
                </a:solidFill>
                <a:latin typeface="Tahoma" pitchFamily="34" charset="0"/>
              </a:rPr>
              <a:t>sand area</a:t>
            </a:r>
            <a:r>
              <a:rPr lang="en-US">
                <a:latin typeface="Tahoma" pitchFamily="34" charset="0"/>
              </a:rPr>
              <a:t> from which the robot cannot escape</a:t>
            </a:r>
          </a:p>
        </p:txBody>
      </p: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2971800" y="1676400"/>
            <a:ext cx="2819400" cy="2225675"/>
            <a:chOff x="1872" y="1056"/>
            <a:chExt cx="1776" cy="1402"/>
          </a:xfrm>
        </p:grpSpPr>
        <p:grpSp>
          <p:nvGrpSpPr>
            <p:cNvPr id="38917" name="Group 5"/>
            <p:cNvGrpSpPr>
              <a:grpSpLocks/>
            </p:cNvGrpSpPr>
            <p:nvPr/>
          </p:nvGrpSpPr>
          <p:grpSpPr bwMode="auto">
            <a:xfrm>
              <a:off x="2112" y="1056"/>
              <a:ext cx="1536" cy="1152"/>
              <a:chOff x="960" y="1152"/>
              <a:chExt cx="1536" cy="1152"/>
            </a:xfrm>
          </p:grpSpPr>
          <p:sp>
            <p:nvSpPr>
              <p:cNvPr id="38936" name="Rectangle 6"/>
              <p:cNvSpPr>
                <a:spLocks noChangeArrowheads="1"/>
              </p:cNvSpPr>
              <p:nvPr/>
            </p:nvSpPr>
            <p:spPr bwMode="auto">
              <a:xfrm>
                <a:off x="960" y="1152"/>
                <a:ext cx="1536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38937" name="Line 7"/>
              <p:cNvSpPr>
                <a:spLocks noChangeShapeType="1"/>
              </p:cNvSpPr>
              <p:nvPr/>
            </p:nvSpPr>
            <p:spPr bwMode="auto">
              <a:xfrm>
                <a:off x="1344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8938" name="Line 8"/>
              <p:cNvSpPr>
                <a:spLocks noChangeShapeType="1"/>
              </p:cNvSpPr>
              <p:nvPr/>
            </p:nvSpPr>
            <p:spPr bwMode="auto">
              <a:xfrm>
                <a:off x="1728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8939" name="Line 9"/>
              <p:cNvSpPr>
                <a:spLocks noChangeShapeType="1"/>
              </p:cNvSpPr>
              <p:nvPr/>
            </p:nvSpPr>
            <p:spPr bwMode="auto">
              <a:xfrm>
                <a:off x="2112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8940" name="Line 10"/>
              <p:cNvSpPr>
                <a:spLocks noChangeShapeType="1"/>
              </p:cNvSpPr>
              <p:nvPr/>
            </p:nvSpPr>
            <p:spPr bwMode="auto">
              <a:xfrm>
                <a:off x="960" y="1536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8941" name="Line 1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8942" name="Rectangle 12"/>
              <p:cNvSpPr>
                <a:spLocks noChangeArrowheads="1"/>
              </p:cNvSpPr>
              <p:nvPr/>
            </p:nvSpPr>
            <p:spPr bwMode="auto">
              <a:xfrm>
                <a:off x="1344" y="1536"/>
                <a:ext cx="384" cy="38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38918" name="Text Box 13"/>
            <p:cNvSpPr txBox="1">
              <a:spLocks noChangeArrowheads="1"/>
            </p:cNvSpPr>
            <p:nvPr/>
          </p:nvSpPr>
          <p:spPr bwMode="auto">
            <a:xfrm>
              <a:off x="3312" y="1536"/>
              <a:ext cx="2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-1</a:t>
              </a:r>
            </a:p>
          </p:txBody>
        </p:sp>
        <p:sp>
          <p:nvSpPr>
            <p:cNvPr id="38919" name="Text Box 14"/>
            <p:cNvSpPr txBox="1">
              <a:spLocks noChangeArrowheads="1"/>
            </p:cNvSpPr>
            <p:nvPr/>
          </p:nvSpPr>
          <p:spPr bwMode="auto">
            <a:xfrm>
              <a:off x="3264" y="1152"/>
              <a:ext cx="31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9900"/>
                  </a:solidFill>
                  <a:latin typeface="Tahoma" pitchFamily="34" charset="0"/>
                </a:rPr>
                <a:t>+1</a:t>
              </a:r>
            </a:p>
          </p:txBody>
        </p:sp>
        <p:sp>
          <p:nvSpPr>
            <p:cNvPr id="38920" name="Text Box 15"/>
            <p:cNvSpPr txBox="1">
              <a:spLocks noChangeArrowheads="1"/>
            </p:cNvSpPr>
            <p:nvPr/>
          </p:nvSpPr>
          <p:spPr bwMode="auto">
            <a:xfrm>
              <a:off x="2208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8921" name="Text Box 16"/>
            <p:cNvSpPr txBox="1">
              <a:spLocks noChangeArrowheads="1"/>
            </p:cNvSpPr>
            <p:nvPr/>
          </p:nvSpPr>
          <p:spPr bwMode="auto">
            <a:xfrm>
              <a:off x="2208" y="1536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8922" name="Text Box 17"/>
            <p:cNvSpPr txBox="1">
              <a:spLocks noChangeArrowheads="1"/>
            </p:cNvSpPr>
            <p:nvPr/>
          </p:nvSpPr>
          <p:spPr bwMode="auto">
            <a:xfrm>
              <a:off x="2976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8923" name="Text Box 18"/>
            <p:cNvSpPr txBox="1">
              <a:spLocks noChangeArrowheads="1"/>
            </p:cNvSpPr>
            <p:nvPr/>
          </p:nvSpPr>
          <p:spPr bwMode="auto">
            <a:xfrm>
              <a:off x="2592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8924" name="Text Box 19"/>
            <p:cNvSpPr txBox="1">
              <a:spLocks noChangeArrowheads="1"/>
            </p:cNvSpPr>
            <p:nvPr/>
          </p:nvSpPr>
          <p:spPr bwMode="auto">
            <a:xfrm>
              <a:off x="2976" y="1536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8925" name="Text Box 20"/>
            <p:cNvSpPr txBox="1">
              <a:spLocks noChangeArrowheads="1"/>
            </p:cNvSpPr>
            <p:nvPr/>
          </p:nvSpPr>
          <p:spPr bwMode="auto">
            <a:xfrm>
              <a:off x="2976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8926" name="Text Box 21"/>
            <p:cNvSpPr txBox="1">
              <a:spLocks noChangeArrowheads="1"/>
            </p:cNvSpPr>
            <p:nvPr/>
          </p:nvSpPr>
          <p:spPr bwMode="auto">
            <a:xfrm>
              <a:off x="2592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8927" name="Text Box 22"/>
            <p:cNvSpPr txBox="1">
              <a:spLocks noChangeArrowheads="1"/>
            </p:cNvSpPr>
            <p:nvPr/>
          </p:nvSpPr>
          <p:spPr bwMode="auto">
            <a:xfrm>
              <a:off x="3360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8928" name="Text Box 23"/>
            <p:cNvSpPr txBox="1">
              <a:spLocks noChangeArrowheads="1"/>
            </p:cNvSpPr>
            <p:nvPr/>
          </p:nvSpPr>
          <p:spPr bwMode="auto">
            <a:xfrm>
              <a:off x="2208" y="1903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8929" name="Text Box 24"/>
            <p:cNvSpPr txBox="1">
              <a:spLocks noChangeArrowheads="1"/>
            </p:cNvSpPr>
            <p:nvPr/>
          </p:nvSpPr>
          <p:spPr bwMode="auto">
            <a:xfrm>
              <a:off x="1872" y="153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38930" name="Text Box 25"/>
            <p:cNvSpPr txBox="1">
              <a:spLocks noChangeArrowheads="1"/>
            </p:cNvSpPr>
            <p:nvPr/>
          </p:nvSpPr>
          <p:spPr bwMode="auto">
            <a:xfrm>
              <a:off x="1872" y="115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38931" name="Text Box 26"/>
            <p:cNvSpPr txBox="1">
              <a:spLocks noChangeArrowheads="1"/>
            </p:cNvSpPr>
            <p:nvPr/>
          </p:nvSpPr>
          <p:spPr bwMode="auto">
            <a:xfrm>
              <a:off x="1872" y="187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38932" name="Text Box 27"/>
            <p:cNvSpPr txBox="1">
              <a:spLocks noChangeArrowheads="1"/>
            </p:cNvSpPr>
            <p:nvPr/>
          </p:nvSpPr>
          <p:spPr bwMode="auto">
            <a:xfrm>
              <a:off x="3360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4</a:t>
              </a:r>
            </a:p>
          </p:txBody>
        </p:sp>
        <p:sp>
          <p:nvSpPr>
            <p:cNvPr id="38933" name="Text Box 28"/>
            <p:cNvSpPr txBox="1">
              <a:spLocks noChangeArrowheads="1"/>
            </p:cNvSpPr>
            <p:nvPr/>
          </p:nvSpPr>
          <p:spPr bwMode="auto">
            <a:xfrm>
              <a:off x="2976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38934" name="Text Box 29"/>
            <p:cNvSpPr txBox="1">
              <a:spLocks noChangeArrowheads="1"/>
            </p:cNvSpPr>
            <p:nvPr/>
          </p:nvSpPr>
          <p:spPr bwMode="auto">
            <a:xfrm>
              <a:off x="2592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38935" name="Text Box 30"/>
            <p:cNvSpPr txBox="1">
              <a:spLocks noChangeArrowheads="1"/>
            </p:cNvSpPr>
            <p:nvPr/>
          </p:nvSpPr>
          <p:spPr bwMode="auto">
            <a:xfrm>
              <a:off x="2208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Utility Function</a:t>
            </a:r>
          </a:p>
        </p:txBody>
      </p:sp>
      <p:sp>
        <p:nvSpPr>
          <p:cNvPr id="39939" name="Text Box 2051"/>
          <p:cNvSpPr txBox="1">
            <a:spLocks noChangeArrowheads="1"/>
          </p:cNvSpPr>
          <p:nvPr/>
        </p:nvSpPr>
        <p:spPr bwMode="auto">
          <a:xfrm>
            <a:off x="762000" y="4038600"/>
            <a:ext cx="66960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[4,3] provides power supply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[4,2] is a sand area from which the robot cannot escape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</a:t>
            </a:r>
            <a:r>
              <a:rPr lang="en-US">
                <a:solidFill>
                  <a:srgbClr val="990000"/>
                </a:solidFill>
                <a:latin typeface="Tahoma" pitchFamily="34" charset="0"/>
              </a:rPr>
              <a:t>The robot needs to recharge its batteries</a:t>
            </a:r>
          </a:p>
        </p:txBody>
      </p:sp>
      <p:grpSp>
        <p:nvGrpSpPr>
          <p:cNvPr id="39940" name="Group 2052"/>
          <p:cNvGrpSpPr>
            <a:grpSpLocks/>
          </p:cNvGrpSpPr>
          <p:nvPr/>
        </p:nvGrpSpPr>
        <p:grpSpPr bwMode="auto">
          <a:xfrm>
            <a:off x="2971800" y="1676400"/>
            <a:ext cx="2819400" cy="2225675"/>
            <a:chOff x="1872" y="1056"/>
            <a:chExt cx="1776" cy="1402"/>
          </a:xfrm>
        </p:grpSpPr>
        <p:grpSp>
          <p:nvGrpSpPr>
            <p:cNvPr id="39941" name="Group 2053"/>
            <p:cNvGrpSpPr>
              <a:grpSpLocks/>
            </p:cNvGrpSpPr>
            <p:nvPr/>
          </p:nvGrpSpPr>
          <p:grpSpPr bwMode="auto">
            <a:xfrm>
              <a:off x="2112" y="1056"/>
              <a:ext cx="1536" cy="1152"/>
              <a:chOff x="960" y="1152"/>
              <a:chExt cx="1536" cy="1152"/>
            </a:xfrm>
          </p:grpSpPr>
          <p:sp>
            <p:nvSpPr>
              <p:cNvPr id="39960" name="Rectangle 2054"/>
              <p:cNvSpPr>
                <a:spLocks noChangeArrowheads="1"/>
              </p:cNvSpPr>
              <p:nvPr/>
            </p:nvSpPr>
            <p:spPr bwMode="auto">
              <a:xfrm>
                <a:off x="960" y="1152"/>
                <a:ext cx="1536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39961" name="Line 2055"/>
              <p:cNvSpPr>
                <a:spLocks noChangeShapeType="1"/>
              </p:cNvSpPr>
              <p:nvPr/>
            </p:nvSpPr>
            <p:spPr bwMode="auto">
              <a:xfrm>
                <a:off x="1344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9962" name="Line 2056"/>
              <p:cNvSpPr>
                <a:spLocks noChangeShapeType="1"/>
              </p:cNvSpPr>
              <p:nvPr/>
            </p:nvSpPr>
            <p:spPr bwMode="auto">
              <a:xfrm>
                <a:off x="1728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9963" name="Line 2057"/>
              <p:cNvSpPr>
                <a:spLocks noChangeShapeType="1"/>
              </p:cNvSpPr>
              <p:nvPr/>
            </p:nvSpPr>
            <p:spPr bwMode="auto">
              <a:xfrm>
                <a:off x="2112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9964" name="Line 2058"/>
              <p:cNvSpPr>
                <a:spLocks noChangeShapeType="1"/>
              </p:cNvSpPr>
              <p:nvPr/>
            </p:nvSpPr>
            <p:spPr bwMode="auto">
              <a:xfrm>
                <a:off x="960" y="1536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9965" name="Line 2059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39966" name="Rectangle 2060"/>
              <p:cNvSpPr>
                <a:spLocks noChangeArrowheads="1"/>
              </p:cNvSpPr>
              <p:nvPr/>
            </p:nvSpPr>
            <p:spPr bwMode="auto">
              <a:xfrm>
                <a:off x="1344" y="1536"/>
                <a:ext cx="384" cy="38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39942" name="Text Box 2061"/>
            <p:cNvSpPr txBox="1">
              <a:spLocks noChangeArrowheads="1"/>
            </p:cNvSpPr>
            <p:nvPr/>
          </p:nvSpPr>
          <p:spPr bwMode="auto">
            <a:xfrm>
              <a:off x="3312" y="1536"/>
              <a:ext cx="2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-1</a:t>
              </a:r>
            </a:p>
          </p:txBody>
        </p:sp>
        <p:sp>
          <p:nvSpPr>
            <p:cNvPr id="39943" name="Text Box 2062"/>
            <p:cNvSpPr txBox="1">
              <a:spLocks noChangeArrowheads="1"/>
            </p:cNvSpPr>
            <p:nvPr/>
          </p:nvSpPr>
          <p:spPr bwMode="auto">
            <a:xfrm>
              <a:off x="3264" y="1152"/>
              <a:ext cx="31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9900"/>
                  </a:solidFill>
                  <a:latin typeface="Tahoma" pitchFamily="34" charset="0"/>
                </a:rPr>
                <a:t>+1</a:t>
              </a:r>
            </a:p>
          </p:txBody>
        </p:sp>
        <p:sp>
          <p:nvSpPr>
            <p:cNvPr id="39944" name="Text Box 2063"/>
            <p:cNvSpPr txBox="1">
              <a:spLocks noChangeArrowheads="1"/>
            </p:cNvSpPr>
            <p:nvPr/>
          </p:nvSpPr>
          <p:spPr bwMode="auto">
            <a:xfrm>
              <a:off x="2208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9945" name="Text Box 2064"/>
            <p:cNvSpPr txBox="1">
              <a:spLocks noChangeArrowheads="1"/>
            </p:cNvSpPr>
            <p:nvPr/>
          </p:nvSpPr>
          <p:spPr bwMode="auto">
            <a:xfrm>
              <a:off x="2208" y="1536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9946" name="Text Box 2065"/>
            <p:cNvSpPr txBox="1">
              <a:spLocks noChangeArrowheads="1"/>
            </p:cNvSpPr>
            <p:nvPr/>
          </p:nvSpPr>
          <p:spPr bwMode="auto">
            <a:xfrm>
              <a:off x="2976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9947" name="Text Box 2066"/>
            <p:cNvSpPr txBox="1">
              <a:spLocks noChangeArrowheads="1"/>
            </p:cNvSpPr>
            <p:nvPr/>
          </p:nvSpPr>
          <p:spPr bwMode="auto">
            <a:xfrm>
              <a:off x="2592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9948" name="Text Box 2067"/>
            <p:cNvSpPr txBox="1">
              <a:spLocks noChangeArrowheads="1"/>
            </p:cNvSpPr>
            <p:nvPr/>
          </p:nvSpPr>
          <p:spPr bwMode="auto">
            <a:xfrm>
              <a:off x="2976" y="1536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9949" name="Text Box 2068"/>
            <p:cNvSpPr txBox="1">
              <a:spLocks noChangeArrowheads="1"/>
            </p:cNvSpPr>
            <p:nvPr/>
          </p:nvSpPr>
          <p:spPr bwMode="auto">
            <a:xfrm>
              <a:off x="2976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9950" name="Text Box 2069"/>
            <p:cNvSpPr txBox="1">
              <a:spLocks noChangeArrowheads="1"/>
            </p:cNvSpPr>
            <p:nvPr/>
          </p:nvSpPr>
          <p:spPr bwMode="auto">
            <a:xfrm>
              <a:off x="2592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9951" name="Text Box 2070"/>
            <p:cNvSpPr txBox="1">
              <a:spLocks noChangeArrowheads="1"/>
            </p:cNvSpPr>
            <p:nvPr/>
          </p:nvSpPr>
          <p:spPr bwMode="auto">
            <a:xfrm>
              <a:off x="3360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9952" name="Text Box 2071"/>
            <p:cNvSpPr txBox="1">
              <a:spLocks noChangeArrowheads="1"/>
            </p:cNvSpPr>
            <p:nvPr/>
          </p:nvSpPr>
          <p:spPr bwMode="auto">
            <a:xfrm>
              <a:off x="2208" y="1903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39953" name="Text Box 2072"/>
            <p:cNvSpPr txBox="1">
              <a:spLocks noChangeArrowheads="1"/>
            </p:cNvSpPr>
            <p:nvPr/>
          </p:nvSpPr>
          <p:spPr bwMode="auto">
            <a:xfrm>
              <a:off x="1872" y="153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39954" name="Text Box 2073"/>
            <p:cNvSpPr txBox="1">
              <a:spLocks noChangeArrowheads="1"/>
            </p:cNvSpPr>
            <p:nvPr/>
          </p:nvSpPr>
          <p:spPr bwMode="auto">
            <a:xfrm>
              <a:off x="1872" y="115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39955" name="Text Box 2074"/>
            <p:cNvSpPr txBox="1">
              <a:spLocks noChangeArrowheads="1"/>
            </p:cNvSpPr>
            <p:nvPr/>
          </p:nvSpPr>
          <p:spPr bwMode="auto">
            <a:xfrm>
              <a:off x="1872" y="187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39956" name="Text Box 2075"/>
            <p:cNvSpPr txBox="1">
              <a:spLocks noChangeArrowheads="1"/>
            </p:cNvSpPr>
            <p:nvPr/>
          </p:nvSpPr>
          <p:spPr bwMode="auto">
            <a:xfrm>
              <a:off x="3360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4</a:t>
              </a:r>
            </a:p>
          </p:txBody>
        </p:sp>
        <p:sp>
          <p:nvSpPr>
            <p:cNvPr id="39957" name="Text Box 2076"/>
            <p:cNvSpPr txBox="1">
              <a:spLocks noChangeArrowheads="1"/>
            </p:cNvSpPr>
            <p:nvPr/>
          </p:nvSpPr>
          <p:spPr bwMode="auto">
            <a:xfrm>
              <a:off x="2976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39958" name="Text Box 2077"/>
            <p:cNvSpPr txBox="1">
              <a:spLocks noChangeArrowheads="1"/>
            </p:cNvSpPr>
            <p:nvPr/>
          </p:nvSpPr>
          <p:spPr bwMode="auto">
            <a:xfrm>
              <a:off x="2592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39959" name="Text Box 2078"/>
            <p:cNvSpPr txBox="1">
              <a:spLocks noChangeArrowheads="1"/>
            </p:cNvSpPr>
            <p:nvPr/>
          </p:nvSpPr>
          <p:spPr bwMode="auto">
            <a:xfrm>
              <a:off x="2208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Utility Function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762000" y="4038600"/>
            <a:ext cx="669607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[4,3] provides power supply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[4,2] is a sand area from which the robot cannot escape</a:t>
            </a:r>
          </a:p>
          <a:p>
            <a:pPr eaLnBrk="1" hangingPunct="1">
              <a:buFontTx/>
              <a:buChar char="•"/>
            </a:pPr>
            <a:r>
              <a:rPr lang="en-US">
                <a:solidFill>
                  <a:srgbClr val="990000"/>
                </a:solidFill>
                <a:latin typeface="Tahoma" pitchFamily="34" charset="0"/>
              </a:rPr>
              <a:t> The robot needs to recharge its batteries</a:t>
            </a:r>
          </a:p>
          <a:p>
            <a:pPr eaLnBrk="1" hangingPunct="1">
              <a:buFontTx/>
              <a:buChar char="•"/>
            </a:pPr>
            <a:r>
              <a:rPr lang="en-US">
                <a:solidFill>
                  <a:srgbClr val="990000"/>
                </a:solidFill>
                <a:latin typeface="Tahoma" pitchFamily="34" charset="0"/>
              </a:rPr>
              <a:t> [4,3] or [4,2] are terminal states</a:t>
            </a:r>
          </a:p>
        </p:txBody>
      </p:sp>
      <p:grpSp>
        <p:nvGrpSpPr>
          <p:cNvPr id="40964" name="Group 4"/>
          <p:cNvGrpSpPr>
            <a:grpSpLocks/>
          </p:cNvGrpSpPr>
          <p:nvPr/>
        </p:nvGrpSpPr>
        <p:grpSpPr bwMode="auto">
          <a:xfrm>
            <a:off x="2971800" y="1676400"/>
            <a:ext cx="2819400" cy="2225675"/>
            <a:chOff x="1872" y="1056"/>
            <a:chExt cx="1776" cy="1402"/>
          </a:xfrm>
        </p:grpSpPr>
        <p:grpSp>
          <p:nvGrpSpPr>
            <p:cNvPr id="40965" name="Group 5"/>
            <p:cNvGrpSpPr>
              <a:grpSpLocks/>
            </p:cNvGrpSpPr>
            <p:nvPr/>
          </p:nvGrpSpPr>
          <p:grpSpPr bwMode="auto">
            <a:xfrm>
              <a:off x="2112" y="1056"/>
              <a:ext cx="1536" cy="1152"/>
              <a:chOff x="960" y="1152"/>
              <a:chExt cx="1536" cy="1152"/>
            </a:xfrm>
          </p:grpSpPr>
          <p:sp>
            <p:nvSpPr>
              <p:cNvPr id="40984" name="Rectangle 6"/>
              <p:cNvSpPr>
                <a:spLocks noChangeArrowheads="1"/>
              </p:cNvSpPr>
              <p:nvPr/>
            </p:nvSpPr>
            <p:spPr bwMode="auto">
              <a:xfrm>
                <a:off x="960" y="1152"/>
                <a:ext cx="1536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0985" name="Line 7"/>
              <p:cNvSpPr>
                <a:spLocks noChangeShapeType="1"/>
              </p:cNvSpPr>
              <p:nvPr/>
            </p:nvSpPr>
            <p:spPr bwMode="auto">
              <a:xfrm>
                <a:off x="1344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0986" name="Line 8"/>
              <p:cNvSpPr>
                <a:spLocks noChangeShapeType="1"/>
              </p:cNvSpPr>
              <p:nvPr/>
            </p:nvSpPr>
            <p:spPr bwMode="auto">
              <a:xfrm>
                <a:off x="1728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0987" name="Line 9"/>
              <p:cNvSpPr>
                <a:spLocks noChangeShapeType="1"/>
              </p:cNvSpPr>
              <p:nvPr/>
            </p:nvSpPr>
            <p:spPr bwMode="auto">
              <a:xfrm>
                <a:off x="2112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0988" name="Line 10"/>
              <p:cNvSpPr>
                <a:spLocks noChangeShapeType="1"/>
              </p:cNvSpPr>
              <p:nvPr/>
            </p:nvSpPr>
            <p:spPr bwMode="auto">
              <a:xfrm>
                <a:off x="960" y="1536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0989" name="Line 1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0990" name="Rectangle 12"/>
              <p:cNvSpPr>
                <a:spLocks noChangeArrowheads="1"/>
              </p:cNvSpPr>
              <p:nvPr/>
            </p:nvSpPr>
            <p:spPr bwMode="auto">
              <a:xfrm>
                <a:off x="1344" y="1536"/>
                <a:ext cx="384" cy="38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40966" name="Text Box 13"/>
            <p:cNvSpPr txBox="1">
              <a:spLocks noChangeArrowheads="1"/>
            </p:cNvSpPr>
            <p:nvPr/>
          </p:nvSpPr>
          <p:spPr bwMode="auto">
            <a:xfrm>
              <a:off x="3312" y="1536"/>
              <a:ext cx="2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-1</a:t>
              </a:r>
            </a:p>
          </p:txBody>
        </p:sp>
        <p:sp>
          <p:nvSpPr>
            <p:cNvPr id="40967" name="Text Box 14"/>
            <p:cNvSpPr txBox="1">
              <a:spLocks noChangeArrowheads="1"/>
            </p:cNvSpPr>
            <p:nvPr/>
          </p:nvSpPr>
          <p:spPr bwMode="auto">
            <a:xfrm>
              <a:off x="3264" y="1152"/>
              <a:ext cx="31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9900"/>
                  </a:solidFill>
                  <a:latin typeface="Tahoma" pitchFamily="34" charset="0"/>
                </a:rPr>
                <a:t>+1</a:t>
              </a:r>
            </a:p>
          </p:txBody>
        </p:sp>
        <p:sp>
          <p:nvSpPr>
            <p:cNvPr id="40968" name="Text Box 15"/>
            <p:cNvSpPr txBox="1">
              <a:spLocks noChangeArrowheads="1"/>
            </p:cNvSpPr>
            <p:nvPr/>
          </p:nvSpPr>
          <p:spPr bwMode="auto">
            <a:xfrm>
              <a:off x="2208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0969" name="Text Box 16"/>
            <p:cNvSpPr txBox="1">
              <a:spLocks noChangeArrowheads="1"/>
            </p:cNvSpPr>
            <p:nvPr/>
          </p:nvSpPr>
          <p:spPr bwMode="auto">
            <a:xfrm>
              <a:off x="2208" y="1536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0970" name="Text Box 17"/>
            <p:cNvSpPr txBox="1">
              <a:spLocks noChangeArrowheads="1"/>
            </p:cNvSpPr>
            <p:nvPr/>
          </p:nvSpPr>
          <p:spPr bwMode="auto">
            <a:xfrm>
              <a:off x="2976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0971" name="Text Box 18"/>
            <p:cNvSpPr txBox="1">
              <a:spLocks noChangeArrowheads="1"/>
            </p:cNvSpPr>
            <p:nvPr/>
          </p:nvSpPr>
          <p:spPr bwMode="auto">
            <a:xfrm>
              <a:off x="2592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0972" name="Text Box 19"/>
            <p:cNvSpPr txBox="1">
              <a:spLocks noChangeArrowheads="1"/>
            </p:cNvSpPr>
            <p:nvPr/>
          </p:nvSpPr>
          <p:spPr bwMode="auto">
            <a:xfrm>
              <a:off x="2976" y="1536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0973" name="Text Box 20"/>
            <p:cNvSpPr txBox="1">
              <a:spLocks noChangeArrowheads="1"/>
            </p:cNvSpPr>
            <p:nvPr/>
          </p:nvSpPr>
          <p:spPr bwMode="auto">
            <a:xfrm>
              <a:off x="2976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0974" name="Text Box 21"/>
            <p:cNvSpPr txBox="1">
              <a:spLocks noChangeArrowheads="1"/>
            </p:cNvSpPr>
            <p:nvPr/>
          </p:nvSpPr>
          <p:spPr bwMode="auto">
            <a:xfrm>
              <a:off x="2592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0975" name="Text Box 22"/>
            <p:cNvSpPr txBox="1">
              <a:spLocks noChangeArrowheads="1"/>
            </p:cNvSpPr>
            <p:nvPr/>
          </p:nvSpPr>
          <p:spPr bwMode="auto">
            <a:xfrm>
              <a:off x="3360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0976" name="Text Box 23"/>
            <p:cNvSpPr txBox="1">
              <a:spLocks noChangeArrowheads="1"/>
            </p:cNvSpPr>
            <p:nvPr/>
          </p:nvSpPr>
          <p:spPr bwMode="auto">
            <a:xfrm>
              <a:off x="2208" y="1903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0977" name="Text Box 24"/>
            <p:cNvSpPr txBox="1">
              <a:spLocks noChangeArrowheads="1"/>
            </p:cNvSpPr>
            <p:nvPr/>
          </p:nvSpPr>
          <p:spPr bwMode="auto">
            <a:xfrm>
              <a:off x="1872" y="153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40978" name="Text Box 25"/>
            <p:cNvSpPr txBox="1">
              <a:spLocks noChangeArrowheads="1"/>
            </p:cNvSpPr>
            <p:nvPr/>
          </p:nvSpPr>
          <p:spPr bwMode="auto">
            <a:xfrm>
              <a:off x="1872" y="115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40979" name="Text Box 26"/>
            <p:cNvSpPr txBox="1">
              <a:spLocks noChangeArrowheads="1"/>
            </p:cNvSpPr>
            <p:nvPr/>
          </p:nvSpPr>
          <p:spPr bwMode="auto">
            <a:xfrm>
              <a:off x="1872" y="187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40980" name="Text Box 27"/>
            <p:cNvSpPr txBox="1">
              <a:spLocks noChangeArrowheads="1"/>
            </p:cNvSpPr>
            <p:nvPr/>
          </p:nvSpPr>
          <p:spPr bwMode="auto">
            <a:xfrm>
              <a:off x="3360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4</a:t>
              </a:r>
            </a:p>
          </p:txBody>
        </p:sp>
        <p:sp>
          <p:nvSpPr>
            <p:cNvPr id="40981" name="Text Box 28"/>
            <p:cNvSpPr txBox="1">
              <a:spLocks noChangeArrowheads="1"/>
            </p:cNvSpPr>
            <p:nvPr/>
          </p:nvSpPr>
          <p:spPr bwMode="auto">
            <a:xfrm>
              <a:off x="2976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40982" name="Text Box 29"/>
            <p:cNvSpPr txBox="1">
              <a:spLocks noChangeArrowheads="1"/>
            </p:cNvSpPr>
            <p:nvPr/>
          </p:nvSpPr>
          <p:spPr bwMode="auto">
            <a:xfrm>
              <a:off x="2592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40983" name="Text Box 30"/>
            <p:cNvSpPr txBox="1">
              <a:spLocks noChangeArrowheads="1"/>
            </p:cNvSpPr>
            <p:nvPr/>
          </p:nvSpPr>
          <p:spPr bwMode="auto">
            <a:xfrm>
              <a:off x="2208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Utility of a History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762000" y="4038600"/>
            <a:ext cx="7370763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[4,3] provides power supply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[4,2] is a sand area from which the robot cannot escape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The robot needs to recharge its batteries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[4,3] or [4,2] are terminal states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The </a:t>
            </a:r>
            <a:r>
              <a:rPr lang="en-US">
                <a:solidFill>
                  <a:srgbClr val="2B51F3"/>
                </a:solidFill>
                <a:latin typeface="Tahoma" pitchFamily="34" charset="0"/>
              </a:rPr>
              <a:t>utility of a history</a:t>
            </a:r>
            <a:r>
              <a:rPr lang="en-US">
                <a:latin typeface="Tahoma" pitchFamily="34" charset="0"/>
              </a:rPr>
              <a:t> is defined by the utility of the last </a:t>
            </a:r>
            <a:br>
              <a:rPr lang="en-US">
                <a:latin typeface="Tahoma" pitchFamily="34" charset="0"/>
              </a:rPr>
            </a:br>
            <a:r>
              <a:rPr lang="en-US">
                <a:latin typeface="Tahoma" pitchFamily="34" charset="0"/>
              </a:rPr>
              <a:t>   state (+1 or –1) minus </a:t>
            </a:r>
            <a:r>
              <a:rPr lang="en-US">
                <a:solidFill>
                  <a:schemeClr val="tx2"/>
                </a:solidFill>
                <a:latin typeface="Tahoma" pitchFamily="34" charset="0"/>
              </a:rPr>
              <a:t>n</a:t>
            </a:r>
            <a:r>
              <a:rPr lang="en-US">
                <a:latin typeface="Tahoma" pitchFamily="34" charset="0"/>
              </a:rPr>
              <a:t>/25, where </a:t>
            </a:r>
            <a:r>
              <a:rPr lang="en-US">
                <a:solidFill>
                  <a:schemeClr val="tx2"/>
                </a:solidFill>
                <a:latin typeface="Tahoma" pitchFamily="34" charset="0"/>
              </a:rPr>
              <a:t>n</a:t>
            </a:r>
            <a:r>
              <a:rPr lang="en-US">
                <a:latin typeface="Tahoma" pitchFamily="34" charset="0"/>
              </a:rPr>
              <a:t> is the number of moves</a:t>
            </a:r>
          </a:p>
        </p:txBody>
      </p: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2971800" y="1676400"/>
            <a:ext cx="2819400" cy="2225675"/>
            <a:chOff x="1872" y="1056"/>
            <a:chExt cx="1776" cy="1402"/>
          </a:xfrm>
        </p:grpSpPr>
        <p:grpSp>
          <p:nvGrpSpPr>
            <p:cNvPr id="41989" name="Group 5"/>
            <p:cNvGrpSpPr>
              <a:grpSpLocks/>
            </p:cNvGrpSpPr>
            <p:nvPr/>
          </p:nvGrpSpPr>
          <p:grpSpPr bwMode="auto">
            <a:xfrm>
              <a:off x="2112" y="1056"/>
              <a:ext cx="1536" cy="1152"/>
              <a:chOff x="960" y="1152"/>
              <a:chExt cx="1536" cy="1152"/>
            </a:xfrm>
          </p:grpSpPr>
          <p:sp>
            <p:nvSpPr>
              <p:cNvPr id="42008" name="Rectangle 6"/>
              <p:cNvSpPr>
                <a:spLocks noChangeArrowheads="1"/>
              </p:cNvSpPr>
              <p:nvPr/>
            </p:nvSpPr>
            <p:spPr bwMode="auto">
              <a:xfrm>
                <a:off x="960" y="1152"/>
                <a:ext cx="1536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2009" name="Line 7"/>
              <p:cNvSpPr>
                <a:spLocks noChangeShapeType="1"/>
              </p:cNvSpPr>
              <p:nvPr/>
            </p:nvSpPr>
            <p:spPr bwMode="auto">
              <a:xfrm>
                <a:off x="1344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2010" name="Line 8"/>
              <p:cNvSpPr>
                <a:spLocks noChangeShapeType="1"/>
              </p:cNvSpPr>
              <p:nvPr/>
            </p:nvSpPr>
            <p:spPr bwMode="auto">
              <a:xfrm>
                <a:off x="1728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2011" name="Line 9"/>
              <p:cNvSpPr>
                <a:spLocks noChangeShapeType="1"/>
              </p:cNvSpPr>
              <p:nvPr/>
            </p:nvSpPr>
            <p:spPr bwMode="auto">
              <a:xfrm>
                <a:off x="2112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2012" name="Line 10"/>
              <p:cNvSpPr>
                <a:spLocks noChangeShapeType="1"/>
              </p:cNvSpPr>
              <p:nvPr/>
            </p:nvSpPr>
            <p:spPr bwMode="auto">
              <a:xfrm>
                <a:off x="960" y="1536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2013" name="Line 1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2014" name="Rectangle 12"/>
              <p:cNvSpPr>
                <a:spLocks noChangeArrowheads="1"/>
              </p:cNvSpPr>
              <p:nvPr/>
            </p:nvSpPr>
            <p:spPr bwMode="auto">
              <a:xfrm>
                <a:off x="1344" y="1536"/>
                <a:ext cx="384" cy="38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41990" name="Text Box 13"/>
            <p:cNvSpPr txBox="1">
              <a:spLocks noChangeArrowheads="1"/>
            </p:cNvSpPr>
            <p:nvPr/>
          </p:nvSpPr>
          <p:spPr bwMode="auto">
            <a:xfrm>
              <a:off x="3312" y="1536"/>
              <a:ext cx="2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-1</a:t>
              </a:r>
            </a:p>
          </p:txBody>
        </p:sp>
        <p:sp>
          <p:nvSpPr>
            <p:cNvPr id="41991" name="Text Box 14"/>
            <p:cNvSpPr txBox="1">
              <a:spLocks noChangeArrowheads="1"/>
            </p:cNvSpPr>
            <p:nvPr/>
          </p:nvSpPr>
          <p:spPr bwMode="auto">
            <a:xfrm>
              <a:off x="3264" y="1152"/>
              <a:ext cx="31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9900"/>
                  </a:solidFill>
                  <a:latin typeface="Tahoma" pitchFamily="34" charset="0"/>
                </a:rPr>
                <a:t>+1</a:t>
              </a:r>
            </a:p>
          </p:txBody>
        </p:sp>
        <p:sp>
          <p:nvSpPr>
            <p:cNvPr id="41992" name="Text Box 15"/>
            <p:cNvSpPr txBox="1">
              <a:spLocks noChangeArrowheads="1"/>
            </p:cNvSpPr>
            <p:nvPr/>
          </p:nvSpPr>
          <p:spPr bwMode="auto">
            <a:xfrm>
              <a:off x="2208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1993" name="Text Box 16"/>
            <p:cNvSpPr txBox="1">
              <a:spLocks noChangeArrowheads="1"/>
            </p:cNvSpPr>
            <p:nvPr/>
          </p:nvSpPr>
          <p:spPr bwMode="auto">
            <a:xfrm>
              <a:off x="2208" y="1536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1994" name="Text Box 17"/>
            <p:cNvSpPr txBox="1">
              <a:spLocks noChangeArrowheads="1"/>
            </p:cNvSpPr>
            <p:nvPr/>
          </p:nvSpPr>
          <p:spPr bwMode="auto">
            <a:xfrm>
              <a:off x="2976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1995" name="Text Box 18"/>
            <p:cNvSpPr txBox="1">
              <a:spLocks noChangeArrowheads="1"/>
            </p:cNvSpPr>
            <p:nvPr/>
          </p:nvSpPr>
          <p:spPr bwMode="auto">
            <a:xfrm>
              <a:off x="2592" y="1152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1996" name="Text Box 19"/>
            <p:cNvSpPr txBox="1">
              <a:spLocks noChangeArrowheads="1"/>
            </p:cNvSpPr>
            <p:nvPr/>
          </p:nvSpPr>
          <p:spPr bwMode="auto">
            <a:xfrm>
              <a:off x="2976" y="1536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1997" name="Text Box 20"/>
            <p:cNvSpPr txBox="1">
              <a:spLocks noChangeArrowheads="1"/>
            </p:cNvSpPr>
            <p:nvPr/>
          </p:nvSpPr>
          <p:spPr bwMode="auto">
            <a:xfrm>
              <a:off x="2976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1998" name="Text Box 21"/>
            <p:cNvSpPr txBox="1">
              <a:spLocks noChangeArrowheads="1"/>
            </p:cNvSpPr>
            <p:nvPr/>
          </p:nvSpPr>
          <p:spPr bwMode="auto">
            <a:xfrm>
              <a:off x="2592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1999" name="Text Box 22"/>
            <p:cNvSpPr txBox="1">
              <a:spLocks noChangeArrowheads="1"/>
            </p:cNvSpPr>
            <p:nvPr/>
          </p:nvSpPr>
          <p:spPr bwMode="auto">
            <a:xfrm>
              <a:off x="3360" y="192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2000" name="Text Box 23"/>
            <p:cNvSpPr txBox="1">
              <a:spLocks noChangeArrowheads="1"/>
            </p:cNvSpPr>
            <p:nvPr/>
          </p:nvSpPr>
          <p:spPr bwMode="auto">
            <a:xfrm>
              <a:off x="2208" y="1903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th-TH">
                <a:latin typeface="Tahoma" pitchFamily="34" charset="0"/>
              </a:endParaRPr>
            </a:p>
          </p:txBody>
        </p:sp>
        <p:sp>
          <p:nvSpPr>
            <p:cNvPr id="42001" name="Text Box 24"/>
            <p:cNvSpPr txBox="1">
              <a:spLocks noChangeArrowheads="1"/>
            </p:cNvSpPr>
            <p:nvPr/>
          </p:nvSpPr>
          <p:spPr bwMode="auto">
            <a:xfrm>
              <a:off x="1872" y="153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42002" name="Text Box 25"/>
            <p:cNvSpPr txBox="1">
              <a:spLocks noChangeArrowheads="1"/>
            </p:cNvSpPr>
            <p:nvPr/>
          </p:nvSpPr>
          <p:spPr bwMode="auto">
            <a:xfrm>
              <a:off x="1872" y="115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42003" name="Text Box 26"/>
            <p:cNvSpPr txBox="1">
              <a:spLocks noChangeArrowheads="1"/>
            </p:cNvSpPr>
            <p:nvPr/>
          </p:nvSpPr>
          <p:spPr bwMode="auto">
            <a:xfrm>
              <a:off x="1872" y="187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42004" name="Text Box 27"/>
            <p:cNvSpPr txBox="1">
              <a:spLocks noChangeArrowheads="1"/>
            </p:cNvSpPr>
            <p:nvPr/>
          </p:nvSpPr>
          <p:spPr bwMode="auto">
            <a:xfrm>
              <a:off x="3360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4</a:t>
              </a:r>
            </a:p>
          </p:txBody>
        </p:sp>
        <p:sp>
          <p:nvSpPr>
            <p:cNvPr id="42005" name="Text Box 28"/>
            <p:cNvSpPr txBox="1">
              <a:spLocks noChangeArrowheads="1"/>
            </p:cNvSpPr>
            <p:nvPr/>
          </p:nvSpPr>
          <p:spPr bwMode="auto">
            <a:xfrm>
              <a:off x="2976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42006" name="Text Box 29"/>
            <p:cNvSpPr txBox="1">
              <a:spLocks noChangeArrowheads="1"/>
            </p:cNvSpPr>
            <p:nvPr/>
          </p:nvSpPr>
          <p:spPr bwMode="auto">
            <a:xfrm>
              <a:off x="2592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42007" name="Text Box 30"/>
            <p:cNvSpPr txBox="1">
              <a:spLocks noChangeArrowheads="1"/>
            </p:cNvSpPr>
            <p:nvPr/>
          </p:nvSpPr>
          <p:spPr bwMode="auto">
            <a:xfrm>
              <a:off x="2208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Utility of an Action Sequence</a:t>
            </a: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1219200" y="1676400"/>
            <a:ext cx="2438400" cy="1828800"/>
            <a:chOff x="960" y="1152"/>
            <a:chExt cx="1536" cy="1152"/>
          </a:xfrm>
        </p:grpSpPr>
        <p:sp>
          <p:nvSpPr>
            <p:cNvPr id="43023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43024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3025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3026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3027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3028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3029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43012" name="Text Box 11"/>
          <p:cNvSpPr txBox="1">
            <a:spLocks noChangeArrowheads="1"/>
          </p:cNvSpPr>
          <p:nvPr/>
        </p:nvSpPr>
        <p:spPr bwMode="auto">
          <a:xfrm>
            <a:off x="3136900" y="2362200"/>
            <a:ext cx="41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ahoma" pitchFamily="34" charset="0"/>
              </a:rPr>
              <a:t>-1</a:t>
            </a:r>
          </a:p>
        </p:txBody>
      </p:sp>
      <p:sp>
        <p:nvSpPr>
          <p:cNvPr id="43013" name="Text Box 12"/>
          <p:cNvSpPr txBox="1">
            <a:spLocks noChangeArrowheads="1"/>
          </p:cNvSpPr>
          <p:nvPr/>
        </p:nvSpPr>
        <p:spPr bwMode="auto">
          <a:xfrm>
            <a:off x="3124200" y="1752600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009900"/>
                </a:solidFill>
                <a:latin typeface="Tahoma" pitchFamily="34" charset="0"/>
              </a:rPr>
              <a:t>+1</a:t>
            </a:r>
          </a:p>
        </p:txBody>
      </p:sp>
      <p:sp>
        <p:nvSpPr>
          <p:cNvPr id="43014" name="Text Box 13"/>
          <p:cNvSpPr txBox="1">
            <a:spLocks noChangeArrowheads="1"/>
          </p:cNvSpPr>
          <p:nvPr/>
        </p:nvSpPr>
        <p:spPr bwMode="auto">
          <a:xfrm>
            <a:off x="762000" y="4038600"/>
            <a:ext cx="557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Consider the action sequence (U,R) from [3,2]</a:t>
            </a:r>
          </a:p>
        </p:txBody>
      </p:sp>
      <p:sp>
        <p:nvSpPr>
          <p:cNvPr id="43015" name="Text Box 14"/>
          <p:cNvSpPr txBox="1">
            <a:spLocks noChangeArrowheads="1"/>
          </p:cNvSpPr>
          <p:nvPr/>
        </p:nvSpPr>
        <p:spPr bwMode="auto">
          <a:xfrm>
            <a:off x="8382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3016" name="Text Box 15"/>
          <p:cNvSpPr txBox="1">
            <a:spLocks noChangeArrowheads="1"/>
          </p:cNvSpPr>
          <p:nvPr/>
        </p:nvSpPr>
        <p:spPr bwMode="auto">
          <a:xfrm>
            <a:off x="8382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3017" name="Text Box 16"/>
          <p:cNvSpPr txBox="1">
            <a:spLocks noChangeArrowheads="1"/>
          </p:cNvSpPr>
          <p:nvPr/>
        </p:nvSpPr>
        <p:spPr bwMode="auto">
          <a:xfrm>
            <a:off x="8382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43018" name="Text Box 17"/>
          <p:cNvSpPr txBox="1">
            <a:spLocks noChangeArrowheads="1"/>
          </p:cNvSpPr>
          <p:nvPr/>
        </p:nvSpPr>
        <p:spPr bwMode="auto">
          <a:xfrm>
            <a:off x="3200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43019" name="Text Box 18"/>
          <p:cNvSpPr txBox="1">
            <a:spLocks noChangeArrowheads="1"/>
          </p:cNvSpPr>
          <p:nvPr/>
        </p:nvSpPr>
        <p:spPr bwMode="auto">
          <a:xfrm>
            <a:off x="25908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3020" name="Text Box 19"/>
          <p:cNvSpPr txBox="1">
            <a:spLocks noChangeArrowheads="1"/>
          </p:cNvSpPr>
          <p:nvPr/>
        </p:nvSpPr>
        <p:spPr bwMode="auto">
          <a:xfrm>
            <a:off x="1981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3021" name="Text Box 20"/>
          <p:cNvSpPr txBox="1">
            <a:spLocks noChangeArrowheads="1"/>
          </p:cNvSpPr>
          <p:nvPr/>
        </p:nvSpPr>
        <p:spPr bwMode="auto">
          <a:xfrm>
            <a:off x="13716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43022" name="Rectangle 21"/>
          <p:cNvSpPr>
            <a:spLocks noChangeArrowheads="1"/>
          </p:cNvSpPr>
          <p:nvPr/>
        </p:nvSpPr>
        <p:spPr bwMode="auto">
          <a:xfrm>
            <a:off x="2438400" y="2286000"/>
            <a:ext cx="609600" cy="609600"/>
          </a:xfrm>
          <a:prstGeom prst="rect">
            <a:avLst/>
          </a:prstGeom>
          <a:solidFill>
            <a:srgbClr val="E0FFC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Utility of an Action Sequence</a:t>
            </a:r>
          </a:p>
        </p:txBody>
      </p:sp>
      <p:grpSp>
        <p:nvGrpSpPr>
          <p:cNvPr id="44035" name="Group 3"/>
          <p:cNvGrpSpPr>
            <a:grpSpLocks/>
          </p:cNvGrpSpPr>
          <p:nvPr/>
        </p:nvGrpSpPr>
        <p:grpSpPr bwMode="auto">
          <a:xfrm>
            <a:off x="1219200" y="1676400"/>
            <a:ext cx="2438400" cy="1828800"/>
            <a:chOff x="960" y="1152"/>
            <a:chExt cx="1536" cy="1152"/>
          </a:xfrm>
        </p:grpSpPr>
        <p:sp>
          <p:nvSpPr>
            <p:cNvPr id="44067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44068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69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70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71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72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73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44036" name="Text Box 11"/>
          <p:cNvSpPr txBox="1">
            <a:spLocks noChangeArrowheads="1"/>
          </p:cNvSpPr>
          <p:nvPr/>
        </p:nvSpPr>
        <p:spPr bwMode="auto">
          <a:xfrm>
            <a:off x="3136900" y="2362200"/>
            <a:ext cx="41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ahoma" pitchFamily="34" charset="0"/>
              </a:rPr>
              <a:t>-1</a:t>
            </a:r>
          </a:p>
        </p:txBody>
      </p:sp>
      <p:sp>
        <p:nvSpPr>
          <p:cNvPr id="44037" name="Text Box 12"/>
          <p:cNvSpPr txBox="1">
            <a:spLocks noChangeArrowheads="1"/>
          </p:cNvSpPr>
          <p:nvPr/>
        </p:nvSpPr>
        <p:spPr bwMode="auto">
          <a:xfrm>
            <a:off x="3124200" y="1752600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009900"/>
                </a:solidFill>
                <a:latin typeface="Tahoma" pitchFamily="34" charset="0"/>
              </a:rPr>
              <a:t>+1</a:t>
            </a:r>
          </a:p>
        </p:txBody>
      </p:sp>
      <p:sp>
        <p:nvSpPr>
          <p:cNvPr id="44038" name="Text Box 13"/>
          <p:cNvSpPr txBox="1">
            <a:spLocks noChangeArrowheads="1"/>
          </p:cNvSpPr>
          <p:nvPr/>
        </p:nvSpPr>
        <p:spPr bwMode="auto">
          <a:xfrm>
            <a:off x="762000" y="4038600"/>
            <a:ext cx="75311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Consider the action sequence (U,R) from [3,2]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A run produces one among 7 possible histories, each with some</a:t>
            </a:r>
            <a:br>
              <a:rPr lang="en-US">
                <a:latin typeface="Tahoma" pitchFamily="34" charset="0"/>
              </a:rPr>
            </a:br>
            <a:r>
              <a:rPr lang="en-US">
                <a:latin typeface="Tahoma" pitchFamily="34" charset="0"/>
              </a:rPr>
              <a:t>   probability</a:t>
            </a:r>
          </a:p>
        </p:txBody>
      </p:sp>
      <p:sp>
        <p:nvSpPr>
          <p:cNvPr id="44039" name="Text Box 14"/>
          <p:cNvSpPr txBox="1">
            <a:spLocks noChangeArrowheads="1"/>
          </p:cNvSpPr>
          <p:nvPr/>
        </p:nvSpPr>
        <p:spPr bwMode="auto">
          <a:xfrm>
            <a:off x="8382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4040" name="Text Box 15"/>
          <p:cNvSpPr txBox="1">
            <a:spLocks noChangeArrowheads="1"/>
          </p:cNvSpPr>
          <p:nvPr/>
        </p:nvSpPr>
        <p:spPr bwMode="auto">
          <a:xfrm>
            <a:off x="8382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4041" name="Text Box 16"/>
          <p:cNvSpPr txBox="1">
            <a:spLocks noChangeArrowheads="1"/>
          </p:cNvSpPr>
          <p:nvPr/>
        </p:nvSpPr>
        <p:spPr bwMode="auto">
          <a:xfrm>
            <a:off x="8382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44042" name="Text Box 17"/>
          <p:cNvSpPr txBox="1">
            <a:spLocks noChangeArrowheads="1"/>
          </p:cNvSpPr>
          <p:nvPr/>
        </p:nvSpPr>
        <p:spPr bwMode="auto">
          <a:xfrm>
            <a:off x="3200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44043" name="Text Box 18"/>
          <p:cNvSpPr txBox="1">
            <a:spLocks noChangeArrowheads="1"/>
          </p:cNvSpPr>
          <p:nvPr/>
        </p:nvSpPr>
        <p:spPr bwMode="auto">
          <a:xfrm>
            <a:off x="25908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4044" name="Text Box 19"/>
          <p:cNvSpPr txBox="1">
            <a:spLocks noChangeArrowheads="1"/>
          </p:cNvSpPr>
          <p:nvPr/>
        </p:nvSpPr>
        <p:spPr bwMode="auto">
          <a:xfrm>
            <a:off x="1981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4045" name="Text Box 20"/>
          <p:cNvSpPr txBox="1">
            <a:spLocks noChangeArrowheads="1"/>
          </p:cNvSpPr>
          <p:nvPr/>
        </p:nvSpPr>
        <p:spPr bwMode="auto">
          <a:xfrm>
            <a:off x="13716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grpSp>
        <p:nvGrpSpPr>
          <p:cNvPr id="44046" name="Group 21"/>
          <p:cNvGrpSpPr>
            <a:grpSpLocks/>
          </p:cNvGrpSpPr>
          <p:nvPr/>
        </p:nvGrpSpPr>
        <p:grpSpPr bwMode="auto">
          <a:xfrm>
            <a:off x="4114800" y="1676400"/>
            <a:ext cx="4549775" cy="2006600"/>
            <a:chOff x="2592" y="1056"/>
            <a:chExt cx="2866" cy="1264"/>
          </a:xfrm>
        </p:grpSpPr>
        <p:sp>
          <p:nvSpPr>
            <p:cNvPr id="44048" name="Text Box 22"/>
            <p:cNvSpPr txBox="1">
              <a:spLocks noChangeArrowheads="1"/>
            </p:cNvSpPr>
            <p:nvPr/>
          </p:nvSpPr>
          <p:spPr bwMode="auto">
            <a:xfrm>
              <a:off x="3792" y="105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4049" name="Text Box 23"/>
            <p:cNvSpPr txBox="1">
              <a:spLocks noChangeArrowheads="1"/>
            </p:cNvSpPr>
            <p:nvPr/>
          </p:nvSpPr>
          <p:spPr bwMode="auto">
            <a:xfrm>
              <a:off x="4272" y="1536"/>
              <a:ext cx="466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[4,2]</a:t>
              </a:r>
            </a:p>
          </p:txBody>
        </p:sp>
        <p:sp>
          <p:nvSpPr>
            <p:cNvPr id="44050" name="Text Box 24"/>
            <p:cNvSpPr txBox="1">
              <a:spLocks noChangeArrowheads="1"/>
            </p:cNvSpPr>
            <p:nvPr/>
          </p:nvSpPr>
          <p:spPr bwMode="auto">
            <a:xfrm>
              <a:off x="3792" y="153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[3,3]</a:t>
              </a:r>
            </a:p>
          </p:txBody>
        </p:sp>
        <p:sp>
          <p:nvSpPr>
            <p:cNvPr id="44051" name="Text Box 25"/>
            <p:cNvSpPr txBox="1">
              <a:spLocks noChangeArrowheads="1"/>
            </p:cNvSpPr>
            <p:nvPr/>
          </p:nvSpPr>
          <p:spPr bwMode="auto">
            <a:xfrm>
              <a:off x="3312" y="153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4052" name="Line 26"/>
            <p:cNvSpPr>
              <a:spLocks noChangeShapeType="1"/>
            </p:cNvSpPr>
            <p:nvPr/>
          </p:nvSpPr>
          <p:spPr bwMode="auto">
            <a:xfrm flipH="1">
              <a:off x="3552" y="1296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53" name="Line 27"/>
            <p:cNvSpPr>
              <a:spLocks noChangeShapeType="1"/>
            </p:cNvSpPr>
            <p:nvPr/>
          </p:nvSpPr>
          <p:spPr bwMode="auto">
            <a:xfrm>
              <a:off x="4032" y="129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54" name="Line 28"/>
            <p:cNvSpPr>
              <a:spLocks noChangeShapeType="1"/>
            </p:cNvSpPr>
            <p:nvPr/>
          </p:nvSpPr>
          <p:spPr bwMode="auto">
            <a:xfrm>
              <a:off x="4032" y="1296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55" name="Text Box 29"/>
            <p:cNvSpPr txBox="1">
              <a:spLocks noChangeArrowheads="1"/>
            </p:cNvSpPr>
            <p:nvPr/>
          </p:nvSpPr>
          <p:spPr bwMode="auto">
            <a:xfrm>
              <a:off x="355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[3,3]</a:t>
              </a:r>
            </a:p>
          </p:txBody>
        </p:sp>
        <p:sp>
          <p:nvSpPr>
            <p:cNvPr id="44056" name="Text Box 30"/>
            <p:cNvSpPr txBox="1">
              <a:spLocks noChangeArrowheads="1"/>
            </p:cNvSpPr>
            <p:nvPr/>
          </p:nvSpPr>
          <p:spPr bwMode="auto">
            <a:xfrm>
              <a:off x="307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4057" name="Text Box 31"/>
            <p:cNvSpPr txBox="1">
              <a:spLocks noChangeArrowheads="1"/>
            </p:cNvSpPr>
            <p:nvPr/>
          </p:nvSpPr>
          <p:spPr bwMode="auto">
            <a:xfrm>
              <a:off x="403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[4,1]</a:t>
              </a:r>
            </a:p>
          </p:txBody>
        </p:sp>
        <p:sp>
          <p:nvSpPr>
            <p:cNvPr id="44058" name="Text Box 32"/>
            <p:cNvSpPr txBox="1">
              <a:spLocks noChangeArrowheads="1"/>
            </p:cNvSpPr>
            <p:nvPr/>
          </p:nvSpPr>
          <p:spPr bwMode="auto">
            <a:xfrm>
              <a:off x="4512" y="2064"/>
              <a:ext cx="466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[4,2]</a:t>
              </a:r>
            </a:p>
          </p:txBody>
        </p:sp>
        <p:sp>
          <p:nvSpPr>
            <p:cNvPr id="44059" name="Text Box 33"/>
            <p:cNvSpPr txBox="1">
              <a:spLocks noChangeArrowheads="1"/>
            </p:cNvSpPr>
            <p:nvPr/>
          </p:nvSpPr>
          <p:spPr bwMode="auto">
            <a:xfrm>
              <a:off x="4992" y="2064"/>
              <a:ext cx="466" cy="256"/>
            </a:xfrm>
            <a:prstGeom prst="rect">
              <a:avLst/>
            </a:prstGeom>
            <a:noFill/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8000"/>
                  </a:solidFill>
                  <a:latin typeface="Tahoma" pitchFamily="34" charset="0"/>
                </a:rPr>
                <a:t>[4,3]</a:t>
              </a:r>
            </a:p>
          </p:txBody>
        </p:sp>
        <p:sp>
          <p:nvSpPr>
            <p:cNvPr id="44060" name="Text Box 34"/>
            <p:cNvSpPr txBox="1">
              <a:spLocks noChangeArrowheads="1"/>
            </p:cNvSpPr>
            <p:nvPr/>
          </p:nvSpPr>
          <p:spPr bwMode="auto">
            <a:xfrm>
              <a:off x="259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[3,1]</a:t>
              </a:r>
            </a:p>
          </p:txBody>
        </p:sp>
        <p:sp>
          <p:nvSpPr>
            <p:cNvPr id="44061" name="Line 35"/>
            <p:cNvSpPr>
              <a:spLocks noChangeShapeType="1"/>
            </p:cNvSpPr>
            <p:nvPr/>
          </p:nvSpPr>
          <p:spPr bwMode="auto">
            <a:xfrm>
              <a:off x="3552" y="177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62" name="Line 36"/>
            <p:cNvSpPr>
              <a:spLocks noChangeShapeType="1"/>
            </p:cNvSpPr>
            <p:nvPr/>
          </p:nvSpPr>
          <p:spPr bwMode="auto">
            <a:xfrm flipH="1">
              <a:off x="2832" y="1776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63" name="Line 37"/>
            <p:cNvSpPr>
              <a:spLocks noChangeShapeType="1"/>
            </p:cNvSpPr>
            <p:nvPr/>
          </p:nvSpPr>
          <p:spPr bwMode="auto">
            <a:xfrm>
              <a:off x="3552" y="1776"/>
              <a:ext cx="115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64" name="Line 38"/>
            <p:cNvSpPr>
              <a:spLocks noChangeShapeType="1"/>
            </p:cNvSpPr>
            <p:nvPr/>
          </p:nvSpPr>
          <p:spPr bwMode="auto">
            <a:xfrm flipH="1">
              <a:off x="3792" y="177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65" name="Line 39"/>
            <p:cNvSpPr>
              <a:spLocks noChangeShapeType="1"/>
            </p:cNvSpPr>
            <p:nvPr/>
          </p:nvSpPr>
          <p:spPr bwMode="auto">
            <a:xfrm flipH="1">
              <a:off x="3360" y="1776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4066" name="Line 40"/>
            <p:cNvSpPr>
              <a:spLocks noChangeShapeType="1"/>
            </p:cNvSpPr>
            <p:nvPr/>
          </p:nvSpPr>
          <p:spPr bwMode="auto">
            <a:xfrm>
              <a:off x="4032" y="1776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</p:grpSp>
      <p:sp>
        <p:nvSpPr>
          <p:cNvPr id="44047" name="Rectangle 41"/>
          <p:cNvSpPr>
            <a:spLocks noChangeArrowheads="1"/>
          </p:cNvSpPr>
          <p:nvPr/>
        </p:nvSpPr>
        <p:spPr bwMode="auto">
          <a:xfrm>
            <a:off x="2438400" y="2286000"/>
            <a:ext cx="609600" cy="609600"/>
          </a:xfrm>
          <a:prstGeom prst="rect">
            <a:avLst/>
          </a:prstGeom>
          <a:solidFill>
            <a:srgbClr val="E0FFC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Utility of an Action Sequence</a:t>
            </a:r>
          </a:p>
        </p:txBody>
      </p:sp>
      <p:grpSp>
        <p:nvGrpSpPr>
          <p:cNvPr id="45059" name="Group 3"/>
          <p:cNvGrpSpPr>
            <a:grpSpLocks/>
          </p:cNvGrpSpPr>
          <p:nvPr/>
        </p:nvGrpSpPr>
        <p:grpSpPr bwMode="auto">
          <a:xfrm>
            <a:off x="1219200" y="1676400"/>
            <a:ext cx="2438400" cy="1828800"/>
            <a:chOff x="960" y="1152"/>
            <a:chExt cx="1536" cy="1152"/>
          </a:xfrm>
        </p:grpSpPr>
        <p:sp>
          <p:nvSpPr>
            <p:cNvPr id="45091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45092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93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94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95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96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97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45060" name="Text Box 11"/>
          <p:cNvSpPr txBox="1">
            <a:spLocks noChangeArrowheads="1"/>
          </p:cNvSpPr>
          <p:nvPr/>
        </p:nvSpPr>
        <p:spPr bwMode="auto">
          <a:xfrm>
            <a:off x="3136900" y="2362200"/>
            <a:ext cx="41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ahoma" pitchFamily="34" charset="0"/>
              </a:rPr>
              <a:t>-1</a:t>
            </a:r>
          </a:p>
        </p:txBody>
      </p:sp>
      <p:sp>
        <p:nvSpPr>
          <p:cNvPr id="45061" name="Text Box 12"/>
          <p:cNvSpPr txBox="1">
            <a:spLocks noChangeArrowheads="1"/>
          </p:cNvSpPr>
          <p:nvPr/>
        </p:nvSpPr>
        <p:spPr bwMode="auto">
          <a:xfrm>
            <a:off x="3124200" y="1752600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009900"/>
                </a:solidFill>
                <a:latin typeface="Tahoma" pitchFamily="34" charset="0"/>
              </a:rPr>
              <a:t>+1</a:t>
            </a:r>
          </a:p>
        </p:txBody>
      </p:sp>
      <p:sp>
        <p:nvSpPr>
          <p:cNvPr id="45062" name="Text Box 13"/>
          <p:cNvSpPr txBox="1">
            <a:spLocks noChangeArrowheads="1"/>
          </p:cNvSpPr>
          <p:nvPr/>
        </p:nvSpPr>
        <p:spPr bwMode="auto">
          <a:xfrm>
            <a:off x="762000" y="4038600"/>
            <a:ext cx="7681913" cy="179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Consider the action sequence (U,R) from [3,2]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A run produces one among 7 possible histories, each with some</a:t>
            </a:r>
            <a:br>
              <a:rPr lang="en-US">
                <a:latin typeface="Tahoma" pitchFamily="34" charset="0"/>
              </a:rPr>
            </a:br>
            <a:r>
              <a:rPr lang="en-US">
                <a:latin typeface="Tahoma" pitchFamily="34" charset="0"/>
              </a:rPr>
              <a:t>   probability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The </a:t>
            </a:r>
            <a:r>
              <a:rPr lang="en-US">
                <a:solidFill>
                  <a:srgbClr val="2B51F3"/>
                </a:solidFill>
                <a:latin typeface="Tahoma" pitchFamily="34" charset="0"/>
              </a:rPr>
              <a:t>utility of the sequence</a:t>
            </a:r>
            <a:r>
              <a:rPr lang="en-US">
                <a:latin typeface="Tahoma" pitchFamily="34" charset="0"/>
              </a:rPr>
              <a:t> is the expected utility of the histories:</a:t>
            </a:r>
            <a:br>
              <a:rPr lang="en-US">
                <a:latin typeface="Tahoma" pitchFamily="34" charset="0"/>
              </a:rPr>
            </a:br>
            <a:r>
              <a:rPr lang="en-US">
                <a:latin typeface="Tahoma" pitchFamily="34" charset="0"/>
              </a:rPr>
              <a:t>                                    </a:t>
            </a:r>
            <a:r>
              <a:rPr lang="en-US" sz="3200" b="1">
                <a:latin typeface="Bradley Hand ITC" pitchFamily="66" charset="0"/>
              </a:rPr>
              <a:t>U</a:t>
            </a:r>
            <a:r>
              <a:rPr lang="en-US">
                <a:latin typeface="Tahoma" pitchFamily="34" charset="0"/>
              </a:rPr>
              <a:t> = </a:t>
            </a:r>
            <a:r>
              <a:rPr lang="en-US" sz="3200">
                <a:latin typeface="Symbol" pitchFamily="18" charset="2"/>
              </a:rPr>
              <a:t>S</a:t>
            </a:r>
            <a:r>
              <a:rPr lang="en-US" sz="2400" baseline="-30000">
                <a:latin typeface="Tahoma" pitchFamily="34" charset="0"/>
                <a:cs typeface="Times New Roman" pitchFamily="18" charset="0"/>
              </a:rPr>
              <a:t>h</a:t>
            </a:r>
            <a:r>
              <a:rPr lang="en-US" sz="3200" b="1">
                <a:latin typeface="Bradley Hand ITC" pitchFamily="66" charset="0"/>
              </a:rPr>
              <a:t>U</a:t>
            </a:r>
            <a:r>
              <a:rPr lang="en-US" sz="2400" baseline="-30000">
                <a:latin typeface="Tahoma" pitchFamily="34" charset="0"/>
                <a:cs typeface="Times New Roman" pitchFamily="18" charset="0"/>
              </a:rPr>
              <a:t>h</a:t>
            </a:r>
            <a:r>
              <a:rPr lang="en-US" sz="1600">
                <a:latin typeface="Tahoma" pitchFamily="34" charset="0"/>
              </a:rPr>
              <a:t> </a:t>
            </a:r>
            <a:r>
              <a:rPr lang="en-US" sz="2800" b="1">
                <a:latin typeface="Tahoma" pitchFamily="34" charset="0"/>
              </a:rPr>
              <a:t>P</a:t>
            </a:r>
            <a:r>
              <a:rPr lang="en-US" sz="2800">
                <a:latin typeface="Tahoma" pitchFamily="34" charset="0"/>
              </a:rPr>
              <a:t>(h)</a:t>
            </a:r>
            <a:endParaRPr lang="en-US" sz="2800" baseline="-30000">
              <a:latin typeface="Tahoma" pitchFamily="34" charset="0"/>
              <a:cs typeface="Times New Roman" pitchFamily="18" charset="0"/>
            </a:endParaRPr>
          </a:p>
        </p:txBody>
      </p:sp>
      <p:sp>
        <p:nvSpPr>
          <p:cNvPr id="45063" name="Text Box 14"/>
          <p:cNvSpPr txBox="1">
            <a:spLocks noChangeArrowheads="1"/>
          </p:cNvSpPr>
          <p:nvPr/>
        </p:nvSpPr>
        <p:spPr bwMode="auto">
          <a:xfrm>
            <a:off x="8382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5064" name="Text Box 15"/>
          <p:cNvSpPr txBox="1">
            <a:spLocks noChangeArrowheads="1"/>
          </p:cNvSpPr>
          <p:nvPr/>
        </p:nvSpPr>
        <p:spPr bwMode="auto">
          <a:xfrm>
            <a:off x="8382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5065" name="Text Box 16"/>
          <p:cNvSpPr txBox="1">
            <a:spLocks noChangeArrowheads="1"/>
          </p:cNvSpPr>
          <p:nvPr/>
        </p:nvSpPr>
        <p:spPr bwMode="auto">
          <a:xfrm>
            <a:off x="8382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45066" name="Text Box 17"/>
          <p:cNvSpPr txBox="1">
            <a:spLocks noChangeArrowheads="1"/>
          </p:cNvSpPr>
          <p:nvPr/>
        </p:nvSpPr>
        <p:spPr bwMode="auto">
          <a:xfrm>
            <a:off x="3200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45067" name="Text Box 18"/>
          <p:cNvSpPr txBox="1">
            <a:spLocks noChangeArrowheads="1"/>
          </p:cNvSpPr>
          <p:nvPr/>
        </p:nvSpPr>
        <p:spPr bwMode="auto">
          <a:xfrm>
            <a:off x="25908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5068" name="Text Box 19"/>
          <p:cNvSpPr txBox="1">
            <a:spLocks noChangeArrowheads="1"/>
          </p:cNvSpPr>
          <p:nvPr/>
        </p:nvSpPr>
        <p:spPr bwMode="auto">
          <a:xfrm>
            <a:off x="1981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5069" name="Text Box 20"/>
          <p:cNvSpPr txBox="1">
            <a:spLocks noChangeArrowheads="1"/>
          </p:cNvSpPr>
          <p:nvPr/>
        </p:nvSpPr>
        <p:spPr bwMode="auto">
          <a:xfrm>
            <a:off x="13716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grpSp>
        <p:nvGrpSpPr>
          <p:cNvPr id="45070" name="Group 21"/>
          <p:cNvGrpSpPr>
            <a:grpSpLocks/>
          </p:cNvGrpSpPr>
          <p:nvPr/>
        </p:nvGrpSpPr>
        <p:grpSpPr bwMode="auto">
          <a:xfrm>
            <a:off x="4114800" y="1676400"/>
            <a:ext cx="4549775" cy="2006600"/>
            <a:chOff x="2592" y="1056"/>
            <a:chExt cx="2866" cy="1264"/>
          </a:xfrm>
        </p:grpSpPr>
        <p:sp>
          <p:nvSpPr>
            <p:cNvPr id="45072" name="Text Box 22"/>
            <p:cNvSpPr txBox="1">
              <a:spLocks noChangeArrowheads="1"/>
            </p:cNvSpPr>
            <p:nvPr/>
          </p:nvSpPr>
          <p:spPr bwMode="auto">
            <a:xfrm>
              <a:off x="3792" y="105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5073" name="Text Box 23"/>
            <p:cNvSpPr txBox="1">
              <a:spLocks noChangeArrowheads="1"/>
            </p:cNvSpPr>
            <p:nvPr/>
          </p:nvSpPr>
          <p:spPr bwMode="auto">
            <a:xfrm>
              <a:off x="4272" y="1536"/>
              <a:ext cx="466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[4,2]</a:t>
              </a:r>
            </a:p>
          </p:txBody>
        </p:sp>
        <p:sp>
          <p:nvSpPr>
            <p:cNvPr id="45074" name="Text Box 24"/>
            <p:cNvSpPr txBox="1">
              <a:spLocks noChangeArrowheads="1"/>
            </p:cNvSpPr>
            <p:nvPr/>
          </p:nvSpPr>
          <p:spPr bwMode="auto">
            <a:xfrm>
              <a:off x="3792" y="153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[3,3]</a:t>
              </a:r>
            </a:p>
          </p:txBody>
        </p:sp>
        <p:sp>
          <p:nvSpPr>
            <p:cNvPr id="45075" name="Text Box 25"/>
            <p:cNvSpPr txBox="1">
              <a:spLocks noChangeArrowheads="1"/>
            </p:cNvSpPr>
            <p:nvPr/>
          </p:nvSpPr>
          <p:spPr bwMode="auto">
            <a:xfrm>
              <a:off x="3312" y="153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5076" name="Line 26"/>
            <p:cNvSpPr>
              <a:spLocks noChangeShapeType="1"/>
            </p:cNvSpPr>
            <p:nvPr/>
          </p:nvSpPr>
          <p:spPr bwMode="auto">
            <a:xfrm flipH="1">
              <a:off x="3552" y="1296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77" name="Line 27"/>
            <p:cNvSpPr>
              <a:spLocks noChangeShapeType="1"/>
            </p:cNvSpPr>
            <p:nvPr/>
          </p:nvSpPr>
          <p:spPr bwMode="auto">
            <a:xfrm>
              <a:off x="4032" y="129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78" name="Line 28"/>
            <p:cNvSpPr>
              <a:spLocks noChangeShapeType="1"/>
            </p:cNvSpPr>
            <p:nvPr/>
          </p:nvSpPr>
          <p:spPr bwMode="auto">
            <a:xfrm>
              <a:off x="4032" y="1296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79" name="Text Box 29"/>
            <p:cNvSpPr txBox="1">
              <a:spLocks noChangeArrowheads="1"/>
            </p:cNvSpPr>
            <p:nvPr/>
          </p:nvSpPr>
          <p:spPr bwMode="auto">
            <a:xfrm>
              <a:off x="355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[3,3]</a:t>
              </a:r>
            </a:p>
          </p:txBody>
        </p:sp>
        <p:sp>
          <p:nvSpPr>
            <p:cNvPr id="45080" name="Text Box 30"/>
            <p:cNvSpPr txBox="1">
              <a:spLocks noChangeArrowheads="1"/>
            </p:cNvSpPr>
            <p:nvPr/>
          </p:nvSpPr>
          <p:spPr bwMode="auto">
            <a:xfrm>
              <a:off x="307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5081" name="Text Box 31"/>
            <p:cNvSpPr txBox="1">
              <a:spLocks noChangeArrowheads="1"/>
            </p:cNvSpPr>
            <p:nvPr/>
          </p:nvSpPr>
          <p:spPr bwMode="auto">
            <a:xfrm>
              <a:off x="403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[4,1]</a:t>
              </a:r>
            </a:p>
          </p:txBody>
        </p:sp>
        <p:sp>
          <p:nvSpPr>
            <p:cNvPr id="45082" name="Text Box 32"/>
            <p:cNvSpPr txBox="1">
              <a:spLocks noChangeArrowheads="1"/>
            </p:cNvSpPr>
            <p:nvPr/>
          </p:nvSpPr>
          <p:spPr bwMode="auto">
            <a:xfrm>
              <a:off x="4512" y="2064"/>
              <a:ext cx="466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[4,2]</a:t>
              </a:r>
            </a:p>
          </p:txBody>
        </p:sp>
        <p:sp>
          <p:nvSpPr>
            <p:cNvPr id="45083" name="Text Box 33"/>
            <p:cNvSpPr txBox="1">
              <a:spLocks noChangeArrowheads="1"/>
            </p:cNvSpPr>
            <p:nvPr/>
          </p:nvSpPr>
          <p:spPr bwMode="auto">
            <a:xfrm>
              <a:off x="4992" y="2064"/>
              <a:ext cx="466" cy="256"/>
            </a:xfrm>
            <a:prstGeom prst="rect">
              <a:avLst/>
            </a:prstGeom>
            <a:noFill/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8000"/>
                  </a:solidFill>
                  <a:latin typeface="Tahoma" pitchFamily="34" charset="0"/>
                </a:rPr>
                <a:t>[4,3]</a:t>
              </a:r>
            </a:p>
          </p:txBody>
        </p:sp>
        <p:sp>
          <p:nvSpPr>
            <p:cNvPr id="45084" name="Text Box 34"/>
            <p:cNvSpPr txBox="1">
              <a:spLocks noChangeArrowheads="1"/>
            </p:cNvSpPr>
            <p:nvPr/>
          </p:nvSpPr>
          <p:spPr bwMode="auto">
            <a:xfrm>
              <a:off x="259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[3,1]</a:t>
              </a:r>
            </a:p>
          </p:txBody>
        </p:sp>
        <p:sp>
          <p:nvSpPr>
            <p:cNvPr id="45085" name="Line 35"/>
            <p:cNvSpPr>
              <a:spLocks noChangeShapeType="1"/>
            </p:cNvSpPr>
            <p:nvPr/>
          </p:nvSpPr>
          <p:spPr bwMode="auto">
            <a:xfrm>
              <a:off x="3552" y="177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86" name="Line 36"/>
            <p:cNvSpPr>
              <a:spLocks noChangeShapeType="1"/>
            </p:cNvSpPr>
            <p:nvPr/>
          </p:nvSpPr>
          <p:spPr bwMode="auto">
            <a:xfrm flipH="1">
              <a:off x="2832" y="1776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87" name="Line 37"/>
            <p:cNvSpPr>
              <a:spLocks noChangeShapeType="1"/>
            </p:cNvSpPr>
            <p:nvPr/>
          </p:nvSpPr>
          <p:spPr bwMode="auto">
            <a:xfrm>
              <a:off x="3552" y="1776"/>
              <a:ext cx="115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88" name="Line 38"/>
            <p:cNvSpPr>
              <a:spLocks noChangeShapeType="1"/>
            </p:cNvSpPr>
            <p:nvPr/>
          </p:nvSpPr>
          <p:spPr bwMode="auto">
            <a:xfrm flipH="1">
              <a:off x="3792" y="177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89" name="Line 39"/>
            <p:cNvSpPr>
              <a:spLocks noChangeShapeType="1"/>
            </p:cNvSpPr>
            <p:nvPr/>
          </p:nvSpPr>
          <p:spPr bwMode="auto">
            <a:xfrm flipH="1">
              <a:off x="3360" y="1776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5090" name="Line 40"/>
            <p:cNvSpPr>
              <a:spLocks noChangeShapeType="1"/>
            </p:cNvSpPr>
            <p:nvPr/>
          </p:nvSpPr>
          <p:spPr bwMode="auto">
            <a:xfrm>
              <a:off x="4032" y="1776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</p:grpSp>
      <p:sp>
        <p:nvSpPr>
          <p:cNvPr id="45071" name="Rectangle 41"/>
          <p:cNvSpPr>
            <a:spLocks noChangeArrowheads="1"/>
          </p:cNvSpPr>
          <p:nvPr/>
        </p:nvSpPr>
        <p:spPr bwMode="auto">
          <a:xfrm>
            <a:off x="2438400" y="2286000"/>
            <a:ext cx="609600" cy="609600"/>
          </a:xfrm>
          <a:prstGeom prst="rect">
            <a:avLst/>
          </a:prstGeom>
          <a:solidFill>
            <a:srgbClr val="E0FFC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Optimal Action Sequence</a:t>
            </a:r>
          </a:p>
        </p:txBody>
      </p:sp>
      <p:grpSp>
        <p:nvGrpSpPr>
          <p:cNvPr id="46083" name="Group 3"/>
          <p:cNvGrpSpPr>
            <a:grpSpLocks/>
          </p:cNvGrpSpPr>
          <p:nvPr/>
        </p:nvGrpSpPr>
        <p:grpSpPr bwMode="auto">
          <a:xfrm>
            <a:off x="1219200" y="1676400"/>
            <a:ext cx="2438400" cy="1828800"/>
            <a:chOff x="960" y="1152"/>
            <a:chExt cx="1536" cy="1152"/>
          </a:xfrm>
        </p:grpSpPr>
        <p:sp>
          <p:nvSpPr>
            <p:cNvPr id="46115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46116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17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18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19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20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21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46084" name="Text Box 11"/>
          <p:cNvSpPr txBox="1">
            <a:spLocks noChangeArrowheads="1"/>
          </p:cNvSpPr>
          <p:nvPr/>
        </p:nvSpPr>
        <p:spPr bwMode="auto">
          <a:xfrm>
            <a:off x="3136900" y="2362200"/>
            <a:ext cx="41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ahoma" pitchFamily="34" charset="0"/>
              </a:rPr>
              <a:t>-1</a:t>
            </a:r>
          </a:p>
        </p:txBody>
      </p:sp>
      <p:sp>
        <p:nvSpPr>
          <p:cNvPr id="46085" name="Text Box 12"/>
          <p:cNvSpPr txBox="1">
            <a:spLocks noChangeArrowheads="1"/>
          </p:cNvSpPr>
          <p:nvPr/>
        </p:nvSpPr>
        <p:spPr bwMode="auto">
          <a:xfrm>
            <a:off x="3124200" y="1752600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009900"/>
                </a:solidFill>
                <a:latin typeface="Tahoma" pitchFamily="34" charset="0"/>
              </a:rPr>
              <a:t>+1</a:t>
            </a:r>
          </a:p>
        </p:txBody>
      </p:sp>
      <p:sp>
        <p:nvSpPr>
          <p:cNvPr id="46086" name="Text Box 13"/>
          <p:cNvSpPr txBox="1">
            <a:spLocks noChangeArrowheads="1"/>
          </p:cNvSpPr>
          <p:nvPr/>
        </p:nvSpPr>
        <p:spPr bwMode="auto">
          <a:xfrm>
            <a:off x="762000" y="4038600"/>
            <a:ext cx="7591425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Consider the action sequence (U,R) from [3,2]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A run produces one among 7 possible histories, each with some</a:t>
            </a:r>
            <a:br>
              <a:rPr lang="en-US">
                <a:latin typeface="Tahoma" pitchFamily="34" charset="0"/>
              </a:rPr>
            </a:br>
            <a:r>
              <a:rPr lang="en-US">
                <a:latin typeface="Tahoma" pitchFamily="34" charset="0"/>
              </a:rPr>
              <a:t>   probability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The utility of the sequence is the expected utility of the histories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The </a:t>
            </a:r>
            <a:r>
              <a:rPr lang="en-US">
                <a:solidFill>
                  <a:srgbClr val="2B51F3"/>
                </a:solidFill>
                <a:latin typeface="Tahoma" pitchFamily="34" charset="0"/>
              </a:rPr>
              <a:t>optimal sequence</a:t>
            </a:r>
            <a:r>
              <a:rPr lang="en-US">
                <a:latin typeface="Tahoma" pitchFamily="34" charset="0"/>
              </a:rPr>
              <a:t> is the one with maximal utility</a:t>
            </a:r>
            <a:endParaRPr lang="en-US" b="1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46087" name="Text Box 14"/>
          <p:cNvSpPr txBox="1">
            <a:spLocks noChangeArrowheads="1"/>
          </p:cNvSpPr>
          <p:nvPr/>
        </p:nvSpPr>
        <p:spPr bwMode="auto">
          <a:xfrm>
            <a:off x="8382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6088" name="Text Box 15"/>
          <p:cNvSpPr txBox="1">
            <a:spLocks noChangeArrowheads="1"/>
          </p:cNvSpPr>
          <p:nvPr/>
        </p:nvSpPr>
        <p:spPr bwMode="auto">
          <a:xfrm>
            <a:off x="8382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6089" name="Text Box 16"/>
          <p:cNvSpPr txBox="1">
            <a:spLocks noChangeArrowheads="1"/>
          </p:cNvSpPr>
          <p:nvPr/>
        </p:nvSpPr>
        <p:spPr bwMode="auto">
          <a:xfrm>
            <a:off x="8382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46090" name="Text Box 17"/>
          <p:cNvSpPr txBox="1">
            <a:spLocks noChangeArrowheads="1"/>
          </p:cNvSpPr>
          <p:nvPr/>
        </p:nvSpPr>
        <p:spPr bwMode="auto">
          <a:xfrm>
            <a:off x="3200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46091" name="Text Box 18"/>
          <p:cNvSpPr txBox="1">
            <a:spLocks noChangeArrowheads="1"/>
          </p:cNvSpPr>
          <p:nvPr/>
        </p:nvSpPr>
        <p:spPr bwMode="auto">
          <a:xfrm>
            <a:off x="25908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6092" name="Text Box 19"/>
          <p:cNvSpPr txBox="1">
            <a:spLocks noChangeArrowheads="1"/>
          </p:cNvSpPr>
          <p:nvPr/>
        </p:nvSpPr>
        <p:spPr bwMode="auto">
          <a:xfrm>
            <a:off x="1981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6093" name="Text Box 20"/>
          <p:cNvSpPr txBox="1">
            <a:spLocks noChangeArrowheads="1"/>
          </p:cNvSpPr>
          <p:nvPr/>
        </p:nvSpPr>
        <p:spPr bwMode="auto">
          <a:xfrm>
            <a:off x="13716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grpSp>
        <p:nvGrpSpPr>
          <p:cNvPr id="46094" name="Group 21"/>
          <p:cNvGrpSpPr>
            <a:grpSpLocks/>
          </p:cNvGrpSpPr>
          <p:nvPr/>
        </p:nvGrpSpPr>
        <p:grpSpPr bwMode="auto">
          <a:xfrm>
            <a:off x="4114800" y="1676400"/>
            <a:ext cx="4549775" cy="2006600"/>
            <a:chOff x="2592" y="1056"/>
            <a:chExt cx="2866" cy="1264"/>
          </a:xfrm>
        </p:grpSpPr>
        <p:sp>
          <p:nvSpPr>
            <p:cNvPr id="46096" name="Text Box 22"/>
            <p:cNvSpPr txBox="1">
              <a:spLocks noChangeArrowheads="1"/>
            </p:cNvSpPr>
            <p:nvPr/>
          </p:nvSpPr>
          <p:spPr bwMode="auto">
            <a:xfrm>
              <a:off x="3792" y="105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6097" name="Text Box 23"/>
            <p:cNvSpPr txBox="1">
              <a:spLocks noChangeArrowheads="1"/>
            </p:cNvSpPr>
            <p:nvPr/>
          </p:nvSpPr>
          <p:spPr bwMode="auto">
            <a:xfrm>
              <a:off x="4272" y="1536"/>
              <a:ext cx="466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[4,2]</a:t>
              </a:r>
            </a:p>
          </p:txBody>
        </p:sp>
        <p:sp>
          <p:nvSpPr>
            <p:cNvPr id="46098" name="Text Box 24"/>
            <p:cNvSpPr txBox="1">
              <a:spLocks noChangeArrowheads="1"/>
            </p:cNvSpPr>
            <p:nvPr/>
          </p:nvSpPr>
          <p:spPr bwMode="auto">
            <a:xfrm>
              <a:off x="3792" y="153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[3,3]</a:t>
              </a:r>
            </a:p>
          </p:txBody>
        </p:sp>
        <p:sp>
          <p:nvSpPr>
            <p:cNvPr id="46099" name="Text Box 25"/>
            <p:cNvSpPr txBox="1">
              <a:spLocks noChangeArrowheads="1"/>
            </p:cNvSpPr>
            <p:nvPr/>
          </p:nvSpPr>
          <p:spPr bwMode="auto">
            <a:xfrm>
              <a:off x="3312" y="153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6100" name="Line 26"/>
            <p:cNvSpPr>
              <a:spLocks noChangeShapeType="1"/>
            </p:cNvSpPr>
            <p:nvPr/>
          </p:nvSpPr>
          <p:spPr bwMode="auto">
            <a:xfrm flipH="1">
              <a:off x="3552" y="1296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01" name="Line 27"/>
            <p:cNvSpPr>
              <a:spLocks noChangeShapeType="1"/>
            </p:cNvSpPr>
            <p:nvPr/>
          </p:nvSpPr>
          <p:spPr bwMode="auto">
            <a:xfrm>
              <a:off x="4032" y="129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02" name="Line 28"/>
            <p:cNvSpPr>
              <a:spLocks noChangeShapeType="1"/>
            </p:cNvSpPr>
            <p:nvPr/>
          </p:nvSpPr>
          <p:spPr bwMode="auto">
            <a:xfrm>
              <a:off x="4032" y="1296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03" name="Text Box 29"/>
            <p:cNvSpPr txBox="1">
              <a:spLocks noChangeArrowheads="1"/>
            </p:cNvSpPr>
            <p:nvPr/>
          </p:nvSpPr>
          <p:spPr bwMode="auto">
            <a:xfrm>
              <a:off x="355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[3,3]</a:t>
              </a:r>
            </a:p>
          </p:txBody>
        </p:sp>
        <p:sp>
          <p:nvSpPr>
            <p:cNvPr id="46104" name="Text Box 30"/>
            <p:cNvSpPr txBox="1">
              <a:spLocks noChangeArrowheads="1"/>
            </p:cNvSpPr>
            <p:nvPr/>
          </p:nvSpPr>
          <p:spPr bwMode="auto">
            <a:xfrm>
              <a:off x="307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6105" name="Text Box 31"/>
            <p:cNvSpPr txBox="1">
              <a:spLocks noChangeArrowheads="1"/>
            </p:cNvSpPr>
            <p:nvPr/>
          </p:nvSpPr>
          <p:spPr bwMode="auto">
            <a:xfrm>
              <a:off x="403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[4,1]</a:t>
              </a:r>
            </a:p>
          </p:txBody>
        </p:sp>
        <p:sp>
          <p:nvSpPr>
            <p:cNvPr id="46106" name="Text Box 32"/>
            <p:cNvSpPr txBox="1">
              <a:spLocks noChangeArrowheads="1"/>
            </p:cNvSpPr>
            <p:nvPr/>
          </p:nvSpPr>
          <p:spPr bwMode="auto">
            <a:xfrm>
              <a:off x="4512" y="2064"/>
              <a:ext cx="466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[4,2]</a:t>
              </a:r>
            </a:p>
          </p:txBody>
        </p:sp>
        <p:sp>
          <p:nvSpPr>
            <p:cNvPr id="46107" name="Text Box 33"/>
            <p:cNvSpPr txBox="1">
              <a:spLocks noChangeArrowheads="1"/>
            </p:cNvSpPr>
            <p:nvPr/>
          </p:nvSpPr>
          <p:spPr bwMode="auto">
            <a:xfrm>
              <a:off x="4992" y="2064"/>
              <a:ext cx="466" cy="256"/>
            </a:xfrm>
            <a:prstGeom prst="rect">
              <a:avLst/>
            </a:prstGeom>
            <a:noFill/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8000"/>
                  </a:solidFill>
                  <a:latin typeface="Tahoma" pitchFamily="34" charset="0"/>
                </a:rPr>
                <a:t>[4,3]</a:t>
              </a:r>
            </a:p>
          </p:txBody>
        </p:sp>
        <p:sp>
          <p:nvSpPr>
            <p:cNvPr id="46108" name="Text Box 34"/>
            <p:cNvSpPr txBox="1">
              <a:spLocks noChangeArrowheads="1"/>
            </p:cNvSpPr>
            <p:nvPr/>
          </p:nvSpPr>
          <p:spPr bwMode="auto">
            <a:xfrm>
              <a:off x="259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[3,1]</a:t>
              </a:r>
            </a:p>
          </p:txBody>
        </p:sp>
        <p:sp>
          <p:nvSpPr>
            <p:cNvPr id="46109" name="Line 35"/>
            <p:cNvSpPr>
              <a:spLocks noChangeShapeType="1"/>
            </p:cNvSpPr>
            <p:nvPr/>
          </p:nvSpPr>
          <p:spPr bwMode="auto">
            <a:xfrm>
              <a:off x="3552" y="177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10" name="Line 36"/>
            <p:cNvSpPr>
              <a:spLocks noChangeShapeType="1"/>
            </p:cNvSpPr>
            <p:nvPr/>
          </p:nvSpPr>
          <p:spPr bwMode="auto">
            <a:xfrm flipH="1">
              <a:off x="2832" y="1776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11" name="Line 37"/>
            <p:cNvSpPr>
              <a:spLocks noChangeShapeType="1"/>
            </p:cNvSpPr>
            <p:nvPr/>
          </p:nvSpPr>
          <p:spPr bwMode="auto">
            <a:xfrm>
              <a:off x="3552" y="1776"/>
              <a:ext cx="115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12" name="Line 38"/>
            <p:cNvSpPr>
              <a:spLocks noChangeShapeType="1"/>
            </p:cNvSpPr>
            <p:nvPr/>
          </p:nvSpPr>
          <p:spPr bwMode="auto">
            <a:xfrm flipH="1">
              <a:off x="3792" y="177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13" name="Line 39"/>
            <p:cNvSpPr>
              <a:spLocks noChangeShapeType="1"/>
            </p:cNvSpPr>
            <p:nvPr/>
          </p:nvSpPr>
          <p:spPr bwMode="auto">
            <a:xfrm flipH="1">
              <a:off x="3360" y="1776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6114" name="Line 40"/>
            <p:cNvSpPr>
              <a:spLocks noChangeShapeType="1"/>
            </p:cNvSpPr>
            <p:nvPr/>
          </p:nvSpPr>
          <p:spPr bwMode="auto">
            <a:xfrm>
              <a:off x="4032" y="1776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</p:grpSp>
      <p:sp>
        <p:nvSpPr>
          <p:cNvPr id="46095" name="Rectangle 41"/>
          <p:cNvSpPr>
            <a:spLocks noChangeArrowheads="1"/>
          </p:cNvSpPr>
          <p:nvPr/>
        </p:nvSpPr>
        <p:spPr bwMode="auto">
          <a:xfrm>
            <a:off x="2438400" y="2286000"/>
            <a:ext cx="609600" cy="609600"/>
          </a:xfrm>
          <a:prstGeom prst="rect">
            <a:avLst/>
          </a:prstGeom>
          <a:solidFill>
            <a:srgbClr val="E0FFC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Optimal Action Sequence</a:t>
            </a:r>
          </a:p>
        </p:txBody>
      </p:sp>
      <p:grpSp>
        <p:nvGrpSpPr>
          <p:cNvPr id="47107" name="Group 3"/>
          <p:cNvGrpSpPr>
            <a:grpSpLocks/>
          </p:cNvGrpSpPr>
          <p:nvPr/>
        </p:nvGrpSpPr>
        <p:grpSpPr bwMode="auto">
          <a:xfrm>
            <a:off x="1219200" y="1676400"/>
            <a:ext cx="2438400" cy="1828800"/>
            <a:chOff x="960" y="1152"/>
            <a:chExt cx="1536" cy="1152"/>
          </a:xfrm>
        </p:grpSpPr>
        <p:sp>
          <p:nvSpPr>
            <p:cNvPr id="47140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47141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42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43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44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45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46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47108" name="Text Box 11"/>
          <p:cNvSpPr txBox="1">
            <a:spLocks noChangeArrowheads="1"/>
          </p:cNvSpPr>
          <p:nvPr/>
        </p:nvSpPr>
        <p:spPr bwMode="auto">
          <a:xfrm>
            <a:off x="3136900" y="2362200"/>
            <a:ext cx="41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ahoma" pitchFamily="34" charset="0"/>
              </a:rPr>
              <a:t>-1</a:t>
            </a:r>
          </a:p>
        </p:txBody>
      </p:sp>
      <p:sp>
        <p:nvSpPr>
          <p:cNvPr id="47109" name="Text Box 12"/>
          <p:cNvSpPr txBox="1">
            <a:spLocks noChangeArrowheads="1"/>
          </p:cNvSpPr>
          <p:nvPr/>
        </p:nvSpPr>
        <p:spPr bwMode="auto">
          <a:xfrm>
            <a:off x="3124200" y="1752600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009900"/>
                </a:solidFill>
                <a:latin typeface="Tahoma" pitchFamily="34" charset="0"/>
              </a:rPr>
              <a:t>+1</a:t>
            </a:r>
          </a:p>
        </p:txBody>
      </p:sp>
      <p:sp>
        <p:nvSpPr>
          <p:cNvPr id="47110" name="Text Box 13"/>
          <p:cNvSpPr txBox="1">
            <a:spLocks noChangeArrowheads="1"/>
          </p:cNvSpPr>
          <p:nvPr/>
        </p:nvSpPr>
        <p:spPr bwMode="auto">
          <a:xfrm>
            <a:off x="609600" y="4114800"/>
            <a:ext cx="7591425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Consider the action sequence (U,R) from [3,2]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A run produces one among 7 possible histories, each with some</a:t>
            </a:r>
            <a:br>
              <a:rPr lang="en-US">
                <a:latin typeface="Tahoma" pitchFamily="34" charset="0"/>
              </a:rPr>
            </a:br>
            <a:r>
              <a:rPr lang="en-US">
                <a:latin typeface="Tahoma" pitchFamily="34" charset="0"/>
              </a:rPr>
              <a:t>   probability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The utility of the sequence is the expected utility of the histories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The </a:t>
            </a:r>
            <a:r>
              <a:rPr lang="en-US">
                <a:solidFill>
                  <a:srgbClr val="2B51F3"/>
                </a:solidFill>
                <a:latin typeface="Tahoma" pitchFamily="34" charset="0"/>
              </a:rPr>
              <a:t>optimal sequence</a:t>
            </a:r>
            <a:r>
              <a:rPr lang="en-US">
                <a:latin typeface="Tahoma" pitchFamily="34" charset="0"/>
              </a:rPr>
              <a:t> is the one with maximal utility</a:t>
            </a:r>
          </a:p>
          <a:p>
            <a:pPr eaLnBrk="1" hangingPunct="1">
              <a:buFontTx/>
              <a:buChar char="•"/>
            </a:pPr>
            <a:r>
              <a:rPr lang="en-US">
                <a:latin typeface="Tahoma" pitchFamily="34" charset="0"/>
              </a:rPr>
              <a:t> </a:t>
            </a:r>
            <a:r>
              <a:rPr lang="en-US" b="1">
                <a:solidFill>
                  <a:srgbClr val="FF0000"/>
                </a:solidFill>
                <a:latin typeface="Tahoma" pitchFamily="34" charset="0"/>
              </a:rPr>
              <a:t>But is the optimal action sequence what we want to </a:t>
            </a:r>
            <a:br>
              <a:rPr lang="en-US" b="1">
                <a:solidFill>
                  <a:srgbClr val="FF0000"/>
                </a:solidFill>
                <a:latin typeface="Tahoma" pitchFamily="34" charset="0"/>
              </a:rPr>
            </a:br>
            <a:r>
              <a:rPr lang="en-US" b="1">
                <a:solidFill>
                  <a:srgbClr val="FF0000"/>
                </a:solidFill>
                <a:latin typeface="Tahoma" pitchFamily="34" charset="0"/>
              </a:rPr>
              <a:t>  compute?</a:t>
            </a:r>
          </a:p>
        </p:txBody>
      </p:sp>
      <p:sp>
        <p:nvSpPr>
          <p:cNvPr id="47111" name="Text Box 14"/>
          <p:cNvSpPr txBox="1">
            <a:spLocks noChangeArrowheads="1"/>
          </p:cNvSpPr>
          <p:nvPr/>
        </p:nvSpPr>
        <p:spPr bwMode="auto">
          <a:xfrm>
            <a:off x="8382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7112" name="Text Box 15"/>
          <p:cNvSpPr txBox="1">
            <a:spLocks noChangeArrowheads="1"/>
          </p:cNvSpPr>
          <p:nvPr/>
        </p:nvSpPr>
        <p:spPr bwMode="auto">
          <a:xfrm>
            <a:off x="8382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7113" name="Text Box 16"/>
          <p:cNvSpPr txBox="1">
            <a:spLocks noChangeArrowheads="1"/>
          </p:cNvSpPr>
          <p:nvPr/>
        </p:nvSpPr>
        <p:spPr bwMode="auto">
          <a:xfrm>
            <a:off x="8382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47114" name="Text Box 17"/>
          <p:cNvSpPr txBox="1">
            <a:spLocks noChangeArrowheads="1"/>
          </p:cNvSpPr>
          <p:nvPr/>
        </p:nvSpPr>
        <p:spPr bwMode="auto">
          <a:xfrm>
            <a:off x="3200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47115" name="Text Box 18"/>
          <p:cNvSpPr txBox="1">
            <a:spLocks noChangeArrowheads="1"/>
          </p:cNvSpPr>
          <p:nvPr/>
        </p:nvSpPr>
        <p:spPr bwMode="auto">
          <a:xfrm>
            <a:off x="25908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47116" name="Text Box 19"/>
          <p:cNvSpPr txBox="1">
            <a:spLocks noChangeArrowheads="1"/>
          </p:cNvSpPr>
          <p:nvPr/>
        </p:nvSpPr>
        <p:spPr bwMode="auto">
          <a:xfrm>
            <a:off x="1981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47117" name="Text Box 20"/>
          <p:cNvSpPr txBox="1">
            <a:spLocks noChangeArrowheads="1"/>
          </p:cNvSpPr>
          <p:nvPr/>
        </p:nvSpPr>
        <p:spPr bwMode="auto">
          <a:xfrm>
            <a:off x="13716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grpSp>
        <p:nvGrpSpPr>
          <p:cNvPr id="47118" name="Group 21"/>
          <p:cNvGrpSpPr>
            <a:grpSpLocks/>
          </p:cNvGrpSpPr>
          <p:nvPr/>
        </p:nvGrpSpPr>
        <p:grpSpPr bwMode="auto">
          <a:xfrm>
            <a:off x="4114800" y="1676400"/>
            <a:ext cx="4549775" cy="2006600"/>
            <a:chOff x="2592" y="1056"/>
            <a:chExt cx="2866" cy="1264"/>
          </a:xfrm>
        </p:grpSpPr>
        <p:sp>
          <p:nvSpPr>
            <p:cNvPr id="47121" name="Text Box 22"/>
            <p:cNvSpPr txBox="1">
              <a:spLocks noChangeArrowheads="1"/>
            </p:cNvSpPr>
            <p:nvPr/>
          </p:nvSpPr>
          <p:spPr bwMode="auto">
            <a:xfrm>
              <a:off x="3792" y="105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7122" name="Text Box 23"/>
            <p:cNvSpPr txBox="1">
              <a:spLocks noChangeArrowheads="1"/>
            </p:cNvSpPr>
            <p:nvPr/>
          </p:nvSpPr>
          <p:spPr bwMode="auto">
            <a:xfrm>
              <a:off x="4272" y="1536"/>
              <a:ext cx="466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[4,2]</a:t>
              </a:r>
            </a:p>
          </p:txBody>
        </p:sp>
        <p:sp>
          <p:nvSpPr>
            <p:cNvPr id="47123" name="Text Box 24"/>
            <p:cNvSpPr txBox="1">
              <a:spLocks noChangeArrowheads="1"/>
            </p:cNvSpPr>
            <p:nvPr/>
          </p:nvSpPr>
          <p:spPr bwMode="auto">
            <a:xfrm>
              <a:off x="3792" y="153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[3,3]</a:t>
              </a:r>
            </a:p>
          </p:txBody>
        </p:sp>
        <p:sp>
          <p:nvSpPr>
            <p:cNvPr id="47124" name="Text Box 25"/>
            <p:cNvSpPr txBox="1">
              <a:spLocks noChangeArrowheads="1"/>
            </p:cNvSpPr>
            <p:nvPr/>
          </p:nvSpPr>
          <p:spPr bwMode="auto">
            <a:xfrm>
              <a:off x="3312" y="1536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7125" name="Line 26"/>
            <p:cNvSpPr>
              <a:spLocks noChangeShapeType="1"/>
            </p:cNvSpPr>
            <p:nvPr/>
          </p:nvSpPr>
          <p:spPr bwMode="auto">
            <a:xfrm flipH="1">
              <a:off x="3552" y="1296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26" name="Line 27"/>
            <p:cNvSpPr>
              <a:spLocks noChangeShapeType="1"/>
            </p:cNvSpPr>
            <p:nvPr/>
          </p:nvSpPr>
          <p:spPr bwMode="auto">
            <a:xfrm>
              <a:off x="4032" y="129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27" name="Line 28"/>
            <p:cNvSpPr>
              <a:spLocks noChangeShapeType="1"/>
            </p:cNvSpPr>
            <p:nvPr/>
          </p:nvSpPr>
          <p:spPr bwMode="auto">
            <a:xfrm>
              <a:off x="4032" y="1296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28" name="Text Box 29"/>
            <p:cNvSpPr txBox="1">
              <a:spLocks noChangeArrowheads="1"/>
            </p:cNvSpPr>
            <p:nvPr/>
          </p:nvSpPr>
          <p:spPr bwMode="auto">
            <a:xfrm>
              <a:off x="355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[3,3]</a:t>
              </a:r>
            </a:p>
          </p:txBody>
        </p:sp>
        <p:sp>
          <p:nvSpPr>
            <p:cNvPr id="47129" name="Text Box 30"/>
            <p:cNvSpPr txBox="1">
              <a:spLocks noChangeArrowheads="1"/>
            </p:cNvSpPr>
            <p:nvPr/>
          </p:nvSpPr>
          <p:spPr bwMode="auto">
            <a:xfrm>
              <a:off x="307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[3,2]</a:t>
              </a:r>
            </a:p>
          </p:txBody>
        </p:sp>
        <p:sp>
          <p:nvSpPr>
            <p:cNvPr id="47130" name="Text Box 31"/>
            <p:cNvSpPr txBox="1">
              <a:spLocks noChangeArrowheads="1"/>
            </p:cNvSpPr>
            <p:nvPr/>
          </p:nvSpPr>
          <p:spPr bwMode="auto">
            <a:xfrm>
              <a:off x="403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[4,1]</a:t>
              </a:r>
            </a:p>
          </p:txBody>
        </p:sp>
        <p:sp>
          <p:nvSpPr>
            <p:cNvPr id="47131" name="Text Box 32"/>
            <p:cNvSpPr txBox="1">
              <a:spLocks noChangeArrowheads="1"/>
            </p:cNvSpPr>
            <p:nvPr/>
          </p:nvSpPr>
          <p:spPr bwMode="auto">
            <a:xfrm>
              <a:off x="4512" y="2064"/>
              <a:ext cx="466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[4,2]</a:t>
              </a:r>
            </a:p>
          </p:txBody>
        </p:sp>
        <p:sp>
          <p:nvSpPr>
            <p:cNvPr id="47132" name="Text Box 33"/>
            <p:cNvSpPr txBox="1">
              <a:spLocks noChangeArrowheads="1"/>
            </p:cNvSpPr>
            <p:nvPr/>
          </p:nvSpPr>
          <p:spPr bwMode="auto">
            <a:xfrm>
              <a:off x="4992" y="2064"/>
              <a:ext cx="466" cy="256"/>
            </a:xfrm>
            <a:prstGeom prst="rect">
              <a:avLst/>
            </a:prstGeom>
            <a:noFill/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8000"/>
                  </a:solidFill>
                  <a:latin typeface="Tahoma" pitchFamily="34" charset="0"/>
                </a:rPr>
                <a:t>[4,3]</a:t>
              </a:r>
            </a:p>
          </p:txBody>
        </p:sp>
        <p:sp>
          <p:nvSpPr>
            <p:cNvPr id="47133" name="Text Box 34"/>
            <p:cNvSpPr txBox="1">
              <a:spLocks noChangeArrowheads="1"/>
            </p:cNvSpPr>
            <p:nvPr/>
          </p:nvSpPr>
          <p:spPr bwMode="auto">
            <a:xfrm>
              <a:off x="2592" y="2064"/>
              <a:ext cx="46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[3,1]</a:t>
              </a:r>
            </a:p>
          </p:txBody>
        </p:sp>
        <p:sp>
          <p:nvSpPr>
            <p:cNvPr id="47134" name="Line 35"/>
            <p:cNvSpPr>
              <a:spLocks noChangeShapeType="1"/>
            </p:cNvSpPr>
            <p:nvPr/>
          </p:nvSpPr>
          <p:spPr bwMode="auto">
            <a:xfrm>
              <a:off x="3552" y="177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35" name="Line 36"/>
            <p:cNvSpPr>
              <a:spLocks noChangeShapeType="1"/>
            </p:cNvSpPr>
            <p:nvPr/>
          </p:nvSpPr>
          <p:spPr bwMode="auto">
            <a:xfrm flipH="1">
              <a:off x="2832" y="1776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36" name="Line 37"/>
            <p:cNvSpPr>
              <a:spLocks noChangeShapeType="1"/>
            </p:cNvSpPr>
            <p:nvPr/>
          </p:nvSpPr>
          <p:spPr bwMode="auto">
            <a:xfrm>
              <a:off x="3552" y="1776"/>
              <a:ext cx="115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37" name="Line 38"/>
            <p:cNvSpPr>
              <a:spLocks noChangeShapeType="1"/>
            </p:cNvSpPr>
            <p:nvPr/>
          </p:nvSpPr>
          <p:spPr bwMode="auto">
            <a:xfrm flipH="1">
              <a:off x="3792" y="177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38" name="Line 39"/>
            <p:cNvSpPr>
              <a:spLocks noChangeShapeType="1"/>
            </p:cNvSpPr>
            <p:nvPr/>
          </p:nvSpPr>
          <p:spPr bwMode="auto">
            <a:xfrm flipH="1">
              <a:off x="3360" y="1776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7139" name="Line 40"/>
            <p:cNvSpPr>
              <a:spLocks noChangeShapeType="1"/>
            </p:cNvSpPr>
            <p:nvPr/>
          </p:nvSpPr>
          <p:spPr bwMode="auto">
            <a:xfrm>
              <a:off x="4032" y="1776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</p:grpSp>
      <p:sp>
        <p:nvSpPr>
          <p:cNvPr id="47119" name="Rectangle 41"/>
          <p:cNvSpPr>
            <a:spLocks noChangeArrowheads="1"/>
          </p:cNvSpPr>
          <p:nvPr/>
        </p:nvSpPr>
        <p:spPr bwMode="auto">
          <a:xfrm>
            <a:off x="2438400" y="2286000"/>
            <a:ext cx="609600" cy="609600"/>
          </a:xfrm>
          <a:prstGeom prst="rect">
            <a:avLst/>
          </a:prstGeom>
          <a:solidFill>
            <a:srgbClr val="E0FFC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28747" name="Text Box 43"/>
          <p:cNvSpPr txBox="1">
            <a:spLocks noChangeArrowheads="1"/>
          </p:cNvSpPr>
          <p:nvPr/>
        </p:nvSpPr>
        <p:spPr bwMode="auto">
          <a:xfrm>
            <a:off x="3276600" y="6096000"/>
            <a:ext cx="5672138" cy="466725"/>
          </a:xfrm>
          <a:prstGeom prst="rect">
            <a:avLst/>
          </a:prstGeom>
          <a:solidFill>
            <a:srgbClr val="FFF5EB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sz="2400">
                <a:solidFill>
                  <a:srgbClr val="FF0000"/>
                </a:solidFill>
                <a:latin typeface="Tahoma" pitchFamily="34" charset="0"/>
              </a:rPr>
              <a:t>only if the sequence is executed blindly!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4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09800" y="1905000"/>
            <a:ext cx="5819775" cy="1295400"/>
            <a:chOff x="1392" y="1200"/>
            <a:chExt cx="3666" cy="816"/>
          </a:xfrm>
        </p:grpSpPr>
        <p:sp>
          <p:nvSpPr>
            <p:cNvPr id="48133" name="Oval 3"/>
            <p:cNvSpPr>
              <a:spLocks noChangeArrowheads="1"/>
            </p:cNvSpPr>
            <p:nvPr/>
          </p:nvSpPr>
          <p:spPr bwMode="auto">
            <a:xfrm>
              <a:off x="1392" y="1632"/>
              <a:ext cx="1632" cy="384"/>
            </a:xfrm>
            <a:prstGeom prst="ellipse">
              <a:avLst/>
            </a:prstGeom>
            <a:solidFill>
              <a:srgbClr val="E0FFC1"/>
            </a:solidFill>
            <a:ln w="952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48134" name="Line 4"/>
            <p:cNvSpPr>
              <a:spLocks noChangeShapeType="1"/>
            </p:cNvSpPr>
            <p:nvPr/>
          </p:nvSpPr>
          <p:spPr bwMode="auto">
            <a:xfrm flipV="1">
              <a:off x="2784" y="1392"/>
              <a:ext cx="864" cy="288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8135" name="Text Box 5"/>
            <p:cNvSpPr txBox="1">
              <a:spLocks noChangeArrowheads="1"/>
            </p:cNvSpPr>
            <p:nvPr/>
          </p:nvSpPr>
          <p:spPr bwMode="auto">
            <a:xfrm>
              <a:off x="3552" y="1200"/>
              <a:ext cx="1506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sz="2400">
                  <a:solidFill>
                    <a:srgbClr val="008000"/>
                  </a:solidFill>
                  <a:latin typeface="Tahoma" pitchFamily="34" charset="0"/>
                </a:rPr>
                <a:t>Accessible or</a:t>
              </a:r>
            </a:p>
            <a:p>
              <a:pPr algn="ctr" eaLnBrk="1" hangingPunct="1"/>
              <a:r>
                <a:rPr lang="en-US" sz="2400">
                  <a:solidFill>
                    <a:srgbClr val="008000"/>
                  </a:solidFill>
                  <a:latin typeface="Tahoma" pitchFamily="34" charset="0"/>
                </a:rPr>
                <a:t>observable state</a:t>
              </a:r>
            </a:p>
          </p:txBody>
        </p:sp>
      </p:grpSp>
      <p:sp>
        <p:nvSpPr>
          <p:cNvPr id="48131" name="Text Box 6"/>
          <p:cNvSpPr txBox="1">
            <a:spLocks noChangeArrowheads="1"/>
          </p:cNvSpPr>
          <p:nvPr/>
        </p:nvSpPr>
        <p:spPr bwMode="auto">
          <a:xfrm>
            <a:off x="990600" y="1981200"/>
            <a:ext cx="5672138" cy="328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3200">
                <a:latin typeface="Tahoma" pitchFamily="34" charset="0"/>
              </a:rPr>
              <a:t>Repeat: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sz="3200">
                <a:solidFill>
                  <a:srgbClr val="008000"/>
                </a:solidFill>
                <a:latin typeface="Tahoma" pitchFamily="34" charset="0"/>
              </a:rPr>
              <a:t>s </a:t>
            </a:r>
            <a:r>
              <a:rPr lang="en-US" sz="3200">
                <a:latin typeface="Tahoma" pitchFamily="34" charset="0"/>
                <a:sym typeface="Wingdings" pitchFamily="2" charset="2"/>
              </a:rPr>
              <a:t> </a:t>
            </a:r>
            <a:r>
              <a:rPr lang="en-US" sz="3200">
                <a:latin typeface="Tahoma" pitchFamily="34" charset="0"/>
              </a:rPr>
              <a:t>sensed state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sz="3200">
                <a:latin typeface="Tahoma" pitchFamily="34" charset="0"/>
              </a:rPr>
              <a:t>If </a:t>
            </a:r>
            <a:r>
              <a:rPr lang="en-US" sz="3200">
                <a:solidFill>
                  <a:srgbClr val="008000"/>
                </a:solidFill>
                <a:latin typeface="Tahoma" pitchFamily="34" charset="0"/>
              </a:rPr>
              <a:t>s</a:t>
            </a:r>
            <a:r>
              <a:rPr lang="en-US" sz="3200">
                <a:latin typeface="Tahoma" pitchFamily="34" charset="0"/>
              </a:rPr>
              <a:t> is terminal then exit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sz="3200">
                <a:solidFill>
                  <a:srgbClr val="990000"/>
                </a:solidFill>
                <a:latin typeface="Tahoma" pitchFamily="34" charset="0"/>
              </a:rPr>
              <a:t>a</a:t>
            </a:r>
            <a:r>
              <a:rPr lang="en-US" sz="3200">
                <a:latin typeface="Tahoma" pitchFamily="34" charset="0"/>
              </a:rPr>
              <a:t> </a:t>
            </a:r>
            <a:r>
              <a:rPr lang="en-US" sz="3200">
                <a:latin typeface="Tahoma" pitchFamily="34" charset="0"/>
                <a:sym typeface="Wingdings" pitchFamily="2" charset="2"/>
              </a:rPr>
              <a:t></a:t>
            </a:r>
            <a:r>
              <a:rPr lang="en-US" sz="3200">
                <a:latin typeface="Tahoma" pitchFamily="34" charset="0"/>
              </a:rPr>
              <a:t> choose action (given </a:t>
            </a:r>
            <a:r>
              <a:rPr lang="en-US" sz="3200">
                <a:solidFill>
                  <a:srgbClr val="008000"/>
                </a:solidFill>
                <a:latin typeface="Tahoma" pitchFamily="34" charset="0"/>
              </a:rPr>
              <a:t>s</a:t>
            </a:r>
            <a:r>
              <a:rPr lang="en-US" sz="3200">
                <a:latin typeface="Tahoma" pitchFamily="34" charset="0"/>
              </a:rPr>
              <a:t>)</a:t>
            </a:r>
            <a:endParaRPr lang="en-US" sz="3200">
              <a:solidFill>
                <a:srgbClr val="008000"/>
              </a:solidFill>
              <a:latin typeface="Tahoma" pitchFamily="34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sz="3200">
                <a:latin typeface="Tahoma" pitchFamily="34" charset="0"/>
              </a:rPr>
              <a:t>Perform </a:t>
            </a:r>
            <a:r>
              <a:rPr lang="en-US" sz="3200">
                <a:solidFill>
                  <a:srgbClr val="990000"/>
                </a:solidFill>
                <a:latin typeface="Tahoma" pitchFamily="34" charset="0"/>
              </a:rPr>
              <a:t>a</a:t>
            </a:r>
          </a:p>
          <a:p>
            <a:pPr marL="457200" indent="-457200" eaLnBrk="1" hangingPunct="1"/>
            <a:endParaRPr lang="en-US" sz="2400">
              <a:latin typeface="Tahoma" pitchFamily="34" charset="0"/>
            </a:endParaRPr>
          </a:p>
        </p:txBody>
      </p:sp>
      <p:sp>
        <p:nvSpPr>
          <p:cNvPr id="329735" name="Rectangle 7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Reactive Agent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Policy </a:t>
            </a:r>
            <a:r>
              <a:rPr 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(Reactive/Closed-Loop Strategy)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838200" y="4114800"/>
            <a:ext cx="793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>
                <a:latin typeface="Tahoma" pitchFamily="34" charset="0"/>
              </a:rPr>
              <a:t> A </a:t>
            </a:r>
            <a:r>
              <a:rPr lang="en-US" sz="2400">
                <a:solidFill>
                  <a:srgbClr val="990000"/>
                </a:solidFill>
                <a:latin typeface="Tahoma" pitchFamily="34" charset="0"/>
              </a:rPr>
              <a:t>policy </a:t>
            </a:r>
            <a:r>
              <a:rPr lang="en-US" sz="2400">
                <a:solidFill>
                  <a:srgbClr val="990000"/>
                </a:solidFill>
                <a:latin typeface="Symbol" pitchFamily="18" charset="2"/>
              </a:rPr>
              <a:t>P</a:t>
            </a:r>
            <a:r>
              <a:rPr lang="en-US" sz="2400">
                <a:latin typeface="Tahoma" pitchFamily="34" charset="0"/>
              </a:rPr>
              <a:t> is a complete mapping from states to actions</a:t>
            </a:r>
          </a:p>
        </p:txBody>
      </p:sp>
      <p:grpSp>
        <p:nvGrpSpPr>
          <p:cNvPr id="49156" name="Group 4"/>
          <p:cNvGrpSpPr>
            <a:grpSpLocks/>
          </p:cNvGrpSpPr>
          <p:nvPr/>
        </p:nvGrpSpPr>
        <p:grpSpPr bwMode="auto">
          <a:xfrm>
            <a:off x="2971800" y="1676400"/>
            <a:ext cx="2819400" cy="2225675"/>
            <a:chOff x="1872" y="1056"/>
            <a:chExt cx="1776" cy="1402"/>
          </a:xfrm>
        </p:grpSpPr>
        <p:grpSp>
          <p:nvGrpSpPr>
            <p:cNvPr id="49157" name="Group 5"/>
            <p:cNvGrpSpPr>
              <a:grpSpLocks/>
            </p:cNvGrpSpPr>
            <p:nvPr/>
          </p:nvGrpSpPr>
          <p:grpSpPr bwMode="auto">
            <a:xfrm>
              <a:off x="2112" y="1056"/>
              <a:ext cx="1536" cy="1152"/>
              <a:chOff x="960" y="1152"/>
              <a:chExt cx="1536" cy="1152"/>
            </a:xfrm>
          </p:grpSpPr>
          <p:sp>
            <p:nvSpPr>
              <p:cNvPr id="49176" name="Rectangle 6"/>
              <p:cNvSpPr>
                <a:spLocks noChangeArrowheads="1"/>
              </p:cNvSpPr>
              <p:nvPr/>
            </p:nvSpPr>
            <p:spPr bwMode="auto">
              <a:xfrm>
                <a:off x="960" y="1152"/>
                <a:ext cx="1536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9177" name="Line 7"/>
              <p:cNvSpPr>
                <a:spLocks noChangeShapeType="1"/>
              </p:cNvSpPr>
              <p:nvPr/>
            </p:nvSpPr>
            <p:spPr bwMode="auto">
              <a:xfrm>
                <a:off x="1344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9178" name="Line 8"/>
              <p:cNvSpPr>
                <a:spLocks noChangeShapeType="1"/>
              </p:cNvSpPr>
              <p:nvPr/>
            </p:nvSpPr>
            <p:spPr bwMode="auto">
              <a:xfrm>
                <a:off x="1728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9179" name="Line 9"/>
              <p:cNvSpPr>
                <a:spLocks noChangeShapeType="1"/>
              </p:cNvSpPr>
              <p:nvPr/>
            </p:nvSpPr>
            <p:spPr bwMode="auto">
              <a:xfrm>
                <a:off x="2112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9180" name="Line 10"/>
              <p:cNvSpPr>
                <a:spLocks noChangeShapeType="1"/>
              </p:cNvSpPr>
              <p:nvPr/>
            </p:nvSpPr>
            <p:spPr bwMode="auto">
              <a:xfrm>
                <a:off x="960" y="1536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9181" name="Line 1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49182" name="Rectangle 12"/>
              <p:cNvSpPr>
                <a:spLocks noChangeArrowheads="1"/>
              </p:cNvSpPr>
              <p:nvPr/>
            </p:nvSpPr>
            <p:spPr bwMode="auto">
              <a:xfrm>
                <a:off x="1344" y="1536"/>
                <a:ext cx="384" cy="38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49158" name="Text Box 13"/>
            <p:cNvSpPr txBox="1">
              <a:spLocks noChangeArrowheads="1"/>
            </p:cNvSpPr>
            <p:nvPr/>
          </p:nvSpPr>
          <p:spPr bwMode="auto">
            <a:xfrm>
              <a:off x="3320" y="1488"/>
              <a:ext cx="2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-1</a:t>
              </a:r>
            </a:p>
          </p:txBody>
        </p:sp>
        <p:sp>
          <p:nvSpPr>
            <p:cNvPr id="49159" name="Text Box 14"/>
            <p:cNvSpPr txBox="1">
              <a:spLocks noChangeArrowheads="1"/>
            </p:cNvSpPr>
            <p:nvPr/>
          </p:nvSpPr>
          <p:spPr bwMode="auto">
            <a:xfrm>
              <a:off x="3312" y="1104"/>
              <a:ext cx="31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9900"/>
                  </a:solidFill>
                  <a:latin typeface="Tahoma" pitchFamily="34" charset="0"/>
                </a:rPr>
                <a:t>+1</a:t>
              </a:r>
            </a:p>
          </p:txBody>
        </p:sp>
        <p:sp>
          <p:nvSpPr>
            <p:cNvPr id="49160" name="Text Box 15"/>
            <p:cNvSpPr txBox="1">
              <a:spLocks noChangeArrowheads="1"/>
            </p:cNvSpPr>
            <p:nvPr/>
          </p:nvSpPr>
          <p:spPr bwMode="auto">
            <a:xfrm>
              <a:off x="1872" y="153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49161" name="Text Box 16"/>
            <p:cNvSpPr txBox="1">
              <a:spLocks noChangeArrowheads="1"/>
            </p:cNvSpPr>
            <p:nvPr/>
          </p:nvSpPr>
          <p:spPr bwMode="auto">
            <a:xfrm>
              <a:off x="1872" y="115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49162" name="Text Box 17"/>
            <p:cNvSpPr txBox="1">
              <a:spLocks noChangeArrowheads="1"/>
            </p:cNvSpPr>
            <p:nvPr/>
          </p:nvSpPr>
          <p:spPr bwMode="auto">
            <a:xfrm>
              <a:off x="1872" y="187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49163" name="Text Box 18"/>
            <p:cNvSpPr txBox="1">
              <a:spLocks noChangeArrowheads="1"/>
            </p:cNvSpPr>
            <p:nvPr/>
          </p:nvSpPr>
          <p:spPr bwMode="auto">
            <a:xfrm>
              <a:off x="3360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4</a:t>
              </a:r>
            </a:p>
          </p:txBody>
        </p:sp>
        <p:sp>
          <p:nvSpPr>
            <p:cNvPr id="49164" name="Text Box 19"/>
            <p:cNvSpPr txBox="1">
              <a:spLocks noChangeArrowheads="1"/>
            </p:cNvSpPr>
            <p:nvPr/>
          </p:nvSpPr>
          <p:spPr bwMode="auto">
            <a:xfrm>
              <a:off x="2976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49165" name="Text Box 20"/>
            <p:cNvSpPr txBox="1">
              <a:spLocks noChangeArrowheads="1"/>
            </p:cNvSpPr>
            <p:nvPr/>
          </p:nvSpPr>
          <p:spPr bwMode="auto">
            <a:xfrm>
              <a:off x="2592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49166" name="Text Box 21"/>
            <p:cNvSpPr txBox="1">
              <a:spLocks noChangeArrowheads="1"/>
            </p:cNvSpPr>
            <p:nvPr/>
          </p:nvSpPr>
          <p:spPr bwMode="auto">
            <a:xfrm>
              <a:off x="2208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49167" name="Line 22"/>
            <p:cNvSpPr>
              <a:spLocks noChangeShapeType="1"/>
            </p:cNvSpPr>
            <p:nvPr/>
          </p:nvSpPr>
          <p:spPr bwMode="auto">
            <a:xfrm>
              <a:off x="2208" y="12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9168" name="Line 23"/>
            <p:cNvSpPr>
              <a:spLocks noChangeShapeType="1"/>
            </p:cNvSpPr>
            <p:nvPr/>
          </p:nvSpPr>
          <p:spPr bwMode="auto">
            <a:xfrm>
              <a:off x="2592" y="12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9169" name="Line 24"/>
            <p:cNvSpPr>
              <a:spLocks noChangeShapeType="1"/>
            </p:cNvSpPr>
            <p:nvPr/>
          </p:nvSpPr>
          <p:spPr bwMode="auto">
            <a:xfrm>
              <a:off x="2976" y="12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9170" name="Line 25"/>
            <p:cNvSpPr>
              <a:spLocks noChangeShapeType="1"/>
            </p:cNvSpPr>
            <p:nvPr/>
          </p:nvSpPr>
          <p:spPr bwMode="auto">
            <a:xfrm rot="10800000">
              <a:off x="3312" y="20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9171" name="Line 26"/>
            <p:cNvSpPr>
              <a:spLocks noChangeShapeType="1"/>
            </p:cNvSpPr>
            <p:nvPr/>
          </p:nvSpPr>
          <p:spPr bwMode="auto">
            <a:xfrm rot="-5400000">
              <a:off x="2184" y="19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9172" name="Line 27"/>
            <p:cNvSpPr>
              <a:spLocks noChangeShapeType="1"/>
            </p:cNvSpPr>
            <p:nvPr/>
          </p:nvSpPr>
          <p:spPr bwMode="auto">
            <a:xfrm rot="-5400000">
              <a:off x="2952" y="16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9173" name="Line 28"/>
            <p:cNvSpPr>
              <a:spLocks noChangeShapeType="1"/>
            </p:cNvSpPr>
            <p:nvPr/>
          </p:nvSpPr>
          <p:spPr bwMode="auto">
            <a:xfrm rot="-5400000">
              <a:off x="2184" y="16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9174" name="Line 29"/>
            <p:cNvSpPr>
              <a:spLocks noChangeShapeType="1"/>
            </p:cNvSpPr>
            <p:nvPr/>
          </p:nvSpPr>
          <p:spPr bwMode="auto">
            <a:xfrm rot="10800000">
              <a:off x="2928" y="20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49175" name="Line 30"/>
            <p:cNvSpPr>
              <a:spLocks noChangeShapeType="1"/>
            </p:cNvSpPr>
            <p:nvPr/>
          </p:nvSpPr>
          <p:spPr bwMode="auto">
            <a:xfrm rot="10800000">
              <a:off x="2544" y="20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990600" y="1981200"/>
            <a:ext cx="4930775" cy="328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3200">
                <a:latin typeface="Tahoma" pitchFamily="34" charset="0"/>
              </a:rPr>
              <a:t>Repeat: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sz="3200">
                <a:solidFill>
                  <a:srgbClr val="008000"/>
                </a:solidFill>
                <a:latin typeface="Tahoma" pitchFamily="34" charset="0"/>
              </a:rPr>
              <a:t>s </a:t>
            </a:r>
            <a:r>
              <a:rPr lang="en-US" sz="3200">
                <a:latin typeface="Tahoma" pitchFamily="34" charset="0"/>
                <a:sym typeface="Wingdings" pitchFamily="2" charset="2"/>
              </a:rPr>
              <a:t> </a:t>
            </a:r>
            <a:r>
              <a:rPr lang="en-US" sz="3200">
                <a:latin typeface="Tahoma" pitchFamily="34" charset="0"/>
              </a:rPr>
              <a:t>sensed state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sz="3200">
                <a:latin typeface="Tahoma" pitchFamily="34" charset="0"/>
              </a:rPr>
              <a:t>If </a:t>
            </a:r>
            <a:r>
              <a:rPr lang="en-US" sz="3200">
                <a:solidFill>
                  <a:srgbClr val="008000"/>
                </a:solidFill>
                <a:latin typeface="Tahoma" pitchFamily="34" charset="0"/>
              </a:rPr>
              <a:t>s</a:t>
            </a:r>
            <a:r>
              <a:rPr lang="en-US" sz="3200">
                <a:latin typeface="Tahoma" pitchFamily="34" charset="0"/>
              </a:rPr>
              <a:t> is terminal then exit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sz="3200">
                <a:solidFill>
                  <a:srgbClr val="990000"/>
                </a:solidFill>
                <a:latin typeface="Tahoma" pitchFamily="34" charset="0"/>
              </a:rPr>
              <a:t>a</a:t>
            </a:r>
            <a:r>
              <a:rPr lang="en-US" sz="3200">
                <a:latin typeface="Tahoma" pitchFamily="34" charset="0"/>
              </a:rPr>
              <a:t> </a:t>
            </a:r>
            <a:r>
              <a:rPr lang="en-US" sz="3200">
                <a:latin typeface="Tahoma" pitchFamily="34" charset="0"/>
                <a:sym typeface="Wingdings" pitchFamily="2" charset="2"/>
              </a:rPr>
              <a:t></a:t>
            </a:r>
            <a:r>
              <a:rPr lang="en-US" sz="3200">
                <a:latin typeface="Tahoma" pitchFamily="34" charset="0"/>
              </a:rPr>
              <a:t> </a:t>
            </a:r>
            <a:r>
              <a:rPr lang="en-US" sz="3200">
                <a:latin typeface="Symbol" pitchFamily="18" charset="2"/>
              </a:rPr>
              <a:t>P</a:t>
            </a:r>
            <a:r>
              <a:rPr lang="en-US" sz="3200">
                <a:latin typeface="Tahoma" pitchFamily="34" charset="0"/>
              </a:rPr>
              <a:t>(</a:t>
            </a:r>
            <a:r>
              <a:rPr lang="en-US" sz="3200">
                <a:solidFill>
                  <a:srgbClr val="008000"/>
                </a:solidFill>
                <a:latin typeface="Tahoma" pitchFamily="34" charset="0"/>
              </a:rPr>
              <a:t>s</a:t>
            </a:r>
            <a:r>
              <a:rPr lang="en-US" sz="3200">
                <a:latin typeface="Tahoma" pitchFamily="34" charset="0"/>
              </a:rPr>
              <a:t>)</a:t>
            </a:r>
            <a:endParaRPr lang="en-US" sz="3200">
              <a:solidFill>
                <a:srgbClr val="008000"/>
              </a:solidFill>
              <a:latin typeface="Tahoma" pitchFamily="34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sz="3200">
                <a:latin typeface="Tahoma" pitchFamily="34" charset="0"/>
              </a:rPr>
              <a:t>Perform </a:t>
            </a:r>
            <a:r>
              <a:rPr lang="en-US" sz="3200">
                <a:solidFill>
                  <a:srgbClr val="990000"/>
                </a:solidFill>
                <a:latin typeface="Tahoma" pitchFamily="34" charset="0"/>
              </a:rPr>
              <a:t>a</a:t>
            </a:r>
          </a:p>
          <a:p>
            <a:pPr marL="457200" indent="-457200" eaLnBrk="1" hangingPunct="1"/>
            <a:endParaRPr lang="en-US" sz="2400">
              <a:latin typeface="Tahoma" pitchFamily="34" charset="0"/>
            </a:endParaRPr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Reactive Agent Algorithm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Optimal Policy</a:t>
            </a:r>
            <a:endParaRPr 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1203" name="Group 3"/>
          <p:cNvGrpSpPr>
            <a:grpSpLocks/>
          </p:cNvGrpSpPr>
          <p:nvPr/>
        </p:nvGrpSpPr>
        <p:grpSpPr bwMode="auto">
          <a:xfrm>
            <a:off x="3352800" y="1676400"/>
            <a:ext cx="2438400" cy="1828800"/>
            <a:chOff x="960" y="1152"/>
            <a:chExt cx="1536" cy="1152"/>
          </a:xfrm>
        </p:grpSpPr>
        <p:sp>
          <p:nvSpPr>
            <p:cNvPr id="51231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51232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1233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1234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1235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1236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1237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51204" name="Text Box 11"/>
          <p:cNvSpPr txBox="1">
            <a:spLocks noChangeArrowheads="1"/>
          </p:cNvSpPr>
          <p:nvPr/>
        </p:nvSpPr>
        <p:spPr bwMode="auto">
          <a:xfrm>
            <a:off x="5270500" y="2362200"/>
            <a:ext cx="41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ahoma" pitchFamily="34" charset="0"/>
              </a:rPr>
              <a:t>-1</a:t>
            </a:r>
          </a:p>
        </p:txBody>
      </p:sp>
      <p:sp>
        <p:nvSpPr>
          <p:cNvPr id="51205" name="Text Box 12"/>
          <p:cNvSpPr txBox="1">
            <a:spLocks noChangeArrowheads="1"/>
          </p:cNvSpPr>
          <p:nvPr/>
        </p:nvSpPr>
        <p:spPr bwMode="auto">
          <a:xfrm>
            <a:off x="5257800" y="1752600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009900"/>
                </a:solidFill>
                <a:latin typeface="Tahoma" pitchFamily="34" charset="0"/>
              </a:rPr>
              <a:t>+1</a:t>
            </a:r>
          </a:p>
        </p:txBody>
      </p:sp>
      <p:sp>
        <p:nvSpPr>
          <p:cNvPr id="51206" name="Text Box 13"/>
          <p:cNvSpPr txBox="1">
            <a:spLocks noChangeArrowheads="1"/>
          </p:cNvSpPr>
          <p:nvPr/>
        </p:nvSpPr>
        <p:spPr bwMode="auto">
          <a:xfrm>
            <a:off x="838200" y="4114800"/>
            <a:ext cx="79375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>
                <a:latin typeface="Tahoma" pitchFamily="34" charset="0"/>
              </a:rPr>
              <a:t> A </a:t>
            </a:r>
            <a:r>
              <a:rPr lang="en-US" sz="2400">
                <a:solidFill>
                  <a:srgbClr val="990000"/>
                </a:solidFill>
                <a:latin typeface="Tahoma" pitchFamily="34" charset="0"/>
              </a:rPr>
              <a:t>policy </a:t>
            </a:r>
            <a:r>
              <a:rPr lang="en-US" sz="2400">
                <a:solidFill>
                  <a:srgbClr val="990000"/>
                </a:solidFill>
                <a:latin typeface="Symbol" pitchFamily="18" charset="2"/>
              </a:rPr>
              <a:t>P</a:t>
            </a:r>
            <a:r>
              <a:rPr lang="en-US" sz="2400">
                <a:latin typeface="Tahoma" pitchFamily="34" charset="0"/>
              </a:rPr>
              <a:t> is a complete mapping from states to actions</a:t>
            </a:r>
          </a:p>
          <a:p>
            <a:pPr eaLnBrk="1" hangingPunct="1">
              <a:buFontTx/>
              <a:buChar char="•"/>
            </a:pPr>
            <a:r>
              <a:rPr lang="en-US" sz="2400">
                <a:latin typeface="Tahoma" pitchFamily="34" charset="0"/>
              </a:rPr>
              <a:t> The </a:t>
            </a:r>
            <a:r>
              <a:rPr lang="en-US" sz="2400">
                <a:solidFill>
                  <a:srgbClr val="990000"/>
                </a:solidFill>
                <a:latin typeface="Tahoma" pitchFamily="34" charset="0"/>
              </a:rPr>
              <a:t>optimal policy</a:t>
            </a:r>
            <a:r>
              <a:rPr lang="en-US" sz="2400">
                <a:latin typeface="Tahoma" pitchFamily="34" charset="0"/>
              </a:rPr>
              <a:t> </a:t>
            </a:r>
            <a:r>
              <a:rPr lang="en-US" sz="2400">
                <a:solidFill>
                  <a:srgbClr val="990000"/>
                </a:solidFill>
                <a:latin typeface="Symbol" pitchFamily="18" charset="2"/>
              </a:rPr>
              <a:t>P</a:t>
            </a:r>
            <a:r>
              <a:rPr lang="en-US" sz="2400">
                <a:solidFill>
                  <a:srgbClr val="990000"/>
                </a:solidFill>
                <a:latin typeface="Tahoma" pitchFamily="34" charset="0"/>
              </a:rPr>
              <a:t>*</a:t>
            </a:r>
            <a:r>
              <a:rPr lang="en-US" sz="2400">
                <a:latin typeface="Tahoma" pitchFamily="34" charset="0"/>
              </a:rPr>
              <a:t> is the one that always yields a </a:t>
            </a:r>
            <a:br>
              <a:rPr lang="en-US" sz="2400">
                <a:latin typeface="Tahoma" pitchFamily="34" charset="0"/>
              </a:rPr>
            </a:br>
            <a:r>
              <a:rPr lang="en-US" sz="2400">
                <a:latin typeface="Tahoma" pitchFamily="34" charset="0"/>
              </a:rPr>
              <a:t>   history (ending at a terminal state) with maximal </a:t>
            </a:r>
          </a:p>
          <a:p>
            <a:pPr eaLnBrk="1" hangingPunct="1"/>
            <a:r>
              <a:rPr lang="en-US" sz="2400">
                <a:latin typeface="Tahoma" pitchFamily="34" charset="0"/>
              </a:rPr>
              <a:t>   expected utility</a:t>
            </a:r>
          </a:p>
        </p:txBody>
      </p:sp>
      <p:sp>
        <p:nvSpPr>
          <p:cNvPr id="51207" name="Text Box 14"/>
          <p:cNvSpPr txBox="1">
            <a:spLocks noChangeArrowheads="1"/>
          </p:cNvSpPr>
          <p:nvPr/>
        </p:nvSpPr>
        <p:spPr bwMode="auto">
          <a:xfrm>
            <a:off x="29718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51208" name="Text Box 15"/>
          <p:cNvSpPr txBox="1">
            <a:spLocks noChangeArrowheads="1"/>
          </p:cNvSpPr>
          <p:nvPr/>
        </p:nvSpPr>
        <p:spPr bwMode="auto">
          <a:xfrm>
            <a:off x="29718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51209" name="Text Box 16"/>
          <p:cNvSpPr txBox="1">
            <a:spLocks noChangeArrowheads="1"/>
          </p:cNvSpPr>
          <p:nvPr/>
        </p:nvSpPr>
        <p:spPr bwMode="auto">
          <a:xfrm>
            <a:off x="29718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51210" name="Text Box 17"/>
          <p:cNvSpPr txBox="1">
            <a:spLocks noChangeArrowheads="1"/>
          </p:cNvSpPr>
          <p:nvPr/>
        </p:nvSpPr>
        <p:spPr bwMode="auto">
          <a:xfrm>
            <a:off x="53340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51211" name="Text Box 18"/>
          <p:cNvSpPr txBox="1">
            <a:spLocks noChangeArrowheads="1"/>
          </p:cNvSpPr>
          <p:nvPr/>
        </p:nvSpPr>
        <p:spPr bwMode="auto">
          <a:xfrm>
            <a:off x="4724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51212" name="Text Box 19"/>
          <p:cNvSpPr txBox="1">
            <a:spLocks noChangeArrowheads="1"/>
          </p:cNvSpPr>
          <p:nvPr/>
        </p:nvSpPr>
        <p:spPr bwMode="auto">
          <a:xfrm>
            <a:off x="41148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51213" name="Text Box 20"/>
          <p:cNvSpPr txBox="1">
            <a:spLocks noChangeArrowheads="1"/>
          </p:cNvSpPr>
          <p:nvPr/>
        </p:nvSpPr>
        <p:spPr bwMode="auto">
          <a:xfrm>
            <a:off x="3505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51214" name="Line 21"/>
          <p:cNvSpPr>
            <a:spLocks noChangeShapeType="1"/>
          </p:cNvSpPr>
          <p:nvPr/>
        </p:nvSpPr>
        <p:spPr bwMode="auto">
          <a:xfrm>
            <a:off x="3505200" y="198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1215" name="Line 22"/>
          <p:cNvSpPr>
            <a:spLocks noChangeShapeType="1"/>
          </p:cNvSpPr>
          <p:nvPr/>
        </p:nvSpPr>
        <p:spPr bwMode="auto">
          <a:xfrm>
            <a:off x="4114800" y="198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1216" name="Line 23"/>
          <p:cNvSpPr>
            <a:spLocks noChangeShapeType="1"/>
          </p:cNvSpPr>
          <p:nvPr/>
        </p:nvSpPr>
        <p:spPr bwMode="auto">
          <a:xfrm>
            <a:off x="4724400" y="198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1217" name="Line 24"/>
          <p:cNvSpPr>
            <a:spLocks noChangeShapeType="1"/>
          </p:cNvSpPr>
          <p:nvPr/>
        </p:nvSpPr>
        <p:spPr bwMode="auto">
          <a:xfrm rot="10800000">
            <a:off x="5257800" y="3200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1218" name="Line 25"/>
          <p:cNvSpPr>
            <a:spLocks noChangeShapeType="1"/>
          </p:cNvSpPr>
          <p:nvPr/>
        </p:nvSpPr>
        <p:spPr bwMode="auto">
          <a:xfrm rot="-5400000">
            <a:off x="3467100" y="31623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1219" name="Line 26"/>
          <p:cNvSpPr>
            <a:spLocks noChangeShapeType="1"/>
          </p:cNvSpPr>
          <p:nvPr/>
        </p:nvSpPr>
        <p:spPr bwMode="auto">
          <a:xfrm rot="-5400000">
            <a:off x="4686300" y="25527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1220" name="Line 27"/>
          <p:cNvSpPr>
            <a:spLocks noChangeShapeType="1"/>
          </p:cNvSpPr>
          <p:nvPr/>
        </p:nvSpPr>
        <p:spPr bwMode="auto">
          <a:xfrm rot="-5400000">
            <a:off x="3467100" y="25527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1221" name="Line 28"/>
          <p:cNvSpPr>
            <a:spLocks noChangeShapeType="1"/>
          </p:cNvSpPr>
          <p:nvPr/>
        </p:nvSpPr>
        <p:spPr bwMode="auto">
          <a:xfrm rot="10800000">
            <a:off x="4648200" y="3200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1222" name="Line 29"/>
          <p:cNvSpPr>
            <a:spLocks noChangeShapeType="1"/>
          </p:cNvSpPr>
          <p:nvPr/>
        </p:nvSpPr>
        <p:spPr bwMode="auto">
          <a:xfrm rot="10800000">
            <a:off x="4038600" y="3200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2209800" y="4876800"/>
            <a:ext cx="6400800" cy="1371600"/>
            <a:chOff x="1392" y="3072"/>
            <a:chExt cx="4032" cy="864"/>
          </a:xfrm>
        </p:grpSpPr>
        <p:grpSp>
          <p:nvGrpSpPr>
            <p:cNvPr id="51227" name="Group 31"/>
            <p:cNvGrpSpPr>
              <a:grpSpLocks/>
            </p:cNvGrpSpPr>
            <p:nvPr/>
          </p:nvGrpSpPr>
          <p:grpSpPr bwMode="auto">
            <a:xfrm>
              <a:off x="1392" y="3504"/>
              <a:ext cx="4032" cy="432"/>
              <a:chOff x="1392" y="3504"/>
              <a:chExt cx="4032" cy="432"/>
            </a:xfrm>
          </p:grpSpPr>
          <p:sp>
            <p:nvSpPr>
              <p:cNvPr id="51229" name="Oval 32"/>
              <p:cNvSpPr>
                <a:spLocks noChangeArrowheads="1"/>
              </p:cNvSpPr>
              <p:nvPr/>
            </p:nvSpPr>
            <p:spPr bwMode="auto">
              <a:xfrm>
                <a:off x="1392" y="3504"/>
                <a:ext cx="4032" cy="432"/>
              </a:xfrm>
              <a:prstGeom prst="ellipse">
                <a:avLst/>
              </a:prstGeom>
              <a:solidFill>
                <a:srgbClr val="FFD5D5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51230" name="Text Box 33"/>
              <p:cNvSpPr txBox="1">
                <a:spLocks noChangeArrowheads="1"/>
              </p:cNvSpPr>
              <p:nvPr/>
            </p:nvSpPr>
            <p:spPr bwMode="auto">
              <a:xfrm>
                <a:off x="1526" y="3525"/>
                <a:ext cx="367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2400">
                    <a:solidFill>
                      <a:srgbClr val="FF0000"/>
                    </a:solidFill>
                    <a:latin typeface="Tahoma" pitchFamily="34" charset="0"/>
                  </a:rPr>
                  <a:t>Makes sense because of Markov property</a:t>
                </a:r>
                <a:r>
                  <a:rPr lang="en-US" sz="2400">
                    <a:latin typeface="Tahoma" pitchFamily="34" charset="0"/>
                  </a:rPr>
                  <a:t> </a:t>
                </a:r>
              </a:p>
            </p:txBody>
          </p:sp>
        </p:grpSp>
        <p:sp>
          <p:nvSpPr>
            <p:cNvPr id="51228" name="Line 34"/>
            <p:cNvSpPr>
              <a:spLocks noChangeShapeType="1"/>
            </p:cNvSpPr>
            <p:nvPr/>
          </p:nvSpPr>
          <p:spPr bwMode="auto">
            <a:xfrm>
              <a:off x="1728" y="3072"/>
              <a:ext cx="432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4535488" y="304800"/>
            <a:ext cx="4608512" cy="2209800"/>
            <a:chOff x="2569" y="1008"/>
            <a:chExt cx="2903" cy="1392"/>
          </a:xfrm>
        </p:grpSpPr>
        <p:sp>
          <p:nvSpPr>
            <p:cNvPr id="51225" name="Text Box 36"/>
            <p:cNvSpPr txBox="1">
              <a:spLocks noChangeArrowheads="1"/>
            </p:cNvSpPr>
            <p:nvPr/>
          </p:nvSpPr>
          <p:spPr bwMode="auto">
            <a:xfrm>
              <a:off x="2569" y="1008"/>
              <a:ext cx="2903" cy="754"/>
            </a:xfrm>
            <a:prstGeom prst="rect">
              <a:avLst/>
            </a:prstGeom>
            <a:solidFill>
              <a:srgbClr val="E0FFC1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sz="2400">
                  <a:solidFill>
                    <a:srgbClr val="009900"/>
                  </a:solidFill>
                  <a:latin typeface="Tahoma" pitchFamily="34" charset="0"/>
                </a:rPr>
                <a:t>Note that [3,2] is a “dangerous” </a:t>
              </a:r>
            </a:p>
            <a:p>
              <a:pPr algn="ctr" eaLnBrk="1" hangingPunct="1"/>
              <a:r>
                <a:rPr lang="en-US" sz="2400">
                  <a:solidFill>
                    <a:srgbClr val="009900"/>
                  </a:solidFill>
                  <a:latin typeface="Tahoma" pitchFamily="34" charset="0"/>
                </a:rPr>
                <a:t>state that the optimal policy </a:t>
              </a:r>
            </a:p>
            <a:p>
              <a:pPr algn="ctr" eaLnBrk="1" hangingPunct="1"/>
              <a:r>
                <a:rPr lang="en-US" sz="2400">
                  <a:solidFill>
                    <a:srgbClr val="009900"/>
                  </a:solidFill>
                  <a:latin typeface="Tahoma" pitchFamily="34" charset="0"/>
                </a:rPr>
                <a:t>tries to avoid</a:t>
              </a:r>
            </a:p>
          </p:txBody>
        </p:sp>
        <p:sp>
          <p:nvSpPr>
            <p:cNvPr id="51226" name="Line 37"/>
            <p:cNvSpPr>
              <a:spLocks noChangeShapeType="1"/>
            </p:cNvSpPr>
            <p:nvPr/>
          </p:nvSpPr>
          <p:spPr bwMode="auto">
            <a:xfrm flipH="1">
              <a:off x="2832" y="1776"/>
              <a:ext cx="1200" cy="624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 type="arrow" w="med" len="med"/>
            </a:ln>
          </p:spPr>
          <p:txBody>
            <a:bodyPr wrap="none"/>
            <a:lstStyle/>
            <a:p>
              <a:endParaRPr lang="th-TH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Optimal Policy</a:t>
            </a:r>
            <a:endParaRPr 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2227" name="Group 3"/>
          <p:cNvGrpSpPr>
            <a:grpSpLocks/>
          </p:cNvGrpSpPr>
          <p:nvPr/>
        </p:nvGrpSpPr>
        <p:grpSpPr bwMode="auto">
          <a:xfrm>
            <a:off x="3352800" y="1676400"/>
            <a:ext cx="2438400" cy="1828800"/>
            <a:chOff x="960" y="1152"/>
            <a:chExt cx="1536" cy="1152"/>
          </a:xfrm>
        </p:grpSpPr>
        <p:sp>
          <p:nvSpPr>
            <p:cNvPr id="52253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52254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2255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2256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2257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2258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2259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52228" name="Text Box 11"/>
          <p:cNvSpPr txBox="1">
            <a:spLocks noChangeArrowheads="1"/>
          </p:cNvSpPr>
          <p:nvPr/>
        </p:nvSpPr>
        <p:spPr bwMode="auto">
          <a:xfrm>
            <a:off x="5270500" y="2362200"/>
            <a:ext cx="41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ahoma" pitchFamily="34" charset="0"/>
              </a:rPr>
              <a:t>-1</a:t>
            </a:r>
          </a:p>
        </p:txBody>
      </p:sp>
      <p:sp>
        <p:nvSpPr>
          <p:cNvPr id="52229" name="Text Box 12"/>
          <p:cNvSpPr txBox="1">
            <a:spLocks noChangeArrowheads="1"/>
          </p:cNvSpPr>
          <p:nvPr/>
        </p:nvSpPr>
        <p:spPr bwMode="auto">
          <a:xfrm>
            <a:off x="5257800" y="1752600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009900"/>
                </a:solidFill>
                <a:latin typeface="Tahoma" pitchFamily="34" charset="0"/>
              </a:rPr>
              <a:t>+1</a:t>
            </a:r>
          </a:p>
        </p:txBody>
      </p:sp>
      <p:sp>
        <p:nvSpPr>
          <p:cNvPr id="52230" name="Text Box 13"/>
          <p:cNvSpPr txBox="1">
            <a:spLocks noChangeArrowheads="1"/>
          </p:cNvSpPr>
          <p:nvPr/>
        </p:nvSpPr>
        <p:spPr bwMode="auto">
          <a:xfrm>
            <a:off x="838200" y="4114800"/>
            <a:ext cx="79375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2400">
                <a:latin typeface="Tahoma" pitchFamily="34" charset="0"/>
              </a:rPr>
              <a:t> A </a:t>
            </a:r>
            <a:r>
              <a:rPr lang="en-US" sz="2400">
                <a:solidFill>
                  <a:srgbClr val="990000"/>
                </a:solidFill>
                <a:latin typeface="Tahoma" pitchFamily="34" charset="0"/>
              </a:rPr>
              <a:t>policy </a:t>
            </a:r>
            <a:r>
              <a:rPr lang="en-US" sz="2400">
                <a:solidFill>
                  <a:srgbClr val="990000"/>
                </a:solidFill>
                <a:latin typeface="Symbol" pitchFamily="18" charset="2"/>
              </a:rPr>
              <a:t>P</a:t>
            </a:r>
            <a:r>
              <a:rPr lang="en-US" sz="2400">
                <a:latin typeface="Tahoma" pitchFamily="34" charset="0"/>
              </a:rPr>
              <a:t> is a complete mapping from states to actions</a:t>
            </a:r>
          </a:p>
          <a:p>
            <a:pPr eaLnBrk="1" hangingPunct="1">
              <a:buFontTx/>
              <a:buChar char="•"/>
            </a:pPr>
            <a:r>
              <a:rPr lang="en-US" sz="2400">
                <a:latin typeface="Tahoma" pitchFamily="34" charset="0"/>
              </a:rPr>
              <a:t> The </a:t>
            </a:r>
            <a:r>
              <a:rPr lang="en-US" sz="2400">
                <a:solidFill>
                  <a:srgbClr val="990000"/>
                </a:solidFill>
                <a:latin typeface="Tahoma" pitchFamily="34" charset="0"/>
              </a:rPr>
              <a:t>optimal policy</a:t>
            </a:r>
            <a:r>
              <a:rPr lang="en-US" sz="2400">
                <a:latin typeface="Tahoma" pitchFamily="34" charset="0"/>
              </a:rPr>
              <a:t> </a:t>
            </a:r>
            <a:r>
              <a:rPr lang="en-US" sz="2400">
                <a:solidFill>
                  <a:srgbClr val="990000"/>
                </a:solidFill>
                <a:latin typeface="Symbol" pitchFamily="18" charset="2"/>
              </a:rPr>
              <a:t>P</a:t>
            </a:r>
            <a:r>
              <a:rPr lang="en-US" sz="2400">
                <a:solidFill>
                  <a:srgbClr val="990000"/>
                </a:solidFill>
                <a:latin typeface="Tahoma" pitchFamily="34" charset="0"/>
              </a:rPr>
              <a:t>*</a:t>
            </a:r>
            <a:r>
              <a:rPr lang="en-US" sz="2400">
                <a:latin typeface="Tahoma" pitchFamily="34" charset="0"/>
              </a:rPr>
              <a:t> is the one that always yields a </a:t>
            </a:r>
            <a:br>
              <a:rPr lang="en-US" sz="2400">
                <a:latin typeface="Tahoma" pitchFamily="34" charset="0"/>
              </a:rPr>
            </a:br>
            <a:r>
              <a:rPr lang="en-US" sz="2400">
                <a:latin typeface="Tahoma" pitchFamily="34" charset="0"/>
              </a:rPr>
              <a:t>   history with maximal expected utility</a:t>
            </a:r>
          </a:p>
        </p:txBody>
      </p:sp>
      <p:sp>
        <p:nvSpPr>
          <p:cNvPr id="52231" name="Text Box 14"/>
          <p:cNvSpPr txBox="1">
            <a:spLocks noChangeArrowheads="1"/>
          </p:cNvSpPr>
          <p:nvPr/>
        </p:nvSpPr>
        <p:spPr bwMode="auto">
          <a:xfrm>
            <a:off x="2971800" y="2438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52232" name="Text Box 15"/>
          <p:cNvSpPr txBox="1">
            <a:spLocks noChangeArrowheads="1"/>
          </p:cNvSpPr>
          <p:nvPr/>
        </p:nvSpPr>
        <p:spPr bwMode="auto">
          <a:xfrm>
            <a:off x="2971800" y="1828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52233" name="Text Box 16"/>
          <p:cNvSpPr txBox="1">
            <a:spLocks noChangeArrowheads="1"/>
          </p:cNvSpPr>
          <p:nvPr/>
        </p:nvSpPr>
        <p:spPr bwMode="auto">
          <a:xfrm>
            <a:off x="2971800" y="29718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52234" name="Text Box 17"/>
          <p:cNvSpPr txBox="1">
            <a:spLocks noChangeArrowheads="1"/>
          </p:cNvSpPr>
          <p:nvPr/>
        </p:nvSpPr>
        <p:spPr bwMode="auto">
          <a:xfrm>
            <a:off x="53340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52235" name="Text Box 18"/>
          <p:cNvSpPr txBox="1">
            <a:spLocks noChangeArrowheads="1"/>
          </p:cNvSpPr>
          <p:nvPr/>
        </p:nvSpPr>
        <p:spPr bwMode="auto">
          <a:xfrm>
            <a:off x="47244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52236" name="Text Box 19"/>
          <p:cNvSpPr txBox="1">
            <a:spLocks noChangeArrowheads="1"/>
          </p:cNvSpPr>
          <p:nvPr/>
        </p:nvSpPr>
        <p:spPr bwMode="auto">
          <a:xfrm>
            <a:off x="41148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52237" name="Text Box 20"/>
          <p:cNvSpPr txBox="1">
            <a:spLocks noChangeArrowheads="1"/>
          </p:cNvSpPr>
          <p:nvPr/>
        </p:nvSpPr>
        <p:spPr bwMode="auto">
          <a:xfrm>
            <a:off x="3505200" y="35052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52238" name="Line 21"/>
          <p:cNvSpPr>
            <a:spLocks noChangeShapeType="1"/>
          </p:cNvSpPr>
          <p:nvPr/>
        </p:nvSpPr>
        <p:spPr bwMode="auto">
          <a:xfrm>
            <a:off x="3505200" y="198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2239" name="Line 22"/>
          <p:cNvSpPr>
            <a:spLocks noChangeShapeType="1"/>
          </p:cNvSpPr>
          <p:nvPr/>
        </p:nvSpPr>
        <p:spPr bwMode="auto">
          <a:xfrm>
            <a:off x="4114800" y="198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2240" name="Line 23"/>
          <p:cNvSpPr>
            <a:spLocks noChangeShapeType="1"/>
          </p:cNvSpPr>
          <p:nvPr/>
        </p:nvSpPr>
        <p:spPr bwMode="auto">
          <a:xfrm>
            <a:off x="4724400" y="198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2241" name="Line 24"/>
          <p:cNvSpPr>
            <a:spLocks noChangeShapeType="1"/>
          </p:cNvSpPr>
          <p:nvPr/>
        </p:nvSpPr>
        <p:spPr bwMode="auto">
          <a:xfrm rot="10800000">
            <a:off x="5257800" y="3200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2242" name="Line 25"/>
          <p:cNvSpPr>
            <a:spLocks noChangeShapeType="1"/>
          </p:cNvSpPr>
          <p:nvPr/>
        </p:nvSpPr>
        <p:spPr bwMode="auto">
          <a:xfrm rot="-5400000">
            <a:off x="3467100" y="31623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2243" name="Line 26"/>
          <p:cNvSpPr>
            <a:spLocks noChangeShapeType="1"/>
          </p:cNvSpPr>
          <p:nvPr/>
        </p:nvSpPr>
        <p:spPr bwMode="auto">
          <a:xfrm rot="-5400000">
            <a:off x="4686300" y="25527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2244" name="Line 27"/>
          <p:cNvSpPr>
            <a:spLocks noChangeShapeType="1"/>
          </p:cNvSpPr>
          <p:nvPr/>
        </p:nvSpPr>
        <p:spPr bwMode="auto">
          <a:xfrm rot="-5400000">
            <a:off x="3467100" y="25527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2245" name="Line 28"/>
          <p:cNvSpPr>
            <a:spLocks noChangeShapeType="1"/>
          </p:cNvSpPr>
          <p:nvPr/>
        </p:nvSpPr>
        <p:spPr bwMode="auto">
          <a:xfrm rot="10800000">
            <a:off x="4648200" y="3200400"/>
            <a:ext cx="38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2246" name="Line 29"/>
          <p:cNvSpPr>
            <a:spLocks noChangeShapeType="1"/>
          </p:cNvSpPr>
          <p:nvPr/>
        </p:nvSpPr>
        <p:spPr bwMode="auto">
          <a:xfrm rot="10800000">
            <a:off x="4038600" y="3200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52400" y="5715000"/>
            <a:ext cx="5867400" cy="1060450"/>
            <a:chOff x="96" y="3600"/>
            <a:chExt cx="3696" cy="668"/>
          </a:xfrm>
        </p:grpSpPr>
        <p:sp>
          <p:nvSpPr>
            <p:cNvPr id="52251" name="Text Box 31"/>
            <p:cNvSpPr txBox="1">
              <a:spLocks noChangeArrowheads="1"/>
            </p:cNvSpPr>
            <p:nvPr/>
          </p:nvSpPr>
          <p:spPr bwMode="auto">
            <a:xfrm>
              <a:off x="96" y="3744"/>
              <a:ext cx="2844" cy="524"/>
            </a:xfrm>
            <a:prstGeom prst="rect">
              <a:avLst/>
            </a:prstGeom>
            <a:solidFill>
              <a:srgbClr val="E0FFC1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sz="2400">
                  <a:solidFill>
                    <a:srgbClr val="009900"/>
                  </a:solidFill>
                  <a:latin typeface="Tahoma" pitchFamily="34" charset="0"/>
                </a:rPr>
                <a:t>This problem is called a</a:t>
              </a:r>
            </a:p>
            <a:p>
              <a:pPr algn="ctr" eaLnBrk="1" hangingPunct="1"/>
              <a:r>
                <a:rPr lang="en-US" sz="2400">
                  <a:solidFill>
                    <a:srgbClr val="009900"/>
                  </a:solidFill>
                  <a:latin typeface="Tahoma" pitchFamily="34" charset="0"/>
                </a:rPr>
                <a:t>Markov Decision Problem (MDP)</a:t>
              </a:r>
            </a:p>
          </p:txBody>
        </p:sp>
        <p:sp>
          <p:nvSpPr>
            <p:cNvPr id="52252" name="Line 32"/>
            <p:cNvSpPr>
              <a:spLocks noChangeShapeType="1"/>
            </p:cNvSpPr>
            <p:nvPr/>
          </p:nvSpPr>
          <p:spPr bwMode="auto">
            <a:xfrm flipH="1">
              <a:off x="2928" y="3600"/>
              <a:ext cx="864" cy="48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</p:grpSp>
      <p:grpSp>
        <p:nvGrpSpPr>
          <p:cNvPr id="52248" name="Group 33"/>
          <p:cNvGrpSpPr>
            <a:grpSpLocks/>
          </p:cNvGrpSpPr>
          <p:nvPr/>
        </p:nvGrpSpPr>
        <p:grpSpPr bwMode="auto">
          <a:xfrm>
            <a:off x="2895600" y="4876800"/>
            <a:ext cx="5511800" cy="989013"/>
            <a:chOff x="1824" y="3072"/>
            <a:chExt cx="3472" cy="623"/>
          </a:xfrm>
        </p:grpSpPr>
        <p:sp>
          <p:nvSpPr>
            <p:cNvPr id="52249" name="Text Box 34"/>
            <p:cNvSpPr txBox="1">
              <a:spLocks noChangeArrowheads="1"/>
            </p:cNvSpPr>
            <p:nvPr/>
          </p:nvSpPr>
          <p:spPr bwMode="auto">
            <a:xfrm>
              <a:off x="2736" y="3312"/>
              <a:ext cx="2560" cy="383"/>
            </a:xfrm>
            <a:prstGeom prst="rect">
              <a:avLst/>
            </a:prstGeom>
            <a:solidFill>
              <a:srgbClr val="D1E8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3200">
                  <a:solidFill>
                    <a:srgbClr val="2B51F3"/>
                  </a:solidFill>
                  <a:latin typeface="Tahoma" pitchFamily="34" charset="0"/>
                </a:rPr>
                <a:t>How to compute </a:t>
              </a:r>
              <a:r>
                <a:rPr lang="en-US" sz="3200" b="1">
                  <a:solidFill>
                    <a:srgbClr val="2B51F3"/>
                  </a:solidFill>
                  <a:latin typeface="Symbol" pitchFamily="18" charset="2"/>
                </a:rPr>
                <a:t>P</a:t>
              </a:r>
              <a:r>
                <a:rPr lang="en-US" sz="3200" b="1">
                  <a:solidFill>
                    <a:srgbClr val="2B51F3"/>
                  </a:solidFill>
                  <a:latin typeface="Tahoma" pitchFamily="34" charset="0"/>
                </a:rPr>
                <a:t>*</a:t>
              </a:r>
              <a:r>
                <a:rPr lang="en-US" sz="3200">
                  <a:solidFill>
                    <a:srgbClr val="2B51F3"/>
                  </a:solidFill>
                  <a:latin typeface="Tahoma" pitchFamily="34" charset="0"/>
                </a:rPr>
                <a:t>?</a:t>
              </a:r>
            </a:p>
          </p:txBody>
        </p:sp>
        <p:sp>
          <p:nvSpPr>
            <p:cNvPr id="52250" name="Line 35"/>
            <p:cNvSpPr>
              <a:spLocks noChangeShapeType="1"/>
            </p:cNvSpPr>
            <p:nvPr/>
          </p:nvSpPr>
          <p:spPr bwMode="auto">
            <a:xfrm>
              <a:off x="1824" y="3072"/>
              <a:ext cx="912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Additive Utility</a:t>
            </a:r>
          </a:p>
        </p:txBody>
      </p:sp>
      <p:sp>
        <p:nvSpPr>
          <p:cNvPr id="53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772400" cy="1828800"/>
          </a:xfrm>
        </p:spPr>
        <p:txBody>
          <a:bodyPr/>
          <a:lstStyle/>
          <a:p>
            <a:pPr eaLnBrk="1" hangingPunct="1"/>
            <a:r>
              <a:rPr lang="en-US"/>
              <a:t> History H = (s</a:t>
            </a:r>
            <a:r>
              <a:rPr lang="en-US" sz="2400" baseline="-30000">
                <a:cs typeface="Times New Roman" pitchFamily="18" charset="0"/>
              </a:rPr>
              <a:t>0</a:t>
            </a:r>
            <a:r>
              <a:rPr lang="en-US"/>
              <a:t>,s</a:t>
            </a:r>
            <a:r>
              <a:rPr lang="en-US" sz="2400" baseline="-30000">
                <a:cs typeface="Times New Roman" pitchFamily="18" charset="0"/>
              </a:rPr>
              <a:t>1</a:t>
            </a:r>
            <a:r>
              <a:rPr lang="en-US"/>
              <a:t>,…,s</a:t>
            </a:r>
            <a:r>
              <a:rPr lang="en-US" sz="2400" baseline="-30000">
                <a:cs typeface="Times New Roman" pitchFamily="18" charset="0"/>
              </a:rPr>
              <a:t>n</a:t>
            </a:r>
            <a:r>
              <a:rPr lang="en-US"/>
              <a:t>)</a:t>
            </a:r>
          </a:p>
          <a:p>
            <a:pPr eaLnBrk="1" hangingPunct="1"/>
            <a:r>
              <a:rPr lang="en-US"/>
              <a:t> The utility of H is </a:t>
            </a:r>
            <a:r>
              <a:rPr lang="en-US">
                <a:solidFill>
                  <a:srgbClr val="990000"/>
                </a:solidFill>
              </a:rPr>
              <a:t>additive</a:t>
            </a:r>
            <a:r>
              <a:rPr lang="en-US"/>
              <a:t> iff: </a:t>
            </a:r>
            <a:br>
              <a:rPr lang="en-US"/>
            </a:br>
            <a:r>
              <a:rPr lang="en-US"/>
              <a:t>    </a:t>
            </a:r>
            <a:r>
              <a:rPr lang="en-US" sz="3600" b="1">
                <a:latin typeface="Bradley Hand ITC" pitchFamily="66" charset="0"/>
              </a:rPr>
              <a:t>U</a:t>
            </a:r>
            <a:r>
              <a:rPr lang="en-US" sz="2400"/>
              <a:t>(s</a:t>
            </a:r>
            <a:r>
              <a:rPr lang="en-US" sz="1800" baseline="-30000">
                <a:cs typeface="Times New Roman" pitchFamily="18" charset="0"/>
              </a:rPr>
              <a:t>0</a:t>
            </a:r>
            <a:r>
              <a:rPr lang="en-US" sz="2400"/>
              <a:t>,s</a:t>
            </a:r>
            <a:r>
              <a:rPr lang="en-US" sz="1800" baseline="-30000">
                <a:cs typeface="Times New Roman" pitchFamily="18" charset="0"/>
              </a:rPr>
              <a:t>1</a:t>
            </a:r>
            <a:r>
              <a:rPr lang="en-US" sz="2400"/>
              <a:t>,…,s</a:t>
            </a:r>
            <a:r>
              <a:rPr lang="en-US" sz="1800" baseline="-30000">
                <a:cs typeface="Times New Roman" pitchFamily="18" charset="0"/>
              </a:rPr>
              <a:t>n</a:t>
            </a:r>
            <a:r>
              <a:rPr lang="en-US" sz="2400"/>
              <a:t>)</a:t>
            </a:r>
            <a:r>
              <a:rPr lang="en-US"/>
              <a:t> = </a:t>
            </a:r>
            <a:r>
              <a:rPr lang="en-US" sz="3600" b="1">
                <a:solidFill>
                  <a:srgbClr val="2B51F3"/>
                </a:solidFill>
                <a:latin typeface="Bradley Hand ITC" pitchFamily="66" charset="0"/>
              </a:rPr>
              <a:t>R</a:t>
            </a:r>
            <a:r>
              <a:rPr lang="en-US" sz="2400">
                <a:solidFill>
                  <a:srgbClr val="2B51F3"/>
                </a:solidFill>
              </a:rPr>
              <a:t>(0)</a:t>
            </a:r>
            <a:r>
              <a:rPr lang="en-US"/>
              <a:t> + </a:t>
            </a:r>
            <a:r>
              <a:rPr lang="en-US" b="1">
                <a:latin typeface="Bradley Hand ITC" pitchFamily="66" charset="0"/>
              </a:rPr>
              <a:t>U</a:t>
            </a:r>
            <a:r>
              <a:rPr lang="en-US" sz="2400"/>
              <a:t>(s</a:t>
            </a:r>
            <a:r>
              <a:rPr lang="en-US" sz="1800" baseline="-30000">
                <a:cs typeface="Times New Roman" pitchFamily="18" charset="0"/>
              </a:rPr>
              <a:t>1</a:t>
            </a:r>
            <a:r>
              <a:rPr lang="en-US" sz="2400"/>
              <a:t>,…,s</a:t>
            </a:r>
            <a:r>
              <a:rPr lang="en-US" sz="1800" baseline="-30000">
                <a:cs typeface="Times New Roman" pitchFamily="18" charset="0"/>
              </a:rPr>
              <a:t>n</a:t>
            </a:r>
            <a:r>
              <a:rPr lang="en-US" sz="2400"/>
              <a:t>) = </a:t>
            </a:r>
            <a:r>
              <a:rPr lang="en-US" sz="3600">
                <a:solidFill>
                  <a:srgbClr val="2B51F3"/>
                </a:solidFill>
                <a:latin typeface="Symbol" pitchFamily="18" charset="2"/>
              </a:rPr>
              <a:t>S </a:t>
            </a:r>
            <a:r>
              <a:rPr lang="en-US" sz="3600" b="1">
                <a:solidFill>
                  <a:srgbClr val="2B51F3"/>
                </a:solidFill>
                <a:latin typeface="Bradley Hand ITC" pitchFamily="66" charset="0"/>
              </a:rPr>
              <a:t>R</a:t>
            </a:r>
            <a:r>
              <a:rPr lang="en-US" sz="2400">
                <a:solidFill>
                  <a:srgbClr val="2B51F3"/>
                </a:solidFill>
              </a:rPr>
              <a:t>(i)</a:t>
            </a:r>
            <a:r>
              <a:rPr lang="en-US">
                <a:solidFill>
                  <a:srgbClr val="2B51F3"/>
                </a:solidFill>
              </a:rPr>
              <a:t> 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5486400" y="4724400"/>
            <a:ext cx="1536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200">
                <a:solidFill>
                  <a:srgbClr val="2B51F3"/>
                </a:solidFill>
                <a:latin typeface="Tahoma" pitchFamily="34" charset="0"/>
              </a:rPr>
              <a:t>Reward</a:t>
            </a:r>
          </a:p>
        </p:txBody>
      </p:sp>
      <p:sp>
        <p:nvSpPr>
          <p:cNvPr id="53253" name="Line 5"/>
          <p:cNvSpPr>
            <a:spLocks noChangeShapeType="1"/>
          </p:cNvSpPr>
          <p:nvPr/>
        </p:nvSpPr>
        <p:spPr bwMode="auto">
          <a:xfrm flipH="1" flipV="1">
            <a:off x="4800600" y="3581400"/>
            <a:ext cx="1371600" cy="1219200"/>
          </a:xfrm>
          <a:prstGeom prst="line">
            <a:avLst/>
          </a:prstGeom>
          <a:noFill/>
          <a:ln w="9525">
            <a:solidFill>
              <a:srgbClr val="2B51F3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3254" name="Line 6"/>
          <p:cNvSpPr>
            <a:spLocks noChangeShapeType="1"/>
          </p:cNvSpPr>
          <p:nvPr/>
        </p:nvSpPr>
        <p:spPr bwMode="auto">
          <a:xfrm flipV="1">
            <a:off x="6172200" y="3581400"/>
            <a:ext cx="1371600" cy="1219200"/>
          </a:xfrm>
          <a:prstGeom prst="line">
            <a:avLst/>
          </a:prstGeom>
          <a:noFill/>
          <a:ln w="9525">
            <a:solidFill>
              <a:srgbClr val="2B51F3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Additive Utility</a:t>
            </a:r>
          </a:p>
        </p:txBody>
      </p:sp>
      <p:sp>
        <p:nvSpPr>
          <p:cNvPr id="5427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772400" cy="4495800"/>
          </a:xfrm>
        </p:spPr>
        <p:txBody>
          <a:bodyPr/>
          <a:lstStyle/>
          <a:p>
            <a:pPr eaLnBrk="1" hangingPunct="1"/>
            <a:r>
              <a:rPr lang="en-US"/>
              <a:t> History H = (s</a:t>
            </a:r>
            <a:r>
              <a:rPr lang="en-US" sz="2400" baseline="-30000">
                <a:cs typeface="Times New Roman" pitchFamily="18" charset="0"/>
              </a:rPr>
              <a:t>0</a:t>
            </a:r>
            <a:r>
              <a:rPr lang="en-US"/>
              <a:t>,s</a:t>
            </a:r>
            <a:r>
              <a:rPr lang="en-US" sz="2400" baseline="-30000">
                <a:cs typeface="Times New Roman" pitchFamily="18" charset="0"/>
              </a:rPr>
              <a:t>1</a:t>
            </a:r>
            <a:r>
              <a:rPr lang="en-US"/>
              <a:t>,…,s</a:t>
            </a:r>
            <a:r>
              <a:rPr lang="en-US" sz="2400" baseline="-30000">
                <a:cs typeface="Times New Roman" pitchFamily="18" charset="0"/>
              </a:rPr>
              <a:t>n</a:t>
            </a:r>
            <a:r>
              <a:rPr lang="en-US"/>
              <a:t>)</a:t>
            </a:r>
          </a:p>
          <a:p>
            <a:pPr eaLnBrk="1" hangingPunct="1"/>
            <a:r>
              <a:rPr lang="en-US"/>
              <a:t> The utility of H is </a:t>
            </a:r>
            <a:r>
              <a:rPr lang="en-US">
                <a:solidFill>
                  <a:srgbClr val="990000"/>
                </a:solidFill>
              </a:rPr>
              <a:t>additive</a:t>
            </a:r>
            <a:r>
              <a:rPr lang="en-US"/>
              <a:t> iff: </a:t>
            </a:r>
            <a:br>
              <a:rPr lang="en-US"/>
            </a:br>
            <a:r>
              <a:rPr lang="en-US"/>
              <a:t>    </a:t>
            </a:r>
            <a:r>
              <a:rPr lang="en-US" sz="3600" b="1">
                <a:latin typeface="Bradley Hand ITC" pitchFamily="66" charset="0"/>
              </a:rPr>
              <a:t>U</a:t>
            </a:r>
            <a:r>
              <a:rPr lang="en-US" sz="2400"/>
              <a:t>(s</a:t>
            </a:r>
            <a:r>
              <a:rPr lang="en-US" sz="1800" baseline="-30000">
                <a:cs typeface="Times New Roman" pitchFamily="18" charset="0"/>
              </a:rPr>
              <a:t>0</a:t>
            </a:r>
            <a:r>
              <a:rPr lang="en-US" sz="2400"/>
              <a:t>,s</a:t>
            </a:r>
            <a:r>
              <a:rPr lang="en-US" sz="1800" baseline="-30000">
                <a:cs typeface="Times New Roman" pitchFamily="18" charset="0"/>
              </a:rPr>
              <a:t>1</a:t>
            </a:r>
            <a:r>
              <a:rPr lang="en-US" sz="2400"/>
              <a:t>,…,s</a:t>
            </a:r>
            <a:r>
              <a:rPr lang="en-US" sz="1800" baseline="-30000">
                <a:cs typeface="Times New Roman" pitchFamily="18" charset="0"/>
              </a:rPr>
              <a:t>n</a:t>
            </a:r>
            <a:r>
              <a:rPr lang="en-US" sz="2400"/>
              <a:t>)</a:t>
            </a:r>
            <a:r>
              <a:rPr lang="en-US"/>
              <a:t> = </a:t>
            </a:r>
            <a:r>
              <a:rPr lang="en-US" sz="3600" b="1">
                <a:latin typeface="Bradley Hand ITC" pitchFamily="66" charset="0"/>
              </a:rPr>
              <a:t>R</a:t>
            </a:r>
            <a:r>
              <a:rPr lang="en-US" sz="2400"/>
              <a:t>(0)</a:t>
            </a:r>
            <a:r>
              <a:rPr lang="en-US"/>
              <a:t> + </a:t>
            </a:r>
            <a:r>
              <a:rPr lang="en-US" b="1">
                <a:latin typeface="Bradley Hand ITC" pitchFamily="66" charset="0"/>
              </a:rPr>
              <a:t>U</a:t>
            </a:r>
            <a:r>
              <a:rPr lang="en-US" sz="2400"/>
              <a:t>(s</a:t>
            </a:r>
            <a:r>
              <a:rPr lang="en-US" sz="1800" baseline="-30000">
                <a:cs typeface="Times New Roman" pitchFamily="18" charset="0"/>
              </a:rPr>
              <a:t>1</a:t>
            </a:r>
            <a:r>
              <a:rPr lang="en-US" sz="2400"/>
              <a:t>,…,s</a:t>
            </a:r>
            <a:r>
              <a:rPr lang="en-US" sz="1800" baseline="-30000">
                <a:cs typeface="Times New Roman" pitchFamily="18" charset="0"/>
              </a:rPr>
              <a:t>n</a:t>
            </a:r>
            <a:r>
              <a:rPr lang="en-US" sz="2400"/>
              <a:t>)  = </a:t>
            </a:r>
            <a:r>
              <a:rPr lang="en-US" sz="3600">
                <a:latin typeface="Symbol" pitchFamily="18" charset="2"/>
              </a:rPr>
              <a:t>S </a:t>
            </a:r>
            <a:r>
              <a:rPr lang="en-US" sz="3600" b="1">
                <a:latin typeface="Bradley Hand ITC" pitchFamily="66" charset="0"/>
              </a:rPr>
              <a:t>R</a:t>
            </a:r>
            <a:r>
              <a:rPr lang="en-US" sz="2400"/>
              <a:t>(i)</a:t>
            </a:r>
            <a:r>
              <a:rPr lang="en-US"/>
              <a:t> </a:t>
            </a:r>
          </a:p>
          <a:p>
            <a:pPr eaLnBrk="1" hangingPunct="1"/>
            <a:r>
              <a:rPr lang="en-US"/>
              <a:t> </a:t>
            </a:r>
            <a:r>
              <a:rPr lang="en-US">
                <a:solidFill>
                  <a:srgbClr val="006600"/>
                </a:solidFill>
              </a:rPr>
              <a:t>Robot navigation example:</a:t>
            </a:r>
          </a:p>
          <a:p>
            <a:pPr lvl="1" eaLnBrk="1" hangingPunct="1"/>
            <a:r>
              <a:rPr lang="en-US" sz="3200" b="1">
                <a:solidFill>
                  <a:srgbClr val="006600"/>
                </a:solidFill>
                <a:latin typeface="Bradley Hand ITC" pitchFamily="66" charset="0"/>
              </a:rPr>
              <a:t>R</a:t>
            </a:r>
            <a:r>
              <a:rPr lang="en-US" sz="2000">
                <a:solidFill>
                  <a:srgbClr val="006600"/>
                </a:solidFill>
              </a:rPr>
              <a:t>(n) = +1 </a:t>
            </a:r>
            <a:r>
              <a:rPr lang="en-US" sz="2400">
                <a:solidFill>
                  <a:srgbClr val="006600"/>
                </a:solidFill>
              </a:rPr>
              <a:t>if </a:t>
            </a:r>
            <a:r>
              <a:rPr lang="en-US">
                <a:solidFill>
                  <a:srgbClr val="006600"/>
                </a:solidFill>
              </a:rPr>
              <a:t>s</a:t>
            </a:r>
            <a:r>
              <a:rPr lang="en-US" sz="2000" baseline="-30000">
                <a:solidFill>
                  <a:srgbClr val="006600"/>
                </a:solidFill>
                <a:cs typeface="Times New Roman" pitchFamily="18" charset="0"/>
              </a:rPr>
              <a:t>n</a:t>
            </a:r>
            <a:r>
              <a:rPr lang="en-US" sz="2400">
                <a:solidFill>
                  <a:srgbClr val="006600"/>
                </a:solidFill>
              </a:rPr>
              <a:t> = [4,3]</a:t>
            </a:r>
          </a:p>
          <a:p>
            <a:pPr lvl="1" eaLnBrk="1" hangingPunct="1"/>
            <a:r>
              <a:rPr lang="en-US" sz="3200" b="1">
                <a:solidFill>
                  <a:srgbClr val="006600"/>
                </a:solidFill>
                <a:latin typeface="Bradley Hand ITC" pitchFamily="66" charset="0"/>
              </a:rPr>
              <a:t>R</a:t>
            </a:r>
            <a:r>
              <a:rPr lang="en-US" sz="2000">
                <a:solidFill>
                  <a:srgbClr val="006600"/>
                </a:solidFill>
              </a:rPr>
              <a:t>(n) = -1 </a:t>
            </a:r>
            <a:r>
              <a:rPr lang="en-US" sz="2400">
                <a:solidFill>
                  <a:srgbClr val="006600"/>
                </a:solidFill>
              </a:rPr>
              <a:t>if </a:t>
            </a:r>
            <a:r>
              <a:rPr lang="en-US">
                <a:solidFill>
                  <a:srgbClr val="006600"/>
                </a:solidFill>
              </a:rPr>
              <a:t>s</a:t>
            </a:r>
            <a:r>
              <a:rPr lang="en-US" sz="2000" baseline="-30000">
                <a:solidFill>
                  <a:srgbClr val="006600"/>
                </a:solidFill>
                <a:cs typeface="Times New Roman" pitchFamily="18" charset="0"/>
              </a:rPr>
              <a:t>n</a:t>
            </a:r>
            <a:r>
              <a:rPr lang="en-US" sz="2400">
                <a:solidFill>
                  <a:srgbClr val="006600"/>
                </a:solidFill>
              </a:rPr>
              <a:t> = [4,2]</a:t>
            </a:r>
            <a:r>
              <a:rPr lang="en-US" sz="3200" b="1">
                <a:solidFill>
                  <a:srgbClr val="006600"/>
                </a:solidFill>
                <a:latin typeface="Bradley Hand ITC" pitchFamily="66" charset="0"/>
              </a:rPr>
              <a:t> </a:t>
            </a:r>
          </a:p>
          <a:p>
            <a:pPr lvl="1" eaLnBrk="1" hangingPunct="1"/>
            <a:r>
              <a:rPr lang="en-US" sz="3200" b="1">
                <a:solidFill>
                  <a:srgbClr val="006600"/>
                </a:solidFill>
                <a:latin typeface="Bradley Hand ITC" pitchFamily="66" charset="0"/>
              </a:rPr>
              <a:t>R</a:t>
            </a:r>
            <a:r>
              <a:rPr lang="en-US" sz="2000">
                <a:solidFill>
                  <a:srgbClr val="006600"/>
                </a:solidFill>
              </a:rPr>
              <a:t>(i) = -1/25 </a:t>
            </a:r>
            <a:r>
              <a:rPr lang="en-US" sz="2400">
                <a:solidFill>
                  <a:srgbClr val="006600"/>
                </a:solidFill>
              </a:rPr>
              <a:t>if i </a:t>
            </a:r>
            <a:r>
              <a:rPr lang="en-US" sz="2400">
                <a:solidFill>
                  <a:srgbClr val="006600"/>
                </a:solidFill>
                <a:cs typeface="Times New Roman" pitchFamily="18" charset="0"/>
                <a:sym typeface="Symbol" pitchFamily="18" charset="2"/>
              </a:rPr>
              <a:t>= 0, …, n-1</a:t>
            </a:r>
            <a:r>
              <a:rPr lang="en-US" sz="3200" b="1">
                <a:solidFill>
                  <a:srgbClr val="006600"/>
                </a:solidFill>
                <a:latin typeface="Bradley Hand ITC" pitchFamily="66" charset="0"/>
              </a:rPr>
              <a:t> </a:t>
            </a:r>
            <a:endParaRPr lang="en-US" sz="2400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b="1">
                <a:effectLst>
                  <a:outerShdw blurRad="38100" dist="38100" dir="2700000" algn="tl">
                    <a:srgbClr val="C0C0C0"/>
                  </a:outerShdw>
                </a:effectLst>
              </a:rPr>
              <a:t>Principle of Max Expected Utility</a:t>
            </a:r>
          </a:p>
        </p:txBody>
      </p:sp>
      <p:sp>
        <p:nvSpPr>
          <p:cNvPr id="5529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>
                <a:solidFill>
                  <a:srgbClr val="777777"/>
                </a:solidFill>
              </a:rPr>
              <a:t> History H = (s</a:t>
            </a:r>
            <a:r>
              <a:rPr lang="en-US" sz="1600" baseline="-30000">
                <a:solidFill>
                  <a:srgbClr val="777777"/>
                </a:solidFill>
                <a:cs typeface="Times New Roman" pitchFamily="18" charset="0"/>
              </a:rPr>
              <a:t>0</a:t>
            </a:r>
            <a:r>
              <a:rPr lang="en-US" sz="2000">
                <a:solidFill>
                  <a:srgbClr val="777777"/>
                </a:solidFill>
              </a:rPr>
              <a:t>,s</a:t>
            </a:r>
            <a:r>
              <a:rPr lang="en-US" sz="1600" baseline="-30000">
                <a:solidFill>
                  <a:srgbClr val="777777"/>
                </a:solidFill>
                <a:cs typeface="Times New Roman" pitchFamily="18" charset="0"/>
              </a:rPr>
              <a:t>1</a:t>
            </a:r>
            <a:r>
              <a:rPr lang="en-US" sz="2000">
                <a:solidFill>
                  <a:srgbClr val="777777"/>
                </a:solidFill>
              </a:rPr>
              <a:t>,…,s</a:t>
            </a:r>
            <a:r>
              <a:rPr lang="en-US" sz="1600" baseline="-30000">
                <a:solidFill>
                  <a:srgbClr val="777777"/>
                </a:solidFill>
                <a:cs typeface="Times New Roman" pitchFamily="18" charset="0"/>
              </a:rPr>
              <a:t>n</a:t>
            </a:r>
            <a:r>
              <a:rPr lang="en-US" sz="2000">
                <a:solidFill>
                  <a:srgbClr val="777777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>
                <a:solidFill>
                  <a:srgbClr val="777777"/>
                </a:solidFill>
              </a:rPr>
              <a:t> Utility of H: </a:t>
            </a:r>
            <a:r>
              <a:rPr lang="en-US" sz="2400" b="1">
                <a:solidFill>
                  <a:srgbClr val="777777"/>
                </a:solidFill>
                <a:latin typeface="Bradley Hand ITC" pitchFamily="66" charset="0"/>
              </a:rPr>
              <a:t>U</a:t>
            </a:r>
            <a:r>
              <a:rPr lang="en-US" sz="1600">
                <a:solidFill>
                  <a:srgbClr val="777777"/>
                </a:solidFill>
              </a:rPr>
              <a:t>(s</a:t>
            </a:r>
            <a:r>
              <a:rPr lang="en-US" sz="1200" baseline="-30000">
                <a:solidFill>
                  <a:srgbClr val="777777"/>
                </a:solidFill>
                <a:cs typeface="Times New Roman" pitchFamily="18" charset="0"/>
              </a:rPr>
              <a:t>0</a:t>
            </a:r>
            <a:r>
              <a:rPr lang="en-US" sz="1600">
                <a:solidFill>
                  <a:srgbClr val="777777"/>
                </a:solidFill>
              </a:rPr>
              <a:t>,s</a:t>
            </a:r>
            <a:r>
              <a:rPr lang="en-US" sz="1200" baseline="-30000">
                <a:solidFill>
                  <a:srgbClr val="777777"/>
                </a:solidFill>
                <a:cs typeface="Times New Roman" pitchFamily="18" charset="0"/>
              </a:rPr>
              <a:t>1</a:t>
            </a:r>
            <a:r>
              <a:rPr lang="en-US" sz="1600">
                <a:solidFill>
                  <a:srgbClr val="777777"/>
                </a:solidFill>
              </a:rPr>
              <a:t>,…,s</a:t>
            </a:r>
            <a:r>
              <a:rPr lang="en-US" sz="1200" baseline="-30000">
                <a:solidFill>
                  <a:srgbClr val="777777"/>
                </a:solidFill>
                <a:cs typeface="Times New Roman" pitchFamily="18" charset="0"/>
              </a:rPr>
              <a:t>n</a:t>
            </a:r>
            <a:r>
              <a:rPr lang="en-US" sz="1600">
                <a:solidFill>
                  <a:srgbClr val="777777"/>
                </a:solidFill>
              </a:rPr>
              <a:t>)</a:t>
            </a:r>
            <a:r>
              <a:rPr lang="en-US" sz="2000">
                <a:solidFill>
                  <a:srgbClr val="777777"/>
                </a:solidFill>
              </a:rPr>
              <a:t> </a:t>
            </a:r>
            <a:r>
              <a:rPr lang="en-US" sz="1800">
                <a:solidFill>
                  <a:srgbClr val="777777"/>
                </a:solidFill>
              </a:rPr>
              <a:t>= </a:t>
            </a:r>
            <a:r>
              <a:rPr lang="en-US" sz="2800">
                <a:solidFill>
                  <a:srgbClr val="777777"/>
                </a:solidFill>
                <a:latin typeface="Symbol" pitchFamily="18" charset="2"/>
              </a:rPr>
              <a:t>S </a:t>
            </a:r>
            <a:r>
              <a:rPr lang="en-US" sz="2800" b="1">
                <a:solidFill>
                  <a:srgbClr val="777777"/>
                </a:solidFill>
                <a:latin typeface="Bradley Hand ITC" pitchFamily="66" charset="0"/>
              </a:rPr>
              <a:t>R</a:t>
            </a:r>
            <a:r>
              <a:rPr lang="en-US" sz="1800">
                <a:solidFill>
                  <a:srgbClr val="777777"/>
                </a:solidFill>
              </a:rPr>
              <a:t>(i)</a:t>
            </a:r>
            <a:endParaRPr lang="en-US" sz="2000">
              <a:solidFill>
                <a:srgbClr val="777777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latin typeface="Symbol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sz="2800">
              <a:latin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2800">
              <a:latin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3600" b="1">
              <a:latin typeface="Bradley Hand ITC" pitchFamily="66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>
                <a:latin typeface="Bradley Hand ITC" pitchFamily="66" charset="0"/>
              </a:rPr>
              <a:t>First-step analysis </a:t>
            </a:r>
            <a:r>
              <a:rPr lang="en-US" sz="2800" b="1">
                <a:latin typeface="Bradley Hand ITC" pitchFamily="66" charset="0"/>
                <a:sym typeface="Wingdings" pitchFamily="2" charset="2"/>
              </a:rPr>
              <a:t></a:t>
            </a:r>
            <a:endParaRPr lang="en-US" sz="2800" b="1">
              <a:latin typeface="Bradley Hand ITC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b="1">
                <a:latin typeface="Bradley Hand ITC" pitchFamily="66" charset="0"/>
              </a:rPr>
              <a:t> </a:t>
            </a:r>
            <a:r>
              <a:rPr lang="en-US" sz="3600" b="1">
                <a:latin typeface="Bradley Hand ITC" pitchFamily="66" charset="0"/>
              </a:rPr>
              <a:t>U</a:t>
            </a:r>
            <a:r>
              <a:rPr lang="en-US" sz="2800"/>
              <a:t>(i) = </a:t>
            </a:r>
            <a:r>
              <a:rPr lang="en-US" sz="4000" b="1">
                <a:latin typeface="Bradley Hand ITC" pitchFamily="66" charset="0"/>
              </a:rPr>
              <a:t>R</a:t>
            </a:r>
            <a:r>
              <a:rPr lang="en-US" sz="2800"/>
              <a:t>(i) + max</a:t>
            </a:r>
            <a:r>
              <a:rPr lang="en-US" sz="2400" baseline="-30000">
                <a:cs typeface="Times New Roman" pitchFamily="18" charset="0"/>
              </a:rPr>
              <a:t>a</a:t>
            </a:r>
            <a:r>
              <a:rPr lang="en-US" sz="2800"/>
              <a:t> </a:t>
            </a:r>
            <a:r>
              <a:rPr lang="en-US" sz="4400">
                <a:latin typeface="Symbol" pitchFamily="18" charset="2"/>
              </a:rPr>
              <a:t>S</a:t>
            </a:r>
            <a:r>
              <a:rPr lang="en-US" sz="2400" baseline="-30000">
                <a:cs typeface="Times New Roman" pitchFamily="18" charset="0"/>
              </a:rPr>
              <a:t>k</a:t>
            </a:r>
            <a:r>
              <a:rPr lang="en-US" sz="3600" b="1"/>
              <a:t>P</a:t>
            </a:r>
            <a:r>
              <a:rPr lang="en-US" sz="2800"/>
              <a:t>(k | a.i) </a:t>
            </a:r>
            <a:r>
              <a:rPr lang="en-US" sz="3600" b="1">
                <a:latin typeface="Bradley Hand ITC" pitchFamily="66" charset="0"/>
              </a:rPr>
              <a:t>U</a:t>
            </a:r>
            <a:r>
              <a:rPr lang="en-US" sz="2800"/>
              <a:t>(k)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Symbol" pitchFamily="18" charset="2"/>
              </a:rPr>
              <a:t> P</a:t>
            </a:r>
            <a:r>
              <a:rPr lang="en-US" sz="2800"/>
              <a:t>*(i) = arg max</a:t>
            </a:r>
            <a:r>
              <a:rPr lang="en-US" sz="2400" baseline="-30000">
                <a:cs typeface="Times New Roman" pitchFamily="18" charset="0"/>
              </a:rPr>
              <a:t>a</a:t>
            </a:r>
            <a:r>
              <a:rPr lang="en-US" sz="2800"/>
              <a:t> </a:t>
            </a:r>
            <a:r>
              <a:rPr lang="en-US" sz="4400">
                <a:latin typeface="Symbol" pitchFamily="18" charset="2"/>
              </a:rPr>
              <a:t>S</a:t>
            </a:r>
            <a:r>
              <a:rPr lang="en-US" sz="2400" baseline="-30000">
                <a:cs typeface="Times New Roman" pitchFamily="18" charset="0"/>
              </a:rPr>
              <a:t>k</a:t>
            </a:r>
            <a:r>
              <a:rPr lang="en-US" sz="3600" b="1"/>
              <a:t>P</a:t>
            </a:r>
            <a:r>
              <a:rPr lang="en-US" sz="2800"/>
              <a:t>(k | a.i) </a:t>
            </a:r>
            <a:r>
              <a:rPr lang="en-US" sz="3600" b="1">
                <a:latin typeface="Bradley Hand ITC" pitchFamily="66" charset="0"/>
              </a:rPr>
              <a:t>U</a:t>
            </a:r>
            <a:r>
              <a:rPr lang="en-US" sz="2800"/>
              <a:t>(k)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/>
          </a:p>
        </p:txBody>
      </p:sp>
      <p:grpSp>
        <p:nvGrpSpPr>
          <p:cNvPr id="55300" name="Group 1028"/>
          <p:cNvGrpSpPr>
            <a:grpSpLocks/>
          </p:cNvGrpSpPr>
          <p:nvPr/>
        </p:nvGrpSpPr>
        <p:grpSpPr bwMode="auto">
          <a:xfrm>
            <a:off x="3276600" y="2438400"/>
            <a:ext cx="2438400" cy="1828800"/>
            <a:chOff x="2112" y="2918"/>
            <a:chExt cx="1536" cy="1152"/>
          </a:xfrm>
        </p:grpSpPr>
        <p:grpSp>
          <p:nvGrpSpPr>
            <p:cNvPr id="55301" name="Group 1029"/>
            <p:cNvGrpSpPr>
              <a:grpSpLocks/>
            </p:cNvGrpSpPr>
            <p:nvPr/>
          </p:nvGrpSpPr>
          <p:grpSpPr bwMode="auto">
            <a:xfrm>
              <a:off x="2112" y="2918"/>
              <a:ext cx="1536" cy="1152"/>
              <a:chOff x="960" y="1152"/>
              <a:chExt cx="1536" cy="1152"/>
            </a:xfrm>
          </p:grpSpPr>
          <p:sp>
            <p:nvSpPr>
              <p:cNvPr id="55313" name="Rectangle 1030"/>
              <p:cNvSpPr>
                <a:spLocks noChangeArrowheads="1"/>
              </p:cNvSpPr>
              <p:nvPr/>
            </p:nvSpPr>
            <p:spPr bwMode="auto">
              <a:xfrm>
                <a:off x="960" y="1152"/>
                <a:ext cx="1536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55314" name="Line 1031"/>
              <p:cNvSpPr>
                <a:spLocks noChangeShapeType="1"/>
              </p:cNvSpPr>
              <p:nvPr/>
            </p:nvSpPr>
            <p:spPr bwMode="auto">
              <a:xfrm>
                <a:off x="1344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5315" name="Line 1032"/>
              <p:cNvSpPr>
                <a:spLocks noChangeShapeType="1"/>
              </p:cNvSpPr>
              <p:nvPr/>
            </p:nvSpPr>
            <p:spPr bwMode="auto">
              <a:xfrm>
                <a:off x="1728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5316" name="Line 1033"/>
              <p:cNvSpPr>
                <a:spLocks noChangeShapeType="1"/>
              </p:cNvSpPr>
              <p:nvPr/>
            </p:nvSpPr>
            <p:spPr bwMode="auto">
              <a:xfrm>
                <a:off x="2112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5317" name="Line 1034"/>
              <p:cNvSpPr>
                <a:spLocks noChangeShapeType="1"/>
              </p:cNvSpPr>
              <p:nvPr/>
            </p:nvSpPr>
            <p:spPr bwMode="auto">
              <a:xfrm>
                <a:off x="960" y="1536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5318" name="Line 1035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5319" name="Rectangle 1036"/>
              <p:cNvSpPr>
                <a:spLocks noChangeArrowheads="1"/>
              </p:cNvSpPr>
              <p:nvPr/>
            </p:nvSpPr>
            <p:spPr bwMode="auto">
              <a:xfrm>
                <a:off x="1344" y="1536"/>
                <a:ext cx="384" cy="38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55302" name="Text Box 1037"/>
            <p:cNvSpPr txBox="1">
              <a:spLocks noChangeArrowheads="1"/>
            </p:cNvSpPr>
            <p:nvPr/>
          </p:nvSpPr>
          <p:spPr bwMode="auto">
            <a:xfrm>
              <a:off x="3320" y="3350"/>
              <a:ext cx="2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-1</a:t>
              </a:r>
            </a:p>
          </p:txBody>
        </p:sp>
        <p:sp>
          <p:nvSpPr>
            <p:cNvPr id="55303" name="Text Box 1038"/>
            <p:cNvSpPr txBox="1">
              <a:spLocks noChangeArrowheads="1"/>
            </p:cNvSpPr>
            <p:nvPr/>
          </p:nvSpPr>
          <p:spPr bwMode="auto">
            <a:xfrm>
              <a:off x="3312" y="2966"/>
              <a:ext cx="31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9900"/>
                  </a:solidFill>
                  <a:latin typeface="Tahoma" pitchFamily="34" charset="0"/>
                </a:rPr>
                <a:t>+1</a:t>
              </a:r>
            </a:p>
          </p:txBody>
        </p:sp>
        <p:sp>
          <p:nvSpPr>
            <p:cNvPr id="55304" name="Line 1039"/>
            <p:cNvSpPr>
              <a:spLocks noChangeShapeType="1"/>
            </p:cNvSpPr>
            <p:nvPr/>
          </p:nvSpPr>
          <p:spPr bwMode="auto">
            <a:xfrm>
              <a:off x="2208" y="311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5305" name="Line 1040"/>
            <p:cNvSpPr>
              <a:spLocks noChangeShapeType="1"/>
            </p:cNvSpPr>
            <p:nvPr/>
          </p:nvSpPr>
          <p:spPr bwMode="auto">
            <a:xfrm>
              <a:off x="2592" y="311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5306" name="Line 1041"/>
            <p:cNvSpPr>
              <a:spLocks noChangeShapeType="1"/>
            </p:cNvSpPr>
            <p:nvPr/>
          </p:nvSpPr>
          <p:spPr bwMode="auto">
            <a:xfrm>
              <a:off x="2976" y="311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5307" name="Line 1042"/>
            <p:cNvSpPr>
              <a:spLocks noChangeShapeType="1"/>
            </p:cNvSpPr>
            <p:nvPr/>
          </p:nvSpPr>
          <p:spPr bwMode="auto">
            <a:xfrm rot="10800000">
              <a:off x="3312" y="387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5308" name="Line 1043"/>
            <p:cNvSpPr>
              <a:spLocks noChangeShapeType="1"/>
            </p:cNvSpPr>
            <p:nvPr/>
          </p:nvSpPr>
          <p:spPr bwMode="auto">
            <a:xfrm rot="-5400000">
              <a:off x="2184" y="385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5309" name="Line 1044"/>
            <p:cNvSpPr>
              <a:spLocks noChangeShapeType="1"/>
            </p:cNvSpPr>
            <p:nvPr/>
          </p:nvSpPr>
          <p:spPr bwMode="auto">
            <a:xfrm rot="-5400000">
              <a:off x="2952" y="347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5310" name="Line 1045"/>
            <p:cNvSpPr>
              <a:spLocks noChangeShapeType="1"/>
            </p:cNvSpPr>
            <p:nvPr/>
          </p:nvSpPr>
          <p:spPr bwMode="auto">
            <a:xfrm rot="-5400000">
              <a:off x="2184" y="347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5311" name="Line 1046"/>
            <p:cNvSpPr>
              <a:spLocks noChangeShapeType="1"/>
            </p:cNvSpPr>
            <p:nvPr/>
          </p:nvSpPr>
          <p:spPr bwMode="auto">
            <a:xfrm rot="10800000">
              <a:off x="2928" y="387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5312" name="Line 1047"/>
            <p:cNvSpPr>
              <a:spLocks noChangeShapeType="1"/>
            </p:cNvSpPr>
            <p:nvPr/>
          </p:nvSpPr>
          <p:spPr bwMode="auto">
            <a:xfrm rot="10800000">
              <a:off x="2544" y="387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Value Iteration</a:t>
            </a:r>
          </a:p>
        </p:txBody>
      </p:sp>
      <p:sp>
        <p:nvSpPr>
          <p:cNvPr id="56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01000" cy="4114800"/>
          </a:xfrm>
        </p:spPr>
        <p:txBody>
          <a:bodyPr/>
          <a:lstStyle/>
          <a:p>
            <a:pPr eaLnBrk="1" hangingPunct="1"/>
            <a:r>
              <a:rPr lang="en-US" sz="2400"/>
              <a:t> Initialize the utility of each non-terminal state s</a:t>
            </a:r>
            <a:r>
              <a:rPr lang="en-US" sz="1800" baseline="-30000">
                <a:cs typeface="Times New Roman" pitchFamily="18" charset="0"/>
              </a:rPr>
              <a:t>i </a:t>
            </a:r>
            <a:r>
              <a:rPr lang="en-US" sz="2400"/>
              <a:t>to </a:t>
            </a:r>
            <a:r>
              <a:rPr lang="en-US" sz="2800" b="1">
                <a:latin typeface="Bradley Hand ITC" pitchFamily="66" charset="0"/>
              </a:rPr>
              <a:t>U</a:t>
            </a:r>
            <a:r>
              <a:rPr lang="en-US" sz="1600" b="1" baseline="-30000">
                <a:cs typeface="Times New Roman" pitchFamily="18" charset="0"/>
              </a:rPr>
              <a:t>0</a:t>
            </a:r>
            <a:r>
              <a:rPr lang="en-US" sz="2000"/>
              <a:t>(i)</a:t>
            </a:r>
            <a:r>
              <a:rPr lang="en-US" sz="1600"/>
              <a:t> </a:t>
            </a:r>
            <a:r>
              <a:rPr lang="en-US" sz="1800"/>
              <a:t>= 0</a:t>
            </a:r>
            <a:endParaRPr lang="en-US" sz="2800"/>
          </a:p>
          <a:p>
            <a:pPr eaLnBrk="1" hangingPunct="1"/>
            <a:r>
              <a:rPr lang="en-US" sz="2400"/>
              <a:t> For t = 0, 1, 2, …, do:</a:t>
            </a:r>
            <a:br>
              <a:rPr lang="en-US" sz="2400"/>
            </a:br>
            <a:r>
              <a:rPr lang="en-US"/>
              <a:t>     </a:t>
            </a:r>
            <a:r>
              <a:rPr lang="en-US" sz="2800" b="1">
                <a:latin typeface="Bradley Hand ITC" pitchFamily="66" charset="0"/>
              </a:rPr>
              <a:t>U</a:t>
            </a:r>
            <a:r>
              <a:rPr lang="en-US" sz="2000" b="1" baseline="-30000">
                <a:cs typeface="Times New Roman" pitchFamily="18" charset="0"/>
              </a:rPr>
              <a:t>t+1</a:t>
            </a:r>
            <a:r>
              <a:rPr lang="en-US" sz="2000"/>
              <a:t>(i) </a:t>
            </a:r>
            <a:r>
              <a:rPr lang="en-US" sz="2000">
                <a:sym typeface="Wingdings" pitchFamily="2" charset="2"/>
              </a:rPr>
              <a:t></a:t>
            </a:r>
            <a:r>
              <a:rPr lang="en-US" sz="2000"/>
              <a:t> </a:t>
            </a:r>
            <a:r>
              <a:rPr lang="en-US" b="1">
                <a:latin typeface="Bradley Hand ITC" pitchFamily="66" charset="0"/>
              </a:rPr>
              <a:t>R</a:t>
            </a:r>
            <a:r>
              <a:rPr lang="en-US" sz="2000"/>
              <a:t>(i) + max</a:t>
            </a:r>
            <a:r>
              <a:rPr lang="en-US" sz="1800" baseline="-30000">
                <a:cs typeface="Times New Roman" pitchFamily="18" charset="0"/>
              </a:rPr>
              <a:t>a</a:t>
            </a:r>
            <a:r>
              <a:rPr lang="en-US" sz="2000"/>
              <a:t> </a:t>
            </a:r>
            <a:r>
              <a:rPr lang="en-US" sz="3600">
                <a:latin typeface="Symbol" pitchFamily="18" charset="2"/>
              </a:rPr>
              <a:t>S</a:t>
            </a:r>
            <a:r>
              <a:rPr lang="en-US" sz="1800" baseline="-30000">
                <a:cs typeface="Times New Roman" pitchFamily="18" charset="0"/>
              </a:rPr>
              <a:t>k</a:t>
            </a:r>
            <a:r>
              <a:rPr lang="en-US" sz="2800" b="1"/>
              <a:t>P</a:t>
            </a:r>
            <a:r>
              <a:rPr lang="en-US" sz="2000"/>
              <a:t>(k | a.i) </a:t>
            </a:r>
            <a:r>
              <a:rPr lang="en-US" sz="2800" b="1">
                <a:latin typeface="Bradley Hand ITC" pitchFamily="66" charset="0"/>
              </a:rPr>
              <a:t>U</a:t>
            </a:r>
            <a:r>
              <a:rPr lang="en-US" sz="2000" b="1" baseline="-30000">
                <a:cs typeface="Times New Roman" pitchFamily="18" charset="0"/>
              </a:rPr>
              <a:t>t</a:t>
            </a:r>
            <a:r>
              <a:rPr lang="en-US" sz="2000"/>
              <a:t>(k)</a:t>
            </a:r>
          </a:p>
        </p:txBody>
      </p:sp>
      <p:grpSp>
        <p:nvGrpSpPr>
          <p:cNvPr id="56324" name="Group 4"/>
          <p:cNvGrpSpPr>
            <a:grpSpLocks/>
          </p:cNvGrpSpPr>
          <p:nvPr/>
        </p:nvGrpSpPr>
        <p:grpSpPr bwMode="auto">
          <a:xfrm>
            <a:off x="1219200" y="4038600"/>
            <a:ext cx="2819400" cy="2225675"/>
            <a:chOff x="768" y="2544"/>
            <a:chExt cx="1776" cy="1402"/>
          </a:xfrm>
        </p:grpSpPr>
        <p:grpSp>
          <p:nvGrpSpPr>
            <p:cNvPr id="56326" name="Group 5"/>
            <p:cNvGrpSpPr>
              <a:grpSpLocks/>
            </p:cNvGrpSpPr>
            <p:nvPr/>
          </p:nvGrpSpPr>
          <p:grpSpPr bwMode="auto">
            <a:xfrm>
              <a:off x="1008" y="2544"/>
              <a:ext cx="1536" cy="1152"/>
              <a:chOff x="960" y="1152"/>
              <a:chExt cx="1536" cy="1152"/>
            </a:xfrm>
          </p:grpSpPr>
          <p:sp>
            <p:nvSpPr>
              <p:cNvPr id="56336" name="Rectangle 6"/>
              <p:cNvSpPr>
                <a:spLocks noChangeArrowheads="1"/>
              </p:cNvSpPr>
              <p:nvPr/>
            </p:nvSpPr>
            <p:spPr bwMode="auto">
              <a:xfrm>
                <a:off x="960" y="1152"/>
                <a:ext cx="1536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56337" name="Line 7"/>
              <p:cNvSpPr>
                <a:spLocks noChangeShapeType="1"/>
              </p:cNvSpPr>
              <p:nvPr/>
            </p:nvSpPr>
            <p:spPr bwMode="auto">
              <a:xfrm>
                <a:off x="1344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6338" name="Line 8"/>
              <p:cNvSpPr>
                <a:spLocks noChangeShapeType="1"/>
              </p:cNvSpPr>
              <p:nvPr/>
            </p:nvSpPr>
            <p:spPr bwMode="auto">
              <a:xfrm>
                <a:off x="1728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6339" name="Line 9"/>
              <p:cNvSpPr>
                <a:spLocks noChangeShapeType="1"/>
              </p:cNvSpPr>
              <p:nvPr/>
            </p:nvSpPr>
            <p:spPr bwMode="auto">
              <a:xfrm>
                <a:off x="2112" y="115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6340" name="Line 10"/>
              <p:cNvSpPr>
                <a:spLocks noChangeShapeType="1"/>
              </p:cNvSpPr>
              <p:nvPr/>
            </p:nvSpPr>
            <p:spPr bwMode="auto">
              <a:xfrm>
                <a:off x="960" y="1536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6341" name="Line 1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6342" name="Rectangle 12"/>
              <p:cNvSpPr>
                <a:spLocks noChangeArrowheads="1"/>
              </p:cNvSpPr>
              <p:nvPr/>
            </p:nvSpPr>
            <p:spPr bwMode="auto">
              <a:xfrm>
                <a:off x="1344" y="1536"/>
                <a:ext cx="384" cy="38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56327" name="Text Box 13"/>
            <p:cNvSpPr txBox="1">
              <a:spLocks noChangeArrowheads="1"/>
            </p:cNvSpPr>
            <p:nvPr/>
          </p:nvSpPr>
          <p:spPr bwMode="auto">
            <a:xfrm>
              <a:off x="2216" y="2976"/>
              <a:ext cx="2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-1</a:t>
              </a:r>
            </a:p>
          </p:txBody>
        </p:sp>
        <p:sp>
          <p:nvSpPr>
            <p:cNvPr id="56328" name="Text Box 14"/>
            <p:cNvSpPr txBox="1">
              <a:spLocks noChangeArrowheads="1"/>
            </p:cNvSpPr>
            <p:nvPr/>
          </p:nvSpPr>
          <p:spPr bwMode="auto">
            <a:xfrm>
              <a:off x="2208" y="2592"/>
              <a:ext cx="31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009900"/>
                  </a:solidFill>
                  <a:latin typeface="Tahoma" pitchFamily="34" charset="0"/>
                </a:rPr>
                <a:t>+1</a:t>
              </a:r>
            </a:p>
          </p:txBody>
        </p:sp>
        <p:sp>
          <p:nvSpPr>
            <p:cNvPr id="56329" name="Text Box 15"/>
            <p:cNvSpPr txBox="1">
              <a:spLocks noChangeArrowheads="1"/>
            </p:cNvSpPr>
            <p:nvPr/>
          </p:nvSpPr>
          <p:spPr bwMode="auto">
            <a:xfrm>
              <a:off x="768" y="3024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56330" name="Text Box 16"/>
            <p:cNvSpPr txBox="1">
              <a:spLocks noChangeArrowheads="1"/>
            </p:cNvSpPr>
            <p:nvPr/>
          </p:nvSpPr>
          <p:spPr bwMode="auto">
            <a:xfrm>
              <a:off x="768" y="2640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56331" name="Text Box 17"/>
            <p:cNvSpPr txBox="1">
              <a:spLocks noChangeArrowheads="1"/>
            </p:cNvSpPr>
            <p:nvPr/>
          </p:nvSpPr>
          <p:spPr bwMode="auto">
            <a:xfrm>
              <a:off x="768" y="3360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56332" name="Text Box 18"/>
            <p:cNvSpPr txBox="1">
              <a:spLocks noChangeArrowheads="1"/>
            </p:cNvSpPr>
            <p:nvPr/>
          </p:nvSpPr>
          <p:spPr bwMode="auto">
            <a:xfrm>
              <a:off x="2256" y="369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4</a:t>
              </a:r>
            </a:p>
          </p:txBody>
        </p:sp>
        <p:sp>
          <p:nvSpPr>
            <p:cNvPr id="56333" name="Text Box 19"/>
            <p:cNvSpPr txBox="1">
              <a:spLocks noChangeArrowheads="1"/>
            </p:cNvSpPr>
            <p:nvPr/>
          </p:nvSpPr>
          <p:spPr bwMode="auto">
            <a:xfrm>
              <a:off x="1872" y="369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56334" name="Text Box 20"/>
            <p:cNvSpPr txBox="1">
              <a:spLocks noChangeArrowheads="1"/>
            </p:cNvSpPr>
            <p:nvPr/>
          </p:nvSpPr>
          <p:spPr bwMode="auto">
            <a:xfrm>
              <a:off x="1488" y="369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56335" name="Text Box 21"/>
            <p:cNvSpPr txBox="1">
              <a:spLocks noChangeArrowheads="1"/>
            </p:cNvSpPr>
            <p:nvPr/>
          </p:nvSpPr>
          <p:spPr bwMode="auto">
            <a:xfrm>
              <a:off x="1104" y="369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1</a:t>
              </a:r>
            </a:p>
          </p:txBody>
        </p:sp>
      </p:grpSp>
      <p:pic>
        <p:nvPicPr>
          <p:cNvPr id="56325" name="Picture 2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886200"/>
            <a:ext cx="4038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Value Iteration</a:t>
            </a:r>
          </a:p>
        </p:txBody>
      </p:sp>
      <p:sp>
        <p:nvSpPr>
          <p:cNvPr id="57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01000" cy="4114800"/>
          </a:xfrm>
        </p:spPr>
        <p:txBody>
          <a:bodyPr/>
          <a:lstStyle/>
          <a:p>
            <a:pPr eaLnBrk="1" hangingPunct="1"/>
            <a:r>
              <a:rPr lang="en-US" sz="2400"/>
              <a:t> Initialize the utility of each non-terminal state s</a:t>
            </a:r>
            <a:r>
              <a:rPr lang="en-US" sz="1800" baseline="-30000">
                <a:cs typeface="Times New Roman" pitchFamily="18" charset="0"/>
              </a:rPr>
              <a:t>i </a:t>
            </a:r>
            <a:r>
              <a:rPr lang="en-US" sz="2400"/>
              <a:t>to </a:t>
            </a:r>
            <a:r>
              <a:rPr lang="en-US" sz="2800" b="1">
                <a:latin typeface="Bradley Hand ITC" pitchFamily="66" charset="0"/>
              </a:rPr>
              <a:t>U</a:t>
            </a:r>
            <a:r>
              <a:rPr lang="en-US" sz="1600" b="1" baseline="-30000">
                <a:cs typeface="Times New Roman" pitchFamily="18" charset="0"/>
              </a:rPr>
              <a:t>0</a:t>
            </a:r>
            <a:r>
              <a:rPr lang="en-US" sz="2000"/>
              <a:t>(i)</a:t>
            </a:r>
            <a:r>
              <a:rPr lang="en-US" sz="1600"/>
              <a:t> </a:t>
            </a:r>
            <a:r>
              <a:rPr lang="en-US" sz="1800"/>
              <a:t>= 0</a:t>
            </a:r>
            <a:endParaRPr lang="en-US" sz="2800"/>
          </a:p>
          <a:p>
            <a:pPr eaLnBrk="1" hangingPunct="1"/>
            <a:r>
              <a:rPr lang="en-US" sz="2400"/>
              <a:t> For t = 0, 1, 2, …, do:</a:t>
            </a:r>
            <a:br>
              <a:rPr lang="en-US" sz="2400"/>
            </a:br>
            <a:r>
              <a:rPr lang="en-US"/>
              <a:t>     </a:t>
            </a:r>
            <a:r>
              <a:rPr lang="en-US" sz="2800" b="1">
                <a:latin typeface="Bradley Hand ITC" pitchFamily="66" charset="0"/>
              </a:rPr>
              <a:t>U</a:t>
            </a:r>
            <a:r>
              <a:rPr lang="en-US" sz="2000" b="1" baseline="-30000">
                <a:cs typeface="Times New Roman" pitchFamily="18" charset="0"/>
              </a:rPr>
              <a:t>t+1</a:t>
            </a:r>
            <a:r>
              <a:rPr lang="en-US" sz="2000"/>
              <a:t>(i) </a:t>
            </a:r>
            <a:r>
              <a:rPr lang="en-US" sz="2000">
                <a:sym typeface="Wingdings" pitchFamily="2" charset="2"/>
              </a:rPr>
              <a:t></a:t>
            </a:r>
            <a:r>
              <a:rPr lang="en-US" sz="2000"/>
              <a:t> </a:t>
            </a:r>
            <a:r>
              <a:rPr lang="en-US" b="1">
                <a:latin typeface="Bradley Hand ITC" pitchFamily="66" charset="0"/>
              </a:rPr>
              <a:t>R</a:t>
            </a:r>
            <a:r>
              <a:rPr lang="en-US" sz="2000"/>
              <a:t>(i) + max</a:t>
            </a:r>
            <a:r>
              <a:rPr lang="en-US" sz="1800" baseline="-30000">
                <a:cs typeface="Times New Roman" pitchFamily="18" charset="0"/>
              </a:rPr>
              <a:t>a</a:t>
            </a:r>
            <a:r>
              <a:rPr lang="en-US" sz="2000"/>
              <a:t> </a:t>
            </a:r>
            <a:r>
              <a:rPr lang="en-US" sz="3600">
                <a:latin typeface="Symbol" pitchFamily="18" charset="2"/>
              </a:rPr>
              <a:t>S</a:t>
            </a:r>
            <a:r>
              <a:rPr lang="en-US" sz="1800" baseline="-30000">
                <a:cs typeface="Times New Roman" pitchFamily="18" charset="0"/>
              </a:rPr>
              <a:t>k</a:t>
            </a:r>
            <a:r>
              <a:rPr lang="en-US" sz="2800" b="1"/>
              <a:t>P</a:t>
            </a:r>
            <a:r>
              <a:rPr lang="en-US" sz="2000"/>
              <a:t>(k | a.i) </a:t>
            </a:r>
            <a:r>
              <a:rPr lang="en-US" sz="2800" b="1">
                <a:latin typeface="Bradley Hand ITC" pitchFamily="66" charset="0"/>
              </a:rPr>
              <a:t>U</a:t>
            </a:r>
            <a:r>
              <a:rPr lang="en-US" sz="2000" b="1" baseline="-30000">
                <a:cs typeface="Times New Roman" pitchFamily="18" charset="0"/>
              </a:rPr>
              <a:t>t</a:t>
            </a:r>
            <a:r>
              <a:rPr lang="en-US" sz="2000"/>
              <a:t>(k)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038600" y="3657600"/>
            <a:ext cx="4321175" cy="2576513"/>
            <a:chOff x="2544" y="2304"/>
            <a:chExt cx="2722" cy="1623"/>
          </a:xfrm>
        </p:grpSpPr>
        <p:sp>
          <p:nvSpPr>
            <p:cNvPr id="57385" name="Text Box 5"/>
            <p:cNvSpPr txBox="1">
              <a:spLocks noChangeArrowheads="1"/>
            </p:cNvSpPr>
            <p:nvPr/>
          </p:nvSpPr>
          <p:spPr bwMode="auto">
            <a:xfrm>
              <a:off x="2544" y="2304"/>
              <a:ext cx="8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2400" b="1">
                  <a:solidFill>
                    <a:srgbClr val="990000"/>
                  </a:solidFill>
                  <a:latin typeface="Bradley Hand ITC" pitchFamily="66" charset="0"/>
                </a:rPr>
                <a:t>U</a:t>
              </a:r>
              <a:r>
                <a:rPr lang="en-US" sz="1800" b="1" baseline="-30000">
                  <a:solidFill>
                    <a:srgbClr val="990000"/>
                  </a:solidFill>
                  <a:latin typeface="Tahoma" pitchFamily="34" charset="0"/>
                  <a:cs typeface="Times New Roman" pitchFamily="18" charset="0"/>
                </a:rPr>
                <a:t>t</a:t>
              </a:r>
              <a:r>
                <a:rPr lang="en-US" sz="1800">
                  <a:solidFill>
                    <a:srgbClr val="990000"/>
                  </a:solidFill>
                  <a:latin typeface="Tahoma" pitchFamily="34" charset="0"/>
                </a:rPr>
                <a:t>([3,1])</a:t>
              </a:r>
            </a:p>
          </p:txBody>
        </p:sp>
        <p:grpSp>
          <p:nvGrpSpPr>
            <p:cNvPr id="57386" name="Group 6"/>
            <p:cNvGrpSpPr>
              <a:grpSpLocks/>
            </p:cNvGrpSpPr>
            <p:nvPr/>
          </p:nvGrpSpPr>
          <p:grpSpPr bwMode="auto">
            <a:xfrm>
              <a:off x="2832" y="2400"/>
              <a:ext cx="2434" cy="1527"/>
              <a:chOff x="2832" y="2400"/>
              <a:chExt cx="2434" cy="1527"/>
            </a:xfrm>
          </p:grpSpPr>
          <p:sp>
            <p:nvSpPr>
              <p:cNvPr id="57387" name="Line 7"/>
              <p:cNvSpPr>
                <a:spLocks noChangeShapeType="1"/>
              </p:cNvSpPr>
              <p:nvPr/>
            </p:nvSpPr>
            <p:spPr bwMode="auto">
              <a:xfrm flipV="1">
                <a:off x="3264" y="2400"/>
                <a:ext cx="0" cy="12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388" name="Line 8"/>
              <p:cNvSpPr>
                <a:spLocks noChangeShapeType="1"/>
              </p:cNvSpPr>
              <p:nvPr/>
            </p:nvSpPr>
            <p:spPr bwMode="auto">
              <a:xfrm>
                <a:off x="3264" y="3696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389" name="Line 9"/>
              <p:cNvSpPr>
                <a:spLocks noChangeShapeType="1"/>
              </p:cNvSpPr>
              <p:nvPr/>
            </p:nvSpPr>
            <p:spPr bwMode="auto">
              <a:xfrm>
                <a:off x="3264" y="3264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390" name="Line 10"/>
              <p:cNvSpPr>
                <a:spLocks noChangeShapeType="1"/>
              </p:cNvSpPr>
              <p:nvPr/>
            </p:nvSpPr>
            <p:spPr bwMode="auto">
              <a:xfrm>
                <a:off x="2880" y="3600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391" name="Line 11"/>
              <p:cNvSpPr>
                <a:spLocks noChangeShapeType="1"/>
              </p:cNvSpPr>
              <p:nvPr/>
            </p:nvSpPr>
            <p:spPr bwMode="auto">
              <a:xfrm>
                <a:off x="3264" y="2880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392" name="Line 12"/>
              <p:cNvSpPr>
                <a:spLocks noChangeShapeType="1"/>
              </p:cNvSpPr>
              <p:nvPr/>
            </p:nvSpPr>
            <p:spPr bwMode="auto">
              <a:xfrm>
                <a:off x="3264" y="2784"/>
                <a:ext cx="1856" cy="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prstDash val="dash"/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393" name="Text Box 13"/>
              <p:cNvSpPr txBox="1">
                <a:spLocks noChangeArrowheads="1"/>
              </p:cNvSpPr>
              <p:nvPr/>
            </p:nvSpPr>
            <p:spPr bwMode="auto">
              <a:xfrm>
                <a:off x="5136" y="3648"/>
                <a:ext cx="13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>
                    <a:latin typeface="Tahoma" pitchFamily="34" charset="0"/>
                  </a:rPr>
                  <a:t>t</a:t>
                </a:r>
              </a:p>
            </p:txBody>
          </p:sp>
          <p:sp>
            <p:nvSpPr>
              <p:cNvPr id="57394" name="Line 14"/>
              <p:cNvSpPr>
                <a:spLocks noChangeShapeType="1"/>
              </p:cNvSpPr>
              <p:nvPr/>
            </p:nvSpPr>
            <p:spPr bwMode="auto">
              <a:xfrm>
                <a:off x="3840" y="364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395" name="Line 15"/>
              <p:cNvSpPr>
                <a:spLocks noChangeShapeType="1"/>
              </p:cNvSpPr>
              <p:nvPr/>
            </p:nvSpPr>
            <p:spPr bwMode="auto">
              <a:xfrm>
                <a:off x="4416" y="364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396" name="Line 16"/>
              <p:cNvSpPr>
                <a:spLocks noChangeShapeType="1"/>
              </p:cNvSpPr>
              <p:nvPr/>
            </p:nvSpPr>
            <p:spPr bwMode="auto">
              <a:xfrm>
                <a:off x="4992" y="364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397" name="Text Box 17"/>
              <p:cNvSpPr txBox="1">
                <a:spLocks noChangeArrowheads="1"/>
              </p:cNvSpPr>
              <p:nvPr/>
            </p:nvSpPr>
            <p:spPr bwMode="auto">
              <a:xfrm>
                <a:off x="3168" y="3696"/>
                <a:ext cx="19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800">
                    <a:latin typeface="Tahoma" pitchFamily="34" charset="0"/>
                  </a:rPr>
                  <a:t>0</a:t>
                </a:r>
              </a:p>
            </p:txBody>
          </p:sp>
          <p:sp>
            <p:nvSpPr>
              <p:cNvPr id="57398" name="Text Box 18"/>
              <p:cNvSpPr txBox="1">
                <a:spLocks noChangeArrowheads="1"/>
              </p:cNvSpPr>
              <p:nvPr/>
            </p:nvSpPr>
            <p:spPr bwMode="auto">
              <a:xfrm>
                <a:off x="4896" y="3696"/>
                <a:ext cx="27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800">
                    <a:latin typeface="Tahoma" pitchFamily="34" charset="0"/>
                  </a:rPr>
                  <a:t>30</a:t>
                </a:r>
              </a:p>
            </p:txBody>
          </p:sp>
          <p:sp>
            <p:nvSpPr>
              <p:cNvPr id="57399" name="Text Box 19"/>
              <p:cNvSpPr txBox="1">
                <a:spLocks noChangeArrowheads="1"/>
              </p:cNvSpPr>
              <p:nvPr/>
            </p:nvSpPr>
            <p:spPr bwMode="auto">
              <a:xfrm>
                <a:off x="4320" y="3696"/>
                <a:ext cx="27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800">
                    <a:latin typeface="Tahoma" pitchFamily="34" charset="0"/>
                  </a:rPr>
                  <a:t>20</a:t>
                </a:r>
              </a:p>
            </p:txBody>
          </p:sp>
          <p:sp>
            <p:nvSpPr>
              <p:cNvPr id="57400" name="Text Box 20"/>
              <p:cNvSpPr txBox="1">
                <a:spLocks noChangeArrowheads="1"/>
              </p:cNvSpPr>
              <p:nvPr/>
            </p:nvSpPr>
            <p:spPr bwMode="auto">
              <a:xfrm>
                <a:off x="3744" y="3696"/>
                <a:ext cx="27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800">
                    <a:latin typeface="Tahoma" pitchFamily="34" charset="0"/>
                  </a:rPr>
                  <a:t>10</a:t>
                </a:r>
              </a:p>
            </p:txBody>
          </p:sp>
          <p:sp>
            <p:nvSpPr>
              <p:cNvPr id="57401" name="Text Box 21"/>
              <p:cNvSpPr txBox="1">
                <a:spLocks noChangeArrowheads="1"/>
              </p:cNvSpPr>
              <p:nvPr/>
            </p:nvSpPr>
            <p:spPr bwMode="auto">
              <a:xfrm>
                <a:off x="2832" y="2640"/>
                <a:ext cx="47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800">
                    <a:solidFill>
                      <a:srgbClr val="008000"/>
                    </a:solidFill>
                    <a:latin typeface="Tahoma" pitchFamily="34" charset="0"/>
                  </a:rPr>
                  <a:t>0.611</a:t>
                </a:r>
              </a:p>
            </p:txBody>
          </p:sp>
          <p:sp>
            <p:nvSpPr>
              <p:cNvPr id="57402" name="Text Box 22"/>
              <p:cNvSpPr txBox="1">
                <a:spLocks noChangeArrowheads="1"/>
              </p:cNvSpPr>
              <p:nvPr/>
            </p:nvSpPr>
            <p:spPr bwMode="auto">
              <a:xfrm>
                <a:off x="2976" y="2832"/>
                <a:ext cx="31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800">
                    <a:latin typeface="Tahoma" pitchFamily="34" charset="0"/>
                  </a:rPr>
                  <a:t>0.5</a:t>
                </a:r>
              </a:p>
            </p:txBody>
          </p:sp>
          <p:sp>
            <p:nvSpPr>
              <p:cNvPr id="57403" name="Text Box 23"/>
              <p:cNvSpPr txBox="1">
                <a:spLocks noChangeArrowheads="1"/>
              </p:cNvSpPr>
              <p:nvPr/>
            </p:nvSpPr>
            <p:spPr bwMode="auto">
              <a:xfrm>
                <a:off x="3120" y="3168"/>
                <a:ext cx="19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800">
                    <a:latin typeface="Tahoma" pitchFamily="34" charset="0"/>
                  </a:rPr>
                  <a:t>0</a:t>
                </a:r>
              </a:p>
            </p:txBody>
          </p:sp>
          <p:sp>
            <p:nvSpPr>
              <p:cNvPr id="57404" name="Line 24"/>
              <p:cNvSpPr>
                <a:spLocks noChangeShapeType="1"/>
              </p:cNvSpPr>
              <p:nvPr/>
            </p:nvSpPr>
            <p:spPr bwMode="auto">
              <a:xfrm>
                <a:off x="3264" y="3264"/>
                <a:ext cx="192" cy="96"/>
              </a:xfrm>
              <a:prstGeom prst="line">
                <a:avLst/>
              </a:pr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7405" name="Freeform 25"/>
              <p:cNvSpPr>
                <a:spLocks/>
              </p:cNvSpPr>
              <p:nvPr/>
            </p:nvSpPr>
            <p:spPr bwMode="auto">
              <a:xfrm>
                <a:off x="3456" y="2784"/>
                <a:ext cx="1536" cy="576"/>
              </a:xfrm>
              <a:custGeom>
                <a:avLst/>
                <a:gdLst>
                  <a:gd name="T0" fmla="*/ 0 w 1536"/>
                  <a:gd name="T1" fmla="*/ 576 h 576"/>
                  <a:gd name="T2" fmla="*/ 48 w 1536"/>
                  <a:gd name="T3" fmla="*/ 432 h 576"/>
                  <a:gd name="T4" fmla="*/ 144 w 1536"/>
                  <a:gd name="T5" fmla="*/ 240 h 576"/>
                  <a:gd name="T6" fmla="*/ 384 w 1536"/>
                  <a:gd name="T7" fmla="*/ 144 h 576"/>
                  <a:gd name="T8" fmla="*/ 864 w 1536"/>
                  <a:gd name="T9" fmla="*/ 48 h 576"/>
                  <a:gd name="T10" fmla="*/ 1536 w 1536"/>
                  <a:gd name="T11" fmla="*/ 0 h 57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36"/>
                  <a:gd name="T19" fmla="*/ 0 h 576"/>
                  <a:gd name="T20" fmla="*/ 1536 w 1536"/>
                  <a:gd name="T21" fmla="*/ 576 h 57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36" h="576">
                    <a:moveTo>
                      <a:pt x="0" y="576"/>
                    </a:moveTo>
                    <a:cubicBezTo>
                      <a:pt x="12" y="532"/>
                      <a:pt x="24" y="488"/>
                      <a:pt x="48" y="432"/>
                    </a:cubicBezTo>
                    <a:cubicBezTo>
                      <a:pt x="72" y="376"/>
                      <a:pt x="88" y="288"/>
                      <a:pt x="144" y="240"/>
                    </a:cubicBezTo>
                    <a:cubicBezTo>
                      <a:pt x="200" y="192"/>
                      <a:pt x="264" y="176"/>
                      <a:pt x="384" y="144"/>
                    </a:cubicBezTo>
                    <a:cubicBezTo>
                      <a:pt x="504" y="112"/>
                      <a:pt x="672" y="72"/>
                      <a:pt x="864" y="48"/>
                    </a:cubicBezTo>
                    <a:cubicBezTo>
                      <a:pt x="1056" y="24"/>
                      <a:pt x="1424" y="8"/>
                      <a:pt x="1536" y="0"/>
                    </a:cubicBezTo>
                  </a:path>
                </a:pathLst>
              </a:custGeom>
              <a:noFill/>
              <a:ln w="28575" cmpd="sng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</p:grpSp>
      </p:grpSp>
      <p:grpSp>
        <p:nvGrpSpPr>
          <p:cNvPr id="57349" name="Group 26"/>
          <p:cNvGrpSpPr>
            <a:grpSpLocks/>
          </p:cNvGrpSpPr>
          <p:nvPr/>
        </p:nvGrpSpPr>
        <p:grpSpPr bwMode="auto">
          <a:xfrm>
            <a:off x="1600200" y="4038600"/>
            <a:ext cx="2438400" cy="1828800"/>
            <a:chOff x="960" y="1152"/>
            <a:chExt cx="1536" cy="1152"/>
          </a:xfrm>
        </p:grpSpPr>
        <p:sp>
          <p:nvSpPr>
            <p:cNvPr id="57378" name="Rectangle 27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57379" name="Line 28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7380" name="Line 29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7381" name="Line 30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7382" name="Line 31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7383" name="Line 32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7384" name="Rectangle 33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57350" name="Text Box 34"/>
          <p:cNvSpPr txBox="1">
            <a:spLocks noChangeArrowheads="1"/>
          </p:cNvSpPr>
          <p:nvPr/>
        </p:nvSpPr>
        <p:spPr bwMode="auto">
          <a:xfrm>
            <a:off x="3517900" y="4724400"/>
            <a:ext cx="41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ahoma" pitchFamily="34" charset="0"/>
              </a:rPr>
              <a:t>-1</a:t>
            </a:r>
          </a:p>
        </p:txBody>
      </p:sp>
      <p:sp>
        <p:nvSpPr>
          <p:cNvPr id="57351" name="Text Box 35"/>
          <p:cNvSpPr txBox="1">
            <a:spLocks noChangeArrowheads="1"/>
          </p:cNvSpPr>
          <p:nvPr/>
        </p:nvSpPr>
        <p:spPr bwMode="auto">
          <a:xfrm>
            <a:off x="3505200" y="4114800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009900"/>
                </a:solidFill>
                <a:latin typeface="Tahoma" pitchFamily="34" charset="0"/>
              </a:rPr>
              <a:t>+1</a:t>
            </a:r>
          </a:p>
        </p:txBody>
      </p:sp>
      <p:sp>
        <p:nvSpPr>
          <p:cNvPr id="57352" name="Text Box 36"/>
          <p:cNvSpPr txBox="1">
            <a:spLocks noChangeArrowheads="1"/>
          </p:cNvSpPr>
          <p:nvPr/>
        </p:nvSpPr>
        <p:spPr bwMode="auto">
          <a:xfrm>
            <a:off x="1219200" y="48006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57353" name="Text Box 37"/>
          <p:cNvSpPr txBox="1">
            <a:spLocks noChangeArrowheads="1"/>
          </p:cNvSpPr>
          <p:nvPr/>
        </p:nvSpPr>
        <p:spPr bwMode="auto">
          <a:xfrm>
            <a:off x="1219200" y="41910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57354" name="Text Box 38"/>
          <p:cNvSpPr txBox="1">
            <a:spLocks noChangeArrowheads="1"/>
          </p:cNvSpPr>
          <p:nvPr/>
        </p:nvSpPr>
        <p:spPr bwMode="auto">
          <a:xfrm>
            <a:off x="1219200" y="53340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57355" name="Text Box 39"/>
          <p:cNvSpPr txBox="1">
            <a:spLocks noChangeArrowheads="1"/>
          </p:cNvSpPr>
          <p:nvPr/>
        </p:nvSpPr>
        <p:spPr bwMode="auto">
          <a:xfrm>
            <a:off x="3581400" y="5867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57356" name="Text Box 40"/>
          <p:cNvSpPr txBox="1">
            <a:spLocks noChangeArrowheads="1"/>
          </p:cNvSpPr>
          <p:nvPr/>
        </p:nvSpPr>
        <p:spPr bwMode="auto">
          <a:xfrm>
            <a:off x="2971800" y="5867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57357" name="Text Box 41"/>
          <p:cNvSpPr txBox="1">
            <a:spLocks noChangeArrowheads="1"/>
          </p:cNvSpPr>
          <p:nvPr/>
        </p:nvSpPr>
        <p:spPr bwMode="auto">
          <a:xfrm>
            <a:off x="2362200" y="5867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57358" name="Text Box 42"/>
          <p:cNvSpPr txBox="1">
            <a:spLocks noChangeArrowheads="1"/>
          </p:cNvSpPr>
          <p:nvPr/>
        </p:nvSpPr>
        <p:spPr bwMode="auto">
          <a:xfrm>
            <a:off x="1752600" y="5867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57359" name="Line 43"/>
          <p:cNvSpPr>
            <a:spLocks noChangeShapeType="1"/>
          </p:cNvSpPr>
          <p:nvPr/>
        </p:nvSpPr>
        <p:spPr bwMode="auto">
          <a:xfrm>
            <a:off x="1752600" y="4343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7360" name="Line 44"/>
          <p:cNvSpPr>
            <a:spLocks noChangeShapeType="1"/>
          </p:cNvSpPr>
          <p:nvPr/>
        </p:nvSpPr>
        <p:spPr bwMode="auto">
          <a:xfrm>
            <a:off x="2362200" y="4343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7361" name="Line 45"/>
          <p:cNvSpPr>
            <a:spLocks noChangeShapeType="1"/>
          </p:cNvSpPr>
          <p:nvPr/>
        </p:nvSpPr>
        <p:spPr bwMode="auto">
          <a:xfrm>
            <a:off x="2971800" y="4343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7362" name="Line 46"/>
          <p:cNvSpPr>
            <a:spLocks noChangeShapeType="1"/>
          </p:cNvSpPr>
          <p:nvPr/>
        </p:nvSpPr>
        <p:spPr bwMode="auto">
          <a:xfrm rot="10800000">
            <a:off x="3505200" y="5562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7363" name="Line 47"/>
          <p:cNvSpPr>
            <a:spLocks noChangeShapeType="1"/>
          </p:cNvSpPr>
          <p:nvPr/>
        </p:nvSpPr>
        <p:spPr bwMode="auto">
          <a:xfrm rot="-5400000">
            <a:off x="3009900" y="49911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7364" name="Line 48"/>
          <p:cNvSpPr>
            <a:spLocks noChangeShapeType="1"/>
          </p:cNvSpPr>
          <p:nvPr/>
        </p:nvSpPr>
        <p:spPr bwMode="auto">
          <a:xfrm rot="10800000">
            <a:off x="2895600" y="5562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7365" name="Line 49"/>
          <p:cNvSpPr>
            <a:spLocks noChangeShapeType="1"/>
          </p:cNvSpPr>
          <p:nvPr/>
        </p:nvSpPr>
        <p:spPr bwMode="auto">
          <a:xfrm rot="10800000">
            <a:off x="2286000" y="5562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7366" name="Text Box 50"/>
          <p:cNvSpPr txBox="1">
            <a:spLocks noChangeArrowheads="1"/>
          </p:cNvSpPr>
          <p:nvPr/>
        </p:nvSpPr>
        <p:spPr bwMode="auto">
          <a:xfrm>
            <a:off x="1600200" y="5257800"/>
            <a:ext cx="690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990000"/>
                </a:solidFill>
                <a:latin typeface="Tahoma" pitchFamily="34" charset="0"/>
              </a:rPr>
              <a:t>0.705</a:t>
            </a:r>
          </a:p>
        </p:txBody>
      </p:sp>
      <p:sp>
        <p:nvSpPr>
          <p:cNvPr id="57367" name="Text Box 51"/>
          <p:cNvSpPr txBox="1">
            <a:spLocks noChangeArrowheads="1"/>
          </p:cNvSpPr>
          <p:nvPr/>
        </p:nvSpPr>
        <p:spPr bwMode="auto">
          <a:xfrm>
            <a:off x="2209800" y="5257800"/>
            <a:ext cx="690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990000"/>
                </a:solidFill>
                <a:latin typeface="Tahoma" pitchFamily="34" charset="0"/>
              </a:rPr>
              <a:t>0.655</a:t>
            </a:r>
          </a:p>
        </p:txBody>
      </p:sp>
      <p:sp>
        <p:nvSpPr>
          <p:cNvPr id="57368" name="Text Box 52"/>
          <p:cNvSpPr txBox="1">
            <a:spLocks noChangeArrowheads="1"/>
          </p:cNvSpPr>
          <p:nvPr/>
        </p:nvSpPr>
        <p:spPr bwMode="auto">
          <a:xfrm>
            <a:off x="3429000" y="5257800"/>
            <a:ext cx="690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990000"/>
                </a:solidFill>
                <a:latin typeface="Tahoma" pitchFamily="34" charset="0"/>
              </a:rPr>
              <a:t>0.388</a:t>
            </a:r>
          </a:p>
        </p:txBody>
      </p:sp>
      <p:sp>
        <p:nvSpPr>
          <p:cNvPr id="57369" name="Text Box 53"/>
          <p:cNvSpPr txBox="1">
            <a:spLocks noChangeArrowheads="1"/>
          </p:cNvSpPr>
          <p:nvPr/>
        </p:nvSpPr>
        <p:spPr bwMode="auto">
          <a:xfrm>
            <a:off x="2819400" y="5257800"/>
            <a:ext cx="690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990000"/>
                </a:solidFill>
                <a:latin typeface="Tahoma" pitchFamily="34" charset="0"/>
              </a:rPr>
              <a:t>0.611</a:t>
            </a:r>
          </a:p>
        </p:txBody>
      </p:sp>
      <p:sp>
        <p:nvSpPr>
          <p:cNvPr id="57370" name="Text Box 54"/>
          <p:cNvSpPr txBox="1">
            <a:spLocks noChangeArrowheads="1"/>
          </p:cNvSpPr>
          <p:nvPr/>
        </p:nvSpPr>
        <p:spPr bwMode="auto">
          <a:xfrm>
            <a:off x="1600200" y="4648200"/>
            <a:ext cx="690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990000"/>
                </a:solidFill>
                <a:latin typeface="Tahoma" pitchFamily="34" charset="0"/>
              </a:rPr>
              <a:t>0.762</a:t>
            </a:r>
          </a:p>
        </p:txBody>
      </p:sp>
      <p:sp>
        <p:nvSpPr>
          <p:cNvPr id="57371" name="Text Box 55"/>
          <p:cNvSpPr txBox="1">
            <a:spLocks noChangeArrowheads="1"/>
          </p:cNvSpPr>
          <p:nvPr/>
        </p:nvSpPr>
        <p:spPr bwMode="auto">
          <a:xfrm>
            <a:off x="1600200" y="4038600"/>
            <a:ext cx="690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990000"/>
                </a:solidFill>
                <a:latin typeface="Tahoma" pitchFamily="34" charset="0"/>
              </a:rPr>
              <a:t>0.812</a:t>
            </a:r>
          </a:p>
        </p:txBody>
      </p:sp>
      <p:sp>
        <p:nvSpPr>
          <p:cNvPr id="57372" name="Text Box 56"/>
          <p:cNvSpPr txBox="1">
            <a:spLocks noChangeArrowheads="1"/>
          </p:cNvSpPr>
          <p:nvPr/>
        </p:nvSpPr>
        <p:spPr bwMode="auto">
          <a:xfrm>
            <a:off x="2209800" y="4038600"/>
            <a:ext cx="690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990000"/>
                </a:solidFill>
                <a:latin typeface="Tahoma" pitchFamily="34" charset="0"/>
              </a:rPr>
              <a:t>0.868</a:t>
            </a:r>
          </a:p>
        </p:txBody>
      </p:sp>
      <p:sp>
        <p:nvSpPr>
          <p:cNvPr id="57373" name="Text Box 57"/>
          <p:cNvSpPr txBox="1">
            <a:spLocks noChangeArrowheads="1"/>
          </p:cNvSpPr>
          <p:nvPr/>
        </p:nvSpPr>
        <p:spPr bwMode="auto">
          <a:xfrm>
            <a:off x="2819400" y="4038600"/>
            <a:ext cx="690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990000"/>
                </a:solidFill>
                <a:latin typeface="Tahoma" pitchFamily="34" charset="0"/>
              </a:rPr>
              <a:t>0.918</a:t>
            </a:r>
          </a:p>
        </p:txBody>
      </p:sp>
      <p:sp>
        <p:nvSpPr>
          <p:cNvPr id="57374" name="Text Box 58"/>
          <p:cNvSpPr txBox="1">
            <a:spLocks noChangeArrowheads="1"/>
          </p:cNvSpPr>
          <p:nvPr/>
        </p:nvSpPr>
        <p:spPr bwMode="auto">
          <a:xfrm>
            <a:off x="2819400" y="4648200"/>
            <a:ext cx="690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990000"/>
                </a:solidFill>
                <a:latin typeface="Tahoma" pitchFamily="34" charset="0"/>
              </a:rPr>
              <a:t>0.660</a:t>
            </a:r>
          </a:p>
        </p:txBody>
      </p:sp>
      <p:sp>
        <p:nvSpPr>
          <p:cNvPr id="57375" name="Line 59"/>
          <p:cNvSpPr>
            <a:spLocks noChangeShapeType="1"/>
          </p:cNvSpPr>
          <p:nvPr/>
        </p:nvSpPr>
        <p:spPr bwMode="auto">
          <a:xfrm rot="-5400000">
            <a:off x="1790700" y="50673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57376" name="Line 60"/>
          <p:cNvSpPr>
            <a:spLocks noChangeShapeType="1"/>
          </p:cNvSpPr>
          <p:nvPr/>
        </p:nvSpPr>
        <p:spPr bwMode="auto">
          <a:xfrm rot="-5400000">
            <a:off x="1790700" y="56007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  <p:sp>
        <p:nvSpPr>
          <p:cNvPr id="339005" name="Text Box 61"/>
          <p:cNvSpPr txBox="1">
            <a:spLocks noChangeArrowheads="1"/>
          </p:cNvSpPr>
          <p:nvPr/>
        </p:nvSpPr>
        <p:spPr bwMode="auto">
          <a:xfrm>
            <a:off x="5562600" y="152400"/>
            <a:ext cx="3162300" cy="1590675"/>
          </a:xfrm>
          <a:prstGeom prst="rect">
            <a:avLst/>
          </a:prstGeom>
          <a:solidFill>
            <a:srgbClr val="FFE7E7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solidFill>
                  <a:srgbClr val="FF0000"/>
                </a:solidFill>
                <a:latin typeface="Tahoma" pitchFamily="34" charset="0"/>
              </a:rPr>
              <a:t>Note the importance</a:t>
            </a:r>
          </a:p>
          <a:p>
            <a:pPr eaLnBrk="1" hangingPunct="1"/>
            <a:r>
              <a:rPr lang="en-US" sz="2400">
                <a:solidFill>
                  <a:srgbClr val="FF0000"/>
                </a:solidFill>
                <a:latin typeface="Tahoma" pitchFamily="34" charset="0"/>
              </a:rPr>
              <a:t>of terminal states and</a:t>
            </a:r>
          </a:p>
          <a:p>
            <a:pPr eaLnBrk="1" hangingPunct="1"/>
            <a:r>
              <a:rPr lang="en-US" sz="2400">
                <a:solidFill>
                  <a:srgbClr val="FF0000"/>
                </a:solidFill>
                <a:latin typeface="Tahoma" pitchFamily="34" charset="0"/>
              </a:rPr>
              <a:t>connectivity of the</a:t>
            </a:r>
          </a:p>
          <a:p>
            <a:pPr eaLnBrk="1" hangingPunct="1"/>
            <a:r>
              <a:rPr lang="en-US" sz="2400">
                <a:solidFill>
                  <a:srgbClr val="FF0000"/>
                </a:solidFill>
                <a:latin typeface="Tahoma" pitchFamily="34" charset="0"/>
              </a:rPr>
              <a:t>state-transition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005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Policy Iteration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 Pick a policy </a:t>
            </a:r>
            <a:r>
              <a:rPr lang="en-US">
                <a:latin typeface="Symbol" pitchFamily="18" charset="2"/>
              </a:rPr>
              <a:t>P</a:t>
            </a:r>
            <a:r>
              <a:rPr lang="en-US"/>
              <a:t> at random</a:t>
            </a:r>
          </a:p>
          <a:p>
            <a:pPr eaLnBrk="1" hangingPunct="1"/>
            <a:r>
              <a:rPr lang="en-US"/>
              <a:t> Repeat:</a:t>
            </a:r>
          </a:p>
          <a:p>
            <a:pPr lvl="1" eaLnBrk="1" hangingPunct="1"/>
            <a:r>
              <a:rPr lang="en-US"/>
              <a:t>Compute the utility of each state for </a:t>
            </a:r>
            <a:r>
              <a:rPr lang="en-US">
                <a:latin typeface="Symbol" pitchFamily="18" charset="2"/>
              </a:rPr>
              <a:t>P</a:t>
            </a:r>
            <a:br>
              <a:rPr lang="en-US"/>
            </a:br>
            <a:r>
              <a:rPr lang="en-US"/>
              <a:t> </a:t>
            </a:r>
            <a:r>
              <a:rPr lang="en-US" b="1">
                <a:latin typeface="Bradley Hand ITC" pitchFamily="66" charset="0"/>
              </a:rPr>
              <a:t>U</a:t>
            </a:r>
            <a:r>
              <a:rPr lang="en-US" sz="2000" b="1" baseline="-30000">
                <a:cs typeface="Times New Roman" pitchFamily="18" charset="0"/>
              </a:rPr>
              <a:t>t+1</a:t>
            </a:r>
            <a:r>
              <a:rPr lang="en-US" sz="2000"/>
              <a:t>(i) </a:t>
            </a:r>
            <a:r>
              <a:rPr lang="en-US" sz="2000">
                <a:sym typeface="Wingdings" pitchFamily="2" charset="2"/>
              </a:rPr>
              <a:t></a:t>
            </a:r>
            <a:r>
              <a:rPr lang="en-US" sz="2000"/>
              <a:t> </a:t>
            </a:r>
            <a:r>
              <a:rPr lang="en-US" sz="3200" b="1">
                <a:latin typeface="Bradley Hand ITC" pitchFamily="66" charset="0"/>
              </a:rPr>
              <a:t>R</a:t>
            </a:r>
            <a:r>
              <a:rPr lang="en-US" sz="2000"/>
              <a:t>(i) + </a:t>
            </a:r>
            <a:r>
              <a:rPr lang="en-US" sz="3600">
                <a:latin typeface="Symbol" pitchFamily="18" charset="2"/>
              </a:rPr>
              <a:t>S</a:t>
            </a:r>
            <a:r>
              <a:rPr lang="en-US" sz="1800" baseline="-30000">
                <a:cs typeface="Times New Roman" pitchFamily="18" charset="0"/>
              </a:rPr>
              <a:t>k</a:t>
            </a:r>
            <a:r>
              <a:rPr lang="en-US" b="1"/>
              <a:t>P</a:t>
            </a:r>
            <a:r>
              <a:rPr lang="en-US" sz="2000"/>
              <a:t>(k | </a:t>
            </a:r>
            <a:r>
              <a:rPr lang="en-US" sz="2000">
                <a:latin typeface="Symbol" pitchFamily="18" charset="2"/>
              </a:rPr>
              <a:t>P</a:t>
            </a:r>
            <a:r>
              <a:rPr lang="en-US" sz="2000"/>
              <a:t>(i).i) </a:t>
            </a:r>
            <a:r>
              <a:rPr lang="en-US" b="1">
                <a:latin typeface="Bradley Hand ITC" pitchFamily="66" charset="0"/>
              </a:rPr>
              <a:t>U</a:t>
            </a:r>
            <a:r>
              <a:rPr lang="en-US" sz="2000" b="1" baseline="-30000">
                <a:cs typeface="Times New Roman" pitchFamily="18" charset="0"/>
              </a:rPr>
              <a:t>t</a:t>
            </a:r>
            <a:r>
              <a:rPr lang="en-US" sz="2000"/>
              <a:t>(k)</a:t>
            </a:r>
            <a:r>
              <a:rPr lang="en-US"/>
              <a:t> </a:t>
            </a:r>
          </a:p>
          <a:p>
            <a:pPr lvl="1" eaLnBrk="1" hangingPunct="1"/>
            <a:r>
              <a:rPr lang="en-US"/>
              <a:t>Compute the policy </a:t>
            </a:r>
            <a:r>
              <a:rPr lang="en-US">
                <a:latin typeface="Symbol" pitchFamily="18" charset="2"/>
              </a:rPr>
              <a:t>P</a:t>
            </a:r>
            <a:r>
              <a:rPr lang="en-US"/>
              <a:t>’ given these utilities</a:t>
            </a:r>
            <a:br>
              <a:rPr lang="en-US"/>
            </a:br>
            <a:r>
              <a:rPr lang="en-US"/>
              <a:t> </a:t>
            </a:r>
            <a:r>
              <a:rPr lang="en-US" sz="2400">
                <a:latin typeface="Symbol" pitchFamily="18" charset="2"/>
              </a:rPr>
              <a:t>P</a:t>
            </a:r>
            <a:r>
              <a:rPr lang="en-US" sz="2400"/>
              <a:t>’(i) = arg max</a:t>
            </a:r>
            <a:r>
              <a:rPr lang="en-US" sz="2000" baseline="-30000">
                <a:cs typeface="Times New Roman" pitchFamily="18" charset="0"/>
              </a:rPr>
              <a:t>a</a:t>
            </a:r>
            <a:r>
              <a:rPr lang="en-US" sz="2400"/>
              <a:t> </a:t>
            </a:r>
            <a:r>
              <a:rPr lang="en-US" sz="4000">
                <a:latin typeface="Symbol" pitchFamily="18" charset="2"/>
              </a:rPr>
              <a:t>S</a:t>
            </a:r>
            <a:r>
              <a:rPr lang="en-US" sz="2000" baseline="-30000">
                <a:cs typeface="Times New Roman" pitchFamily="18" charset="0"/>
              </a:rPr>
              <a:t>k</a:t>
            </a:r>
            <a:r>
              <a:rPr lang="en-US" b="1"/>
              <a:t>P</a:t>
            </a:r>
            <a:r>
              <a:rPr lang="en-US" sz="2400"/>
              <a:t>(k | a.i) </a:t>
            </a:r>
            <a:r>
              <a:rPr lang="en-US" sz="3200" b="1">
                <a:latin typeface="Bradley Hand ITC" pitchFamily="66" charset="0"/>
              </a:rPr>
              <a:t>U</a:t>
            </a:r>
            <a:r>
              <a:rPr lang="en-US" sz="2400"/>
              <a:t>(k)</a:t>
            </a:r>
          </a:p>
          <a:p>
            <a:pPr lvl="1" eaLnBrk="1" hangingPunct="1"/>
            <a:r>
              <a:rPr lang="en-US"/>
              <a:t>If </a:t>
            </a:r>
            <a:r>
              <a:rPr lang="en-US">
                <a:latin typeface="Symbol" pitchFamily="18" charset="2"/>
              </a:rPr>
              <a:t>P</a:t>
            </a:r>
            <a:r>
              <a:rPr lang="en-US"/>
              <a:t>’ = </a:t>
            </a:r>
            <a:r>
              <a:rPr lang="en-US">
                <a:latin typeface="Symbol" pitchFamily="18" charset="2"/>
              </a:rPr>
              <a:t>P</a:t>
            </a:r>
            <a:r>
              <a:rPr lang="en-US"/>
              <a:t> then return </a:t>
            </a:r>
            <a:r>
              <a:rPr lang="en-US">
                <a:latin typeface="Symbol" pitchFamily="18" charset="2"/>
              </a:rPr>
              <a:t>P</a:t>
            </a: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1431925" y="52911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th-TH" sz="240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Example: Tracking a Target</a:t>
            </a:r>
          </a:p>
        </p:txBody>
      </p:sp>
      <p:pic>
        <p:nvPicPr>
          <p:cNvPr id="59395" name="Picture 3" descr="scou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828800"/>
            <a:ext cx="191293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3657600" y="1828800"/>
            <a:ext cx="4267200" cy="4267200"/>
            <a:chOff x="2304" y="1152"/>
            <a:chExt cx="2688" cy="2688"/>
          </a:xfrm>
        </p:grpSpPr>
        <p:grpSp>
          <p:nvGrpSpPr>
            <p:cNvPr id="59404" name="Group 5"/>
            <p:cNvGrpSpPr>
              <a:grpSpLocks/>
            </p:cNvGrpSpPr>
            <p:nvPr/>
          </p:nvGrpSpPr>
          <p:grpSpPr bwMode="auto">
            <a:xfrm>
              <a:off x="2304" y="1152"/>
              <a:ext cx="2688" cy="2688"/>
              <a:chOff x="2304" y="1152"/>
              <a:chExt cx="2688" cy="2688"/>
            </a:xfrm>
          </p:grpSpPr>
          <p:sp>
            <p:nvSpPr>
              <p:cNvPr id="59407" name="Freeform 6"/>
              <p:cNvSpPr>
                <a:spLocks/>
              </p:cNvSpPr>
              <p:nvPr/>
            </p:nvSpPr>
            <p:spPr bwMode="auto">
              <a:xfrm>
                <a:off x="2304" y="2808"/>
                <a:ext cx="2688" cy="1032"/>
              </a:xfrm>
              <a:custGeom>
                <a:avLst/>
                <a:gdLst>
                  <a:gd name="T0" fmla="*/ 1056 w 2688"/>
                  <a:gd name="T1" fmla="*/ 552 h 1032"/>
                  <a:gd name="T2" fmla="*/ 1536 w 2688"/>
                  <a:gd name="T3" fmla="*/ 264 h 1032"/>
                  <a:gd name="T4" fmla="*/ 2016 w 2688"/>
                  <a:gd name="T5" fmla="*/ 264 h 1032"/>
                  <a:gd name="T6" fmla="*/ 2688 w 2688"/>
                  <a:gd name="T7" fmla="*/ 0 h 1032"/>
                  <a:gd name="T8" fmla="*/ 2688 w 2688"/>
                  <a:gd name="T9" fmla="*/ 1032 h 1032"/>
                  <a:gd name="T10" fmla="*/ 0 w 2688"/>
                  <a:gd name="T11" fmla="*/ 1032 h 1032"/>
                  <a:gd name="T12" fmla="*/ 0 w 2688"/>
                  <a:gd name="T13" fmla="*/ 456 h 1032"/>
                  <a:gd name="T14" fmla="*/ 1056 w 2688"/>
                  <a:gd name="T15" fmla="*/ 552 h 10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88"/>
                  <a:gd name="T25" fmla="*/ 0 h 1032"/>
                  <a:gd name="T26" fmla="*/ 2688 w 2688"/>
                  <a:gd name="T27" fmla="*/ 1032 h 10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88" h="1032">
                    <a:moveTo>
                      <a:pt x="1056" y="552"/>
                    </a:moveTo>
                    <a:lnTo>
                      <a:pt x="1536" y="264"/>
                    </a:lnTo>
                    <a:lnTo>
                      <a:pt x="2016" y="264"/>
                    </a:lnTo>
                    <a:lnTo>
                      <a:pt x="2688" y="0"/>
                    </a:lnTo>
                    <a:lnTo>
                      <a:pt x="2688" y="1032"/>
                    </a:lnTo>
                    <a:lnTo>
                      <a:pt x="0" y="1032"/>
                    </a:lnTo>
                    <a:lnTo>
                      <a:pt x="0" y="456"/>
                    </a:lnTo>
                    <a:lnTo>
                      <a:pt x="1056" y="552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9408" name="Rectangle 7"/>
              <p:cNvSpPr>
                <a:spLocks noChangeArrowheads="1"/>
              </p:cNvSpPr>
              <p:nvPr/>
            </p:nvSpPr>
            <p:spPr bwMode="auto">
              <a:xfrm>
                <a:off x="2304" y="1152"/>
                <a:ext cx="2688" cy="2688"/>
              </a:xfrm>
              <a:prstGeom prst="rect">
                <a:avLst/>
              </a:prstGeom>
              <a:noFill/>
              <a:ln w="57150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59409" name="Freeform 8"/>
              <p:cNvSpPr>
                <a:spLocks/>
              </p:cNvSpPr>
              <p:nvPr/>
            </p:nvSpPr>
            <p:spPr bwMode="auto">
              <a:xfrm>
                <a:off x="3744" y="2496"/>
                <a:ext cx="576" cy="576"/>
              </a:xfrm>
              <a:custGeom>
                <a:avLst/>
                <a:gdLst>
                  <a:gd name="T0" fmla="*/ 0 w 576"/>
                  <a:gd name="T1" fmla="*/ 0 h 576"/>
                  <a:gd name="T2" fmla="*/ 576 w 576"/>
                  <a:gd name="T3" fmla="*/ 0 h 576"/>
                  <a:gd name="T4" fmla="*/ 576 w 576"/>
                  <a:gd name="T5" fmla="*/ 576 h 576"/>
                  <a:gd name="T6" fmla="*/ 0 w 576"/>
                  <a:gd name="T7" fmla="*/ 576 h 576"/>
                  <a:gd name="T8" fmla="*/ 0 w 576"/>
                  <a:gd name="T9" fmla="*/ 0 h 5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6"/>
                  <a:gd name="T16" fmla="*/ 0 h 576"/>
                  <a:gd name="T17" fmla="*/ 576 w 576"/>
                  <a:gd name="T18" fmla="*/ 576 h 5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6" h="576">
                    <a:moveTo>
                      <a:pt x="0" y="0"/>
                    </a:moveTo>
                    <a:lnTo>
                      <a:pt x="576" y="0"/>
                    </a:lnTo>
                    <a:lnTo>
                      <a:pt x="576" y="576"/>
                    </a:lnTo>
                    <a:lnTo>
                      <a:pt x="0" y="5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9410" name="Freeform 9"/>
              <p:cNvSpPr>
                <a:spLocks/>
              </p:cNvSpPr>
              <p:nvPr/>
            </p:nvSpPr>
            <p:spPr bwMode="auto">
              <a:xfrm>
                <a:off x="2304" y="2592"/>
                <a:ext cx="1056" cy="768"/>
              </a:xfrm>
              <a:custGeom>
                <a:avLst/>
                <a:gdLst>
                  <a:gd name="T0" fmla="*/ 0 w 1056"/>
                  <a:gd name="T1" fmla="*/ 672 h 768"/>
                  <a:gd name="T2" fmla="*/ 1056 w 1056"/>
                  <a:gd name="T3" fmla="*/ 768 h 768"/>
                  <a:gd name="T4" fmla="*/ 720 w 1056"/>
                  <a:gd name="T5" fmla="*/ 0 h 768"/>
                  <a:gd name="T6" fmla="*/ 0 w 1056"/>
                  <a:gd name="T7" fmla="*/ 288 h 768"/>
                  <a:gd name="T8" fmla="*/ 0 w 1056"/>
                  <a:gd name="T9" fmla="*/ 672 h 7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6"/>
                  <a:gd name="T16" fmla="*/ 0 h 768"/>
                  <a:gd name="T17" fmla="*/ 1056 w 1056"/>
                  <a:gd name="T18" fmla="*/ 768 h 7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6" h="768">
                    <a:moveTo>
                      <a:pt x="0" y="672"/>
                    </a:moveTo>
                    <a:lnTo>
                      <a:pt x="1056" y="768"/>
                    </a:lnTo>
                    <a:lnTo>
                      <a:pt x="720" y="0"/>
                    </a:lnTo>
                    <a:lnTo>
                      <a:pt x="0" y="288"/>
                    </a:lnTo>
                    <a:lnTo>
                      <a:pt x="0" y="672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9411" name="Freeform 10"/>
              <p:cNvSpPr>
                <a:spLocks/>
              </p:cNvSpPr>
              <p:nvPr/>
            </p:nvSpPr>
            <p:spPr bwMode="auto">
              <a:xfrm>
                <a:off x="2304" y="1152"/>
                <a:ext cx="960" cy="960"/>
              </a:xfrm>
              <a:custGeom>
                <a:avLst/>
                <a:gdLst>
                  <a:gd name="T0" fmla="*/ 0 w 960"/>
                  <a:gd name="T1" fmla="*/ 960 h 960"/>
                  <a:gd name="T2" fmla="*/ 960 w 960"/>
                  <a:gd name="T3" fmla="*/ 960 h 960"/>
                  <a:gd name="T4" fmla="*/ 960 w 960"/>
                  <a:gd name="T5" fmla="*/ 576 h 960"/>
                  <a:gd name="T6" fmla="*/ 576 w 960"/>
                  <a:gd name="T7" fmla="*/ 576 h 960"/>
                  <a:gd name="T8" fmla="*/ 576 w 960"/>
                  <a:gd name="T9" fmla="*/ 0 h 960"/>
                  <a:gd name="T10" fmla="*/ 0 w 960"/>
                  <a:gd name="T11" fmla="*/ 0 h 960"/>
                  <a:gd name="T12" fmla="*/ 0 w 960"/>
                  <a:gd name="T13" fmla="*/ 960 h 9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0"/>
                  <a:gd name="T22" fmla="*/ 0 h 960"/>
                  <a:gd name="T23" fmla="*/ 960 w 960"/>
                  <a:gd name="T24" fmla="*/ 960 h 9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0" h="960">
                    <a:moveTo>
                      <a:pt x="0" y="960"/>
                    </a:moveTo>
                    <a:lnTo>
                      <a:pt x="960" y="960"/>
                    </a:lnTo>
                    <a:lnTo>
                      <a:pt x="960" y="576"/>
                    </a:lnTo>
                    <a:lnTo>
                      <a:pt x="576" y="576"/>
                    </a:lnTo>
                    <a:lnTo>
                      <a:pt x="576" y="0"/>
                    </a:lnTo>
                    <a:lnTo>
                      <a:pt x="0" y="0"/>
                    </a:lnTo>
                    <a:lnTo>
                      <a:pt x="0" y="96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9412" name="Freeform 11"/>
              <p:cNvSpPr>
                <a:spLocks/>
              </p:cNvSpPr>
              <p:nvPr/>
            </p:nvSpPr>
            <p:spPr bwMode="auto">
              <a:xfrm>
                <a:off x="4032" y="1536"/>
                <a:ext cx="576" cy="384"/>
              </a:xfrm>
              <a:custGeom>
                <a:avLst/>
                <a:gdLst>
                  <a:gd name="T0" fmla="*/ 192 w 576"/>
                  <a:gd name="T1" fmla="*/ 0 h 384"/>
                  <a:gd name="T2" fmla="*/ 0 w 576"/>
                  <a:gd name="T3" fmla="*/ 384 h 384"/>
                  <a:gd name="T4" fmla="*/ 576 w 576"/>
                  <a:gd name="T5" fmla="*/ 384 h 384"/>
                  <a:gd name="T6" fmla="*/ 192 w 576"/>
                  <a:gd name="T7" fmla="*/ 0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6"/>
                  <a:gd name="T13" fmla="*/ 0 h 384"/>
                  <a:gd name="T14" fmla="*/ 576 w 576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6" h="384">
                    <a:moveTo>
                      <a:pt x="192" y="0"/>
                    </a:moveTo>
                    <a:lnTo>
                      <a:pt x="0" y="384"/>
                    </a:lnTo>
                    <a:lnTo>
                      <a:pt x="576" y="384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9413" name="Oval 12"/>
              <p:cNvSpPr>
                <a:spLocks noChangeArrowheads="1"/>
              </p:cNvSpPr>
              <p:nvPr/>
            </p:nvSpPr>
            <p:spPr bwMode="auto">
              <a:xfrm>
                <a:off x="2832" y="3600"/>
                <a:ext cx="96" cy="96"/>
              </a:xfrm>
              <a:prstGeom prst="ellipse">
                <a:avLst/>
              </a:prstGeom>
              <a:solidFill>
                <a:srgbClr val="2B51F3"/>
              </a:solidFill>
              <a:ln w="9525">
                <a:solidFill>
                  <a:srgbClr val="2B51F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59414" name="Oval 13"/>
              <p:cNvSpPr>
                <a:spLocks noChangeArrowheads="1"/>
              </p:cNvSpPr>
              <p:nvPr/>
            </p:nvSpPr>
            <p:spPr bwMode="auto">
              <a:xfrm>
                <a:off x="4176" y="3360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59415" name="Freeform 14"/>
              <p:cNvSpPr>
                <a:spLocks/>
              </p:cNvSpPr>
              <p:nvPr/>
            </p:nvSpPr>
            <p:spPr bwMode="auto">
              <a:xfrm>
                <a:off x="4272" y="2736"/>
                <a:ext cx="336" cy="672"/>
              </a:xfrm>
              <a:custGeom>
                <a:avLst/>
                <a:gdLst>
                  <a:gd name="T0" fmla="*/ 0 w 336"/>
                  <a:gd name="T1" fmla="*/ 672 h 672"/>
                  <a:gd name="T2" fmla="*/ 240 w 336"/>
                  <a:gd name="T3" fmla="*/ 480 h 672"/>
                  <a:gd name="T4" fmla="*/ 336 w 336"/>
                  <a:gd name="T5" fmla="*/ 0 h 672"/>
                  <a:gd name="T6" fmla="*/ 0 60000 65536"/>
                  <a:gd name="T7" fmla="*/ 0 60000 65536"/>
                  <a:gd name="T8" fmla="*/ 0 60000 65536"/>
                  <a:gd name="T9" fmla="*/ 0 w 336"/>
                  <a:gd name="T10" fmla="*/ 0 h 672"/>
                  <a:gd name="T11" fmla="*/ 336 w 336"/>
                  <a:gd name="T12" fmla="*/ 672 h 6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6" h="672">
                    <a:moveTo>
                      <a:pt x="0" y="672"/>
                    </a:moveTo>
                    <a:cubicBezTo>
                      <a:pt x="92" y="632"/>
                      <a:pt x="184" y="592"/>
                      <a:pt x="240" y="480"/>
                    </a:cubicBezTo>
                    <a:cubicBezTo>
                      <a:pt x="296" y="368"/>
                      <a:pt x="320" y="80"/>
                      <a:pt x="336" y="0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 type="none" w="med" len="med"/>
                <a:tailEnd type="arrow" w="med" len="med"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59416" name="Freeform 15"/>
              <p:cNvSpPr>
                <a:spLocks/>
              </p:cNvSpPr>
              <p:nvPr/>
            </p:nvSpPr>
            <p:spPr bwMode="auto">
              <a:xfrm>
                <a:off x="3408" y="3168"/>
                <a:ext cx="816" cy="192"/>
              </a:xfrm>
              <a:custGeom>
                <a:avLst/>
                <a:gdLst>
                  <a:gd name="T0" fmla="*/ 816 w 816"/>
                  <a:gd name="T1" fmla="*/ 192 h 192"/>
                  <a:gd name="T2" fmla="*/ 576 w 816"/>
                  <a:gd name="T3" fmla="*/ 48 h 192"/>
                  <a:gd name="T4" fmla="*/ 0 w 816"/>
                  <a:gd name="T5" fmla="*/ 0 h 192"/>
                  <a:gd name="T6" fmla="*/ 0 60000 65536"/>
                  <a:gd name="T7" fmla="*/ 0 60000 65536"/>
                  <a:gd name="T8" fmla="*/ 0 60000 65536"/>
                  <a:gd name="T9" fmla="*/ 0 w 816"/>
                  <a:gd name="T10" fmla="*/ 0 h 192"/>
                  <a:gd name="T11" fmla="*/ 816 w 816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6" h="192">
                    <a:moveTo>
                      <a:pt x="816" y="192"/>
                    </a:moveTo>
                    <a:cubicBezTo>
                      <a:pt x="764" y="136"/>
                      <a:pt x="712" y="80"/>
                      <a:pt x="576" y="48"/>
                    </a:cubicBezTo>
                    <a:cubicBezTo>
                      <a:pt x="440" y="16"/>
                      <a:pt x="220" y="8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 type="none" w="med" len="med"/>
                <a:tailEnd type="arrow" w="med" len="med"/>
              </a:ln>
            </p:spPr>
            <p:txBody>
              <a:bodyPr wrap="none"/>
              <a:lstStyle/>
              <a:p>
                <a:endParaRPr lang="th-TH"/>
              </a:p>
            </p:txBody>
          </p:sp>
        </p:grpSp>
        <p:sp>
          <p:nvSpPr>
            <p:cNvPr id="59405" name="Text Box 16"/>
            <p:cNvSpPr txBox="1">
              <a:spLocks noChangeArrowheads="1"/>
            </p:cNvSpPr>
            <p:nvPr/>
          </p:nvSpPr>
          <p:spPr bwMode="auto">
            <a:xfrm>
              <a:off x="3936" y="3408"/>
              <a:ext cx="6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400">
                  <a:solidFill>
                    <a:srgbClr val="FF0000"/>
                  </a:solidFill>
                  <a:latin typeface="Tahoma" pitchFamily="34" charset="0"/>
                </a:rPr>
                <a:t>target</a:t>
              </a:r>
            </a:p>
          </p:txBody>
        </p:sp>
        <p:sp>
          <p:nvSpPr>
            <p:cNvPr id="59406" name="Text Box 17"/>
            <p:cNvSpPr txBox="1">
              <a:spLocks noChangeArrowheads="1"/>
            </p:cNvSpPr>
            <p:nvPr/>
          </p:nvSpPr>
          <p:spPr bwMode="auto">
            <a:xfrm>
              <a:off x="2928" y="3456"/>
              <a:ext cx="5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400">
                  <a:solidFill>
                    <a:srgbClr val="2B51F3"/>
                  </a:solidFill>
                  <a:latin typeface="Tahoma" pitchFamily="34" charset="0"/>
                </a:rPr>
                <a:t>robot</a:t>
              </a:r>
            </a:p>
          </p:txBody>
        </p:sp>
      </p:grpSp>
      <p:sp>
        <p:nvSpPr>
          <p:cNvPr id="59397" name="Text Box 18"/>
          <p:cNvSpPr txBox="1">
            <a:spLocks noChangeArrowheads="1"/>
          </p:cNvSpPr>
          <p:nvPr/>
        </p:nvSpPr>
        <p:spPr bwMode="auto">
          <a:xfrm>
            <a:off x="533400" y="4191000"/>
            <a:ext cx="3138488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>
                <a:solidFill>
                  <a:srgbClr val="990000"/>
                </a:solidFill>
                <a:latin typeface="Tahoma" pitchFamily="34" charset="0"/>
              </a:rPr>
              <a:t> The robot must keep</a:t>
            </a:r>
            <a:br>
              <a:rPr lang="en-US">
                <a:solidFill>
                  <a:srgbClr val="990000"/>
                </a:solidFill>
                <a:latin typeface="Tahoma" pitchFamily="34" charset="0"/>
              </a:rPr>
            </a:br>
            <a:r>
              <a:rPr lang="en-US">
                <a:solidFill>
                  <a:srgbClr val="990000"/>
                </a:solidFill>
                <a:latin typeface="Tahoma" pitchFamily="34" charset="0"/>
              </a:rPr>
              <a:t>   the target in view</a:t>
            </a:r>
          </a:p>
          <a:p>
            <a:pPr eaLnBrk="1" hangingPunct="1">
              <a:buFontTx/>
              <a:buChar char="•"/>
            </a:pPr>
            <a:r>
              <a:rPr lang="en-US">
                <a:solidFill>
                  <a:srgbClr val="990000"/>
                </a:solidFill>
                <a:latin typeface="Tahoma" pitchFamily="34" charset="0"/>
              </a:rPr>
              <a:t> The target’s trajectory</a:t>
            </a:r>
            <a:br>
              <a:rPr lang="en-US">
                <a:solidFill>
                  <a:srgbClr val="990000"/>
                </a:solidFill>
                <a:latin typeface="Tahoma" pitchFamily="34" charset="0"/>
              </a:rPr>
            </a:br>
            <a:r>
              <a:rPr lang="en-US">
                <a:solidFill>
                  <a:srgbClr val="990000"/>
                </a:solidFill>
                <a:latin typeface="Tahoma" pitchFamily="34" charset="0"/>
              </a:rPr>
              <a:t>   is not known in advance</a:t>
            </a:r>
          </a:p>
        </p:txBody>
      </p:sp>
      <p:grpSp>
        <p:nvGrpSpPr>
          <p:cNvPr id="59398" name="Group 19"/>
          <p:cNvGrpSpPr>
            <a:grpSpLocks/>
          </p:cNvGrpSpPr>
          <p:nvPr/>
        </p:nvGrpSpPr>
        <p:grpSpPr bwMode="auto">
          <a:xfrm>
            <a:off x="4343400" y="5562600"/>
            <a:ext cx="457200" cy="457200"/>
            <a:chOff x="2736" y="3504"/>
            <a:chExt cx="288" cy="288"/>
          </a:xfrm>
        </p:grpSpPr>
        <p:sp>
          <p:nvSpPr>
            <p:cNvPr id="59402" name="Line 20"/>
            <p:cNvSpPr>
              <a:spLocks noChangeShapeType="1"/>
            </p:cNvSpPr>
            <p:nvPr/>
          </p:nvSpPr>
          <p:spPr bwMode="auto">
            <a:xfrm>
              <a:off x="2880" y="35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9403" name="Line 21"/>
            <p:cNvSpPr>
              <a:spLocks noChangeShapeType="1"/>
            </p:cNvSpPr>
            <p:nvPr/>
          </p:nvSpPr>
          <p:spPr bwMode="auto">
            <a:xfrm rot="-5400000">
              <a:off x="2880" y="35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</p:grpSp>
      <p:grpSp>
        <p:nvGrpSpPr>
          <p:cNvPr id="59399" name="Group 22"/>
          <p:cNvGrpSpPr>
            <a:grpSpLocks/>
          </p:cNvGrpSpPr>
          <p:nvPr/>
        </p:nvGrpSpPr>
        <p:grpSpPr bwMode="auto">
          <a:xfrm>
            <a:off x="6477000" y="5181600"/>
            <a:ext cx="457200" cy="457200"/>
            <a:chOff x="2736" y="3504"/>
            <a:chExt cx="288" cy="288"/>
          </a:xfrm>
        </p:grpSpPr>
        <p:sp>
          <p:nvSpPr>
            <p:cNvPr id="59400" name="Line 23"/>
            <p:cNvSpPr>
              <a:spLocks noChangeShapeType="1"/>
            </p:cNvSpPr>
            <p:nvPr/>
          </p:nvSpPr>
          <p:spPr bwMode="auto">
            <a:xfrm>
              <a:off x="2880" y="35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59401" name="Line 24"/>
            <p:cNvSpPr>
              <a:spLocks noChangeShapeType="1"/>
            </p:cNvSpPr>
            <p:nvPr/>
          </p:nvSpPr>
          <p:spPr bwMode="auto">
            <a:xfrm rot="-5400000">
              <a:off x="2880" y="35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th-TH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Example: Tracking a Target</a:t>
            </a:r>
          </a:p>
        </p:txBody>
      </p:sp>
      <p:pic>
        <p:nvPicPr>
          <p:cNvPr id="350211" name="ser.avi">
            <a:hlinkClick r:id="" action="ppaction://media"/>
          </p:cNvPr>
          <p:cNvPicPr>
            <a:picLocks noGrp="1" noRot="1" noChangeAspect="1" noChangeArrowheads="1"/>
          </p:cNvPicPr>
          <p:nvPr>
            <p:ph sz="half" idx="1"/>
            <a:videoFile r:link="rId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1219200" y="1676400"/>
            <a:ext cx="7010400" cy="46736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02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502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50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502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0211"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Example: Tracking a Target</a:t>
            </a:r>
          </a:p>
        </p:txBody>
      </p:sp>
      <p:pic>
        <p:nvPicPr>
          <p:cNvPr id="351235" name="pla.avi">
            <a:hlinkClick r:id="" action="ppaction://media"/>
          </p:cNvPr>
          <p:cNvPicPr>
            <a:picLocks noGrp="1" noRot="1" noChangeAspect="1" noChangeArrowheads="1"/>
          </p:cNvPicPr>
          <p:nvPr>
            <p:ph sz="half" idx="2"/>
            <a:videoFile r:link="rId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914400" y="1600200"/>
            <a:ext cx="7391400" cy="49276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12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5123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51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512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1235"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Infinite Horizon</a:t>
            </a:r>
          </a:p>
        </p:txBody>
      </p:sp>
      <p:grpSp>
        <p:nvGrpSpPr>
          <p:cNvPr id="62467" name="Group 3"/>
          <p:cNvGrpSpPr>
            <a:grpSpLocks/>
          </p:cNvGrpSpPr>
          <p:nvPr/>
        </p:nvGrpSpPr>
        <p:grpSpPr bwMode="auto">
          <a:xfrm>
            <a:off x="1600200" y="4038600"/>
            <a:ext cx="2438400" cy="1828800"/>
            <a:chOff x="960" y="1152"/>
            <a:chExt cx="1536" cy="1152"/>
          </a:xfrm>
        </p:grpSpPr>
        <p:sp>
          <p:nvSpPr>
            <p:cNvPr id="62480" name="Rectangle 4"/>
            <p:cNvSpPr>
              <a:spLocks noChangeArrowheads="1"/>
            </p:cNvSpPr>
            <p:nvPr/>
          </p:nvSpPr>
          <p:spPr bwMode="auto">
            <a:xfrm>
              <a:off x="960" y="1152"/>
              <a:ext cx="153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62481" name="Line 5"/>
            <p:cNvSpPr>
              <a:spLocks noChangeShapeType="1"/>
            </p:cNvSpPr>
            <p:nvPr/>
          </p:nvSpPr>
          <p:spPr bwMode="auto">
            <a:xfrm>
              <a:off x="1344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62482" name="Line 6"/>
            <p:cNvSpPr>
              <a:spLocks noChangeShapeType="1"/>
            </p:cNvSpPr>
            <p:nvPr/>
          </p:nvSpPr>
          <p:spPr bwMode="auto">
            <a:xfrm>
              <a:off x="1728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62483" name="Line 7"/>
            <p:cNvSpPr>
              <a:spLocks noChangeShapeType="1"/>
            </p:cNvSpPr>
            <p:nvPr/>
          </p:nvSpPr>
          <p:spPr bwMode="auto">
            <a:xfrm>
              <a:off x="211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62484" name="Line 8"/>
            <p:cNvSpPr>
              <a:spLocks noChangeShapeType="1"/>
            </p:cNvSpPr>
            <p:nvPr/>
          </p:nvSpPr>
          <p:spPr bwMode="auto">
            <a:xfrm>
              <a:off x="960" y="15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62485" name="Line 9"/>
            <p:cNvSpPr>
              <a:spLocks noChangeShapeType="1"/>
            </p:cNvSpPr>
            <p:nvPr/>
          </p:nvSpPr>
          <p:spPr bwMode="auto">
            <a:xfrm>
              <a:off x="960" y="19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h-TH"/>
            </a:p>
          </p:txBody>
        </p:sp>
        <p:sp>
          <p:nvSpPr>
            <p:cNvPr id="62486" name="Rectangle 10"/>
            <p:cNvSpPr>
              <a:spLocks noChangeArrowheads="1"/>
            </p:cNvSpPr>
            <p:nvPr/>
          </p:nvSpPr>
          <p:spPr bwMode="auto">
            <a:xfrm>
              <a:off x="1344" y="1536"/>
              <a:ext cx="384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62468" name="Text Box 11"/>
          <p:cNvSpPr txBox="1">
            <a:spLocks noChangeArrowheads="1"/>
          </p:cNvSpPr>
          <p:nvPr/>
        </p:nvSpPr>
        <p:spPr bwMode="auto">
          <a:xfrm>
            <a:off x="3517900" y="4724400"/>
            <a:ext cx="41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ahoma" pitchFamily="34" charset="0"/>
              </a:rPr>
              <a:t>-1</a:t>
            </a:r>
          </a:p>
        </p:txBody>
      </p:sp>
      <p:sp>
        <p:nvSpPr>
          <p:cNvPr id="62469" name="Text Box 12"/>
          <p:cNvSpPr txBox="1">
            <a:spLocks noChangeArrowheads="1"/>
          </p:cNvSpPr>
          <p:nvPr/>
        </p:nvSpPr>
        <p:spPr bwMode="auto">
          <a:xfrm>
            <a:off x="3505200" y="4114800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009900"/>
                </a:solidFill>
                <a:latin typeface="Tahoma" pitchFamily="34" charset="0"/>
              </a:rPr>
              <a:t>+1</a:t>
            </a:r>
          </a:p>
        </p:txBody>
      </p:sp>
      <p:sp>
        <p:nvSpPr>
          <p:cNvPr id="62470" name="Text Box 13"/>
          <p:cNvSpPr txBox="1">
            <a:spLocks noChangeArrowheads="1"/>
          </p:cNvSpPr>
          <p:nvPr/>
        </p:nvSpPr>
        <p:spPr bwMode="auto">
          <a:xfrm>
            <a:off x="1219200" y="48006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62471" name="Text Box 14"/>
          <p:cNvSpPr txBox="1">
            <a:spLocks noChangeArrowheads="1"/>
          </p:cNvSpPr>
          <p:nvPr/>
        </p:nvSpPr>
        <p:spPr bwMode="auto">
          <a:xfrm>
            <a:off x="1219200" y="41910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62472" name="Text Box 15"/>
          <p:cNvSpPr txBox="1">
            <a:spLocks noChangeArrowheads="1"/>
          </p:cNvSpPr>
          <p:nvPr/>
        </p:nvSpPr>
        <p:spPr bwMode="auto">
          <a:xfrm>
            <a:off x="1219200" y="53340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62473" name="Text Box 16"/>
          <p:cNvSpPr txBox="1">
            <a:spLocks noChangeArrowheads="1"/>
          </p:cNvSpPr>
          <p:nvPr/>
        </p:nvSpPr>
        <p:spPr bwMode="auto">
          <a:xfrm>
            <a:off x="3581400" y="5867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62474" name="Text Box 17"/>
          <p:cNvSpPr txBox="1">
            <a:spLocks noChangeArrowheads="1"/>
          </p:cNvSpPr>
          <p:nvPr/>
        </p:nvSpPr>
        <p:spPr bwMode="auto">
          <a:xfrm>
            <a:off x="2971800" y="5867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3</a:t>
            </a:r>
          </a:p>
        </p:txBody>
      </p:sp>
      <p:sp>
        <p:nvSpPr>
          <p:cNvPr id="62475" name="Text Box 18"/>
          <p:cNvSpPr txBox="1">
            <a:spLocks noChangeArrowheads="1"/>
          </p:cNvSpPr>
          <p:nvPr/>
        </p:nvSpPr>
        <p:spPr bwMode="auto">
          <a:xfrm>
            <a:off x="2362200" y="5867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62476" name="Text Box 19"/>
          <p:cNvSpPr txBox="1">
            <a:spLocks noChangeArrowheads="1"/>
          </p:cNvSpPr>
          <p:nvPr/>
        </p:nvSpPr>
        <p:spPr bwMode="auto">
          <a:xfrm>
            <a:off x="1752600" y="5867400"/>
            <a:ext cx="322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ahoma" pitchFamily="34" charset="0"/>
              </a:rPr>
              <a:t>1</a:t>
            </a:r>
          </a:p>
        </p:txBody>
      </p:sp>
      <p:sp>
        <p:nvSpPr>
          <p:cNvPr id="62477" name="Text Box 20"/>
          <p:cNvSpPr txBox="1">
            <a:spLocks noChangeArrowheads="1"/>
          </p:cNvSpPr>
          <p:nvPr/>
        </p:nvSpPr>
        <p:spPr bwMode="auto">
          <a:xfrm>
            <a:off x="1143000" y="1752600"/>
            <a:ext cx="6888163" cy="204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200">
                <a:latin typeface="Tahoma" pitchFamily="34" charset="0"/>
              </a:rPr>
              <a:t>In many problems, e.g., the robot </a:t>
            </a:r>
          </a:p>
          <a:p>
            <a:pPr eaLnBrk="1" hangingPunct="1"/>
            <a:r>
              <a:rPr lang="en-US" sz="3200">
                <a:latin typeface="Tahoma" pitchFamily="34" charset="0"/>
              </a:rPr>
              <a:t>navigation example, histories are </a:t>
            </a:r>
          </a:p>
          <a:p>
            <a:pPr eaLnBrk="1" hangingPunct="1"/>
            <a:r>
              <a:rPr lang="en-US" sz="3200">
                <a:latin typeface="Tahoma" pitchFamily="34" charset="0"/>
              </a:rPr>
              <a:t>potentially unbounded and the same </a:t>
            </a:r>
          </a:p>
          <a:p>
            <a:pPr eaLnBrk="1" hangingPunct="1"/>
            <a:r>
              <a:rPr lang="en-US" sz="3200">
                <a:latin typeface="Tahoma" pitchFamily="34" charset="0"/>
              </a:rPr>
              <a:t>state can be reached many times</a:t>
            </a:r>
          </a:p>
        </p:txBody>
      </p:sp>
      <p:sp>
        <p:nvSpPr>
          <p:cNvPr id="360470" name="Text Box 22"/>
          <p:cNvSpPr txBox="1">
            <a:spLocks noChangeArrowheads="1"/>
          </p:cNvSpPr>
          <p:nvPr/>
        </p:nvSpPr>
        <p:spPr bwMode="auto">
          <a:xfrm>
            <a:off x="4800600" y="4953000"/>
            <a:ext cx="3830638" cy="1339850"/>
          </a:xfrm>
          <a:prstGeom prst="rect">
            <a:avLst/>
          </a:prstGeom>
          <a:solidFill>
            <a:srgbClr val="FAF5DE"/>
          </a:solidFill>
          <a:ln w="28575">
            <a:solidFill>
              <a:srgbClr val="99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990000"/>
                </a:solidFill>
                <a:latin typeface="Tahoma" pitchFamily="34" charset="0"/>
              </a:rPr>
              <a:t>One trick:</a:t>
            </a:r>
          </a:p>
          <a:p>
            <a:pPr eaLnBrk="1" hangingPunct="1"/>
            <a:r>
              <a:rPr lang="en-US">
                <a:solidFill>
                  <a:srgbClr val="990000"/>
                </a:solidFill>
                <a:latin typeface="Tahoma" pitchFamily="34" charset="0"/>
              </a:rPr>
              <a:t>Use discounting to make infinite</a:t>
            </a:r>
          </a:p>
          <a:p>
            <a:pPr eaLnBrk="1" hangingPunct="1"/>
            <a:r>
              <a:rPr lang="en-US">
                <a:solidFill>
                  <a:srgbClr val="990000"/>
                </a:solidFill>
                <a:latin typeface="Tahoma" pitchFamily="34" charset="0"/>
              </a:rPr>
              <a:t>Horizon problem mathematically</a:t>
            </a:r>
          </a:p>
          <a:p>
            <a:pPr eaLnBrk="1" hangingPunct="1"/>
            <a:r>
              <a:rPr lang="en-US">
                <a:solidFill>
                  <a:srgbClr val="990000"/>
                </a:solidFill>
                <a:latin typeface="Tahoma" pitchFamily="34" charset="0"/>
              </a:rPr>
              <a:t>tractible</a:t>
            </a:r>
          </a:p>
        </p:txBody>
      </p:sp>
      <p:sp>
        <p:nvSpPr>
          <p:cNvPr id="360473" name="Text Box 25"/>
          <p:cNvSpPr txBox="1">
            <a:spLocks noChangeArrowheads="1"/>
          </p:cNvSpPr>
          <p:nvPr/>
        </p:nvSpPr>
        <p:spPr bwMode="auto">
          <a:xfrm>
            <a:off x="4049713" y="4191000"/>
            <a:ext cx="5094287" cy="547688"/>
          </a:xfrm>
          <a:prstGeom prst="rect">
            <a:avLst/>
          </a:prstGeom>
          <a:solidFill>
            <a:srgbClr val="99FFCC"/>
          </a:solidFill>
          <a:ln w="28575">
            <a:solidFill>
              <a:srgbClr val="0033CC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800">
                <a:latin typeface="Tahoma" pitchFamily="34" charset="0"/>
              </a:rPr>
              <a:t>What if the robot lives forever?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70" grpId="0" animBg="1" autoUpdateAnimBg="0"/>
      <p:bldP spid="360473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POMDP </a:t>
            </a:r>
            <a:r>
              <a:rPr lang="en-US" sz="1800" b="1">
                <a:effectLst>
                  <a:outerShdw blurRad="38100" dist="38100" dir="2700000" algn="tl">
                    <a:srgbClr val="C0C0C0"/>
                  </a:outerShdw>
                </a:effectLst>
              </a:rPr>
              <a:t>(Partially Observable Markov Decision Problem)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774700" y="1828800"/>
            <a:ext cx="7680325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sz="3200">
                <a:latin typeface="Tahoma" pitchFamily="34" charset="0"/>
              </a:rPr>
              <a:t> A sensing operation returns multiple</a:t>
            </a:r>
            <a:br>
              <a:rPr lang="en-US" sz="3200">
                <a:latin typeface="Tahoma" pitchFamily="34" charset="0"/>
              </a:rPr>
            </a:br>
            <a:r>
              <a:rPr lang="en-US" sz="3200">
                <a:latin typeface="Tahoma" pitchFamily="34" charset="0"/>
              </a:rPr>
              <a:t>  states, with a probability distribution</a:t>
            </a:r>
            <a:br>
              <a:rPr lang="en-US" sz="3200">
                <a:latin typeface="Tahoma" pitchFamily="34" charset="0"/>
              </a:rPr>
            </a:br>
            <a:endParaRPr lang="en-US" sz="3200">
              <a:latin typeface="Tahoma" pitchFamily="34" charset="0"/>
            </a:endParaRPr>
          </a:p>
          <a:p>
            <a:pPr eaLnBrk="1" hangingPunct="1">
              <a:buFontTx/>
              <a:buChar char="•"/>
            </a:pPr>
            <a:r>
              <a:rPr lang="en-US" sz="3200">
                <a:latin typeface="Tahoma" pitchFamily="34" charset="0"/>
              </a:rPr>
              <a:t> Choosing the action that maximizes the</a:t>
            </a:r>
          </a:p>
          <a:p>
            <a:pPr eaLnBrk="1" hangingPunct="1"/>
            <a:r>
              <a:rPr lang="en-US" sz="3200">
                <a:latin typeface="Tahoma" pitchFamily="34" charset="0"/>
              </a:rPr>
              <a:t>  expected utility of this state distribution </a:t>
            </a:r>
            <a:br>
              <a:rPr lang="en-US" sz="3200">
                <a:latin typeface="Tahoma" pitchFamily="34" charset="0"/>
              </a:rPr>
            </a:br>
            <a:r>
              <a:rPr lang="en-US" sz="3200">
                <a:latin typeface="Tahoma" pitchFamily="34" charset="0"/>
              </a:rPr>
              <a:t>  assuming “state utilities” computed as</a:t>
            </a:r>
          </a:p>
          <a:p>
            <a:pPr eaLnBrk="1" hangingPunct="1"/>
            <a:r>
              <a:rPr lang="en-US" sz="3200">
                <a:latin typeface="Tahoma" pitchFamily="34" charset="0"/>
              </a:rPr>
              <a:t>  above is not good enough, and actually</a:t>
            </a:r>
          </a:p>
          <a:p>
            <a:pPr eaLnBrk="1" hangingPunct="1"/>
            <a:r>
              <a:rPr lang="en-US" sz="3200">
                <a:latin typeface="Tahoma" pitchFamily="34" charset="0"/>
              </a:rPr>
              <a:t>  does not make sense (is not rational)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4515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09600" y="3124200"/>
            <a:ext cx="8382000" cy="3200400"/>
          </a:xfrm>
        </p:spPr>
        <p:txBody>
          <a:bodyPr/>
          <a:lstStyle/>
          <a:p>
            <a:r>
              <a:rPr lang="en-US" sz="2000"/>
              <a:t>The agent does not necessarily know which state it is in, so it cannot execute the action </a:t>
            </a:r>
            <a:r>
              <a:rPr lang="en-US" sz="2400">
                <a:sym typeface="Symbol" pitchFamily="18" charset="2"/>
              </a:rPr>
              <a:t></a:t>
            </a:r>
            <a:r>
              <a:rPr lang="en-US" sz="2000"/>
              <a:t>(s) recommended for that state.</a:t>
            </a:r>
          </a:p>
          <a:p>
            <a:r>
              <a:rPr lang="en-US" sz="2000"/>
              <a:t>In POMDPs, the concept is refined somewhat. A belief state b is now a probability distribution over all possible states.</a:t>
            </a:r>
          </a:p>
          <a:p>
            <a:r>
              <a:rPr lang="en-US" sz="2000"/>
              <a:t>The optimal action depends only on the agent's current belief state. </a:t>
            </a:r>
          </a:p>
          <a:p>
            <a:r>
              <a:rPr lang="en-US" sz="2000"/>
              <a:t>That is, the optimal policy can be described by a mapping </a:t>
            </a:r>
            <a:r>
              <a:rPr lang="en-US" sz="2000">
                <a:sym typeface="Symbol" pitchFamily="18" charset="2"/>
              </a:rPr>
              <a:t></a:t>
            </a:r>
            <a:r>
              <a:rPr lang="en-US" sz="2000"/>
              <a:t>*(b) from belief states to actions. </a:t>
            </a:r>
          </a:p>
          <a:p>
            <a:r>
              <a:rPr lang="en-US" sz="2000"/>
              <a:t>It does not depend on the actual state the agent is in. Because the agent does not know its actual state; all it knows is the belief state.</a:t>
            </a:r>
            <a:endParaRPr lang="th-TH" sz="2000"/>
          </a:p>
        </p:txBody>
      </p:sp>
      <p:pic>
        <p:nvPicPr>
          <p:cNvPr id="645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8763"/>
            <a:ext cx="9144000" cy="286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Example: Target Tracking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800" y="1828800"/>
            <a:ext cx="7086600" cy="3086100"/>
            <a:chOff x="432" y="1152"/>
            <a:chExt cx="4464" cy="1944"/>
          </a:xfrm>
        </p:grpSpPr>
        <p:grpSp>
          <p:nvGrpSpPr>
            <p:cNvPr id="65556" name="Group 4"/>
            <p:cNvGrpSpPr>
              <a:grpSpLocks/>
            </p:cNvGrpSpPr>
            <p:nvPr/>
          </p:nvGrpSpPr>
          <p:grpSpPr bwMode="auto">
            <a:xfrm>
              <a:off x="4432" y="2160"/>
              <a:ext cx="464" cy="936"/>
              <a:chOff x="4096" y="2160"/>
              <a:chExt cx="464" cy="936"/>
            </a:xfrm>
          </p:grpSpPr>
          <p:sp>
            <p:nvSpPr>
              <p:cNvPr id="65558" name="Oval 5"/>
              <p:cNvSpPr>
                <a:spLocks noChangeArrowheads="1"/>
              </p:cNvSpPr>
              <p:nvPr/>
            </p:nvSpPr>
            <p:spPr bwMode="auto">
              <a:xfrm>
                <a:off x="4176" y="2160"/>
                <a:ext cx="384" cy="384"/>
              </a:xfrm>
              <a:prstGeom prst="ellipse">
                <a:avLst/>
              </a:prstGeom>
              <a:solidFill>
                <a:srgbClr val="FFD5D5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65559" name="Oval 6"/>
              <p:cNvSpPr>
                <a:spLocks noChangeArrowheads="1"/>
              </p:cNvSpPr>
              <p:nvPr/>
            </p:nvSpPr>
            <p:spPr bwMode="auto">
              <a:xfrm>
                <a:off x="4096" y="2760"/>
                <a:ext cx="336" cy="336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65557" name="Text Box 7"/>
            <p:cNvSpPr txBox="1">
              <a:spLocks noChangeArrowheads="1"/>
            </p:cNvSpPr>
            <p:nvPr/>
          </p:nvSpPr>
          <p:spPr bwMode="auto">
            <a:xfrm>
              <a:off x="432" y="1152"/>
              <a:ext cx="2239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ahoma" pitchFamily="34" charset="0"/>
                </a:rPr>
                <a:t>There is uncertainty</a:t>
              </a:r>
              <a:br>
                <a:rPr lang="en-US">
                  <a:latin typeface="Tahoma" pitchFamily="34" charset="0"/>
                </a:rPr>
              </a:br>
              <a:r>
                <a:rPr lang="en-US">
                  <a:latin typeface="Tahoma" pitchFamily="34" charset="0"/>
                </a:rPr>
                <a:t>in the robot’s and target’s </a:t>
              </a:r>
              <a:br>
                <a:rPr lang="en-US">
                  <a:latin typeface="Tahoma" pitchFamily="34" charset="0"/>
                </a:rPr>
              </a:br>
              <a:r>
                <a:rPr lang="en-US">
                  <a:latin typeface="Tahoma" pitchFamily="34" charset="0"/>
                </a:rPr>
                <a:t>positions, and this uncertainty</a:t>
              </a:r>
              <a:br>
                <a:rPr lang="en-US">
                  <a:latin typeface="Tahoma" pitchFamily="34" charset="0"/>
                </a:rPr>
              </a:br>
              <a:r>
                <a:rPr lang="en-US">
                  <a:latin typeface="Tahoma" pitchFamily="34" charset="0"/>
                </a:rPr>
                <a:t>grows with further motion</a:t>
              </a:r>
            </a:p>
          </p:txBody>
        </p:sp>
      </p:grpSp>
      <p:grpSp>
        <p:nvGrpSpPr>
          <p:cNvPr id="65540" name="Group 8"/>
          <p:cNvGrpSpPr>
            <a:grpSpLocks/>
          </p:cNvGrpSpPr>
          <p:nvPr/>
        </p:nvGrpSpPr>
        <p:grpSpPr bwMode="auto">
          <a:xfrm>
            <a:off x="4800600" y="2133600"/>
            <a:ext cx="3657600" cy="3657600"/>
            <a:chOff x="2688" y="1344"/>
            <a:chExt cx="2304" cy="2304"/>
          </a:xfrm>
        </p:grpSpPr>
        <p:sp>
          <p:nvSpPr>
            <p:cNvPr id="65552" name="Rectangle 9"/>
            <p:cNvSpPr>
              <a:spLocks noChangeArrowheads="1"/>
            </p:cNvSpPr>
            <p:nvPr/>
          </p:nvSpPr>
          <p:spPr bwMode="auto">
            <a:xfrm>
              <a:off x="2688" y="1344"/>
              <a:ext cx="2304" cy="23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65553" name="Rectangle 10"/>
            <p:cNvSpPr>
              <a:spLocks noChangeArrowheads="1"/>
            </p:cNvSpPr>
            <p:nvPr/>
          </p:nvSpPr>
          <p:spPr bwMode="auto">
            <a:xfrm>
              <a:off x="2688" y="2304"/>
              <a:ext cx="1344" cy="576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65554" name="Oval 11"/>
            <p:cNvSpPr>
              <a:spLocks noChangeArrowheads="1"/>
            </p:cNvSpPr>
            <p:nvPr/>
          </p:nvSpPr>
          <p:spPr bwMode="auto">
            <a:xfrm>
              <a:off x="4320" y="2304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65555" name="Oval 12"/>
            <p:cNvSpPr>
              <a:spLocks noChangeArrowheads="1"/>
            </p:cNvSpPr>
            <p:nvPr/>
          </p:nvSpPr>
          <p:spPr bwMode="auto">
            <a:xfrm>
              <a:off x="4224" y="2880"/>
              <a:ext cx="96" cy="96"/>
            </a:xfrm>
            <a:prstGeom prst="ellipse">
              <a:avLst/>
            </a:prstGeom>
            <a:solidFill>
              <a:srgbClr val="0066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1143000" y="3276600"/>
            <a:ext cx="6248400" cy="1311275"/>
            <a:chOff x="720" y="2064"/>
            <a:chExt cx="3936" cy="826"/>
          </a:xfrm>
        </p:grpSpPr>
        <p:grpSp>
          <p:nvGrpSpPr>
            <p:cNvPr id="65548" name="Group 14"/>
            <p:cNvGrpSpPr>
              <a:grpSpLocks/>
            </p:cNvGrpSpPr>
            <p:nvPr/>
          </p:nvGrpSpPr>
          <p:grpSpPr bwMode="auto">
            <a:xfrm>
              <a:off x="4320" y="2160"/>
              <a:ext cx="336" cy="672"/>
              <a:chOff x="3984" y="2160"/>
              <a:chExt cx="336" cy="672"/>
            </a:xfrm>
          </p:grpSpPr>
          <p:sp>
            <p:nvSpPr>
              <p:cNvPr id="65550" name="Line 15"/>
              <p:cNvSpPr>
                <a:spLocks noChangeShapeType="1"/>
              </p:cNvSpPr>
              <p:nvPr/>
            </p:nvSpPr>
            <p:spPr bwMode="auto">
              <a:xfrm flipH="1" flipV="1">
                <a:off x="3984" y="2160"/>
                <a:ext cx="288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th-TH"/>
              </a:p>
            </p:txBody>
          </p:sp>
          <p:sp>
            <p:nvSpPr>
              <p:cNvPr id="65551" name="Line 16"/>
              <p:cNvSpPr>
                <a:spLocks noChangeShapeType="1"/>
              </p:cNvSpPr>
              <p:nvPr/>
            </p:nvSpPr>
            <p:spPr bwMode="auto">
              <a:xfrm flipV="1">
                <a:off x="4272" y="2640"/>
                <a:ext cx="4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th-TH"/>
              </a:p>
            </p:txBody>
          </p:sp>
        </p:grpSp>
        <p:sp>
          <p:nvSpPr>
            <p:cNvPr id="65549" name="Text Box 17"/>
            <p:cNvSpPr txBox="1">
              <a:spLocks noChangeArrowheads="1"/>
            </p:cNvSpPr>
            <p:nvPr/>
          </p:nvSpPr>
          <p:spPr bwMode="auto">
            <a:xfrm>
              <a:off x="720" y="2064"/>
              <a:ext cx="2242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There is a risk that the target </a:t>
              </a:r>
            </a:p>
            <a:p>
              <a:pPr eaLnBrk="1" hangingPunct="1"/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escape behind the corner </a:t>
              </a:r>
              <a:br>
                <a:rPr lang="en-US">
                  <a:solidFill>
                    <a:srgbClr val="FF0000"/>
                  </a:solidFill>
                  <a:latin typeface="Tahoma" pitchFamily="34" charset="0"/>
                </a:rPr>
              </a:br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requiring the robot to move </a:t>
              </a:r>
              <a:br>
                <a:rPr lang="en-US">
                  <a:solidFill>
                    <a:srgbClr val="FF0000"/>
                  </a:solidFill>
                  <a:latin typeface="Tahoma" pitchFamily="34" charset="0"/>
                </a:rPr>
              </a:br>
              <a:r>
                <a:rPr lang="en-US">
                  <a:solidFill>
                    <a:srgbClr val="FF0000"/>
                  </a:solidFill>
                  <a:latin typeface="Tahoma" pitchFamily="34" charset="0"/>
                </a:rPr>
                <a:t>appropriately</a:t>
              </a:r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762000" y="4038600"/>
            <a:ext cx="7543800" cy="1997075"/>
            <a:chOff x="480" y="2544"/>
            <a:chExt cx="4752" cy="1258"/>
          </a:xfrm>
        </p:grpSpPr>
        <p:grpSp>
          <p:nvGrpSpPr>
            <p:cNvPr id="65544" name="Group 19"/>
            <p:cNvGrpSpPr>
              <a:grpSpLocks/>
            </p:cNvGrpSpPr>
            <p:nvPr/>
          </p:nvGrpSpPr>
          <p:grpSpPr bwMode="auto">
            <a:xfrm>
              <a:off x="4848" y="2544"/>
              <a:ext cx="384" cy="384"/>
              <a:chOff x="1296" y="2688"/>
              <a:chExt cx="384" cy="384"/>
            </a:xfrm>
          </p:grpSpPr>
          <p:sp>
            <p:nvSpPr>
              <p:cNvPr id="65546" name="Oval 20"/>
              <p:cNvSpPr>
                <a:spLocks noChangeArrowheads="1"/>
              </p:cNvSpPr>
              <p:nvPr/>
            </p:nvSpPr>
            <p:spPr bwMode="auto">
              <a:xfrm>
                <a:off x="1296" y="268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65547" name="Freeform 21"/>
              <p:cNvSpPr>
                <a:spLocks/>
              </p:cNvSpPr>
              <p:nvPr/>
            </p:nvSpPr>
            <p:spPr bwMode="auto">
              <a:xfrm>
                <a:off x="1424" y="2816"/>
                <a:ext cx="144" cy="96"/>
              </a:xfrm>
              <a:custGeom>
                <a:avLst/>
                <a:gdLst>
                  <a:gd name="T0" fmla="*/ 54 w 192"/>
                  <a:gd name="T1" fmla="*/ 0 h 192"/>
                  <a:gd name="T2" fmla="*/ 0 w 192"/>
                  <a:gd name="T3" fmla="*/ 48 h 192"/>
                  <a:gd name="T4" fmla="*/ 108 w 192"/>
                  <a:gd name="T5" fmla="*/ 48 h 192"/>
                  <a:gd name="T6" fmla="*/ 54 w 192"/>
                  <a:gd name="T7" fmla="*/ 0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192"/>
                  <a:gd name="T14" fmla="*/ 192 w 192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2" h="192">
                    <a:moveTo>
                      <a:pt x="96" y="0"/>
                    </a:moveTo>
                    <a:lnTo>
                      <a:pt x="0" y="192"/>
                    </a:lnTo>
                    <a:lnTo>
                      <a:pt x="192" y="192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99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h-TH"/>
              </a:p>
            </p:txBody>
          </p:sp>
        </p:grpSp>
        <p:sp>
          <p:nvSpPr>
            <p:cNvPr id="65545" name="Text Box 22"/>
            <p:cNvSpPr txBox="1">
              <a:spLocks noChangeArrowheads="1"/>
            </p:cNvSpPr>
            <p:nvPr/>
          </p:nvSpPr>
          <p:spPr bwMode="auto">
            <a:xfrm>
              <a:off x="480" y="2976"/>
              <a:ext cx="1880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solidFill>
                    <a:srgbClr val="990000"/>
                  </a:solidFill>
                  <a:latin typeface="Tahoma" pitchFamily="34" charset="0"/>
                </a:rPr>
                <a:t>But there is a positioning</a:t>
              </a:r>
              <a:br>
                <a:rPr lang="en-US">
                  <a:solidFill>
                    <a:srgbClr val="990000"/>
                  </a:solidFill>
                  <a:latin typeface="Tahoma" pitchFamily="34" charset="0"/>
                </a:rPr>
              </a:br>
              <a:r>
                <a:rPr lang="en-US">
                  <a:solidFill>
                    <a:srgbClr val="990000"/>
                  </a:solidFill>
                  <a:latin typeface="Tahoma" pitchFamily="34" charset="0"/>
                </a:rPr>
                <a:t>landmark nearby. Should</a:t>
              </a:r>
              <a:br>
                <a:rPr lang="en-US">
                  <a:solidFill>
                    <a:srgbClr val="990000"/>
                  </a:solidFill>
                  <a:latin typeface="Tahoma" pitchFamily="34" charset="0"/>
                </a:rPr>
              </a:br>
              <a:r>
                <a:rPr lang="en-US">
                  <a:solidFill>
                    <a:srgbClr val="990000"/>
                  </a:solidFill>
                  <a:latin typeface="Tahoma" pitchFamily="34" charset="0"/>
                </a:rPr>
                <a:t>the robot tries to reduce</a:t>
              </a:r>
            </a:p>
            <a:p>
              <a:pPr eaLnBrk="1" hangingPunct="1"/>
              <a:r>
                <a:rPr lang="en-US">
                  <a:solidFill>
                    <a:srgbClr val="990000"/>
                  </a:solidFill>
                  <a:latin typeface="Tahoma" pitchFamily="34" charset="0"/>
                </a:rPr>
                <a:t>position uncertainty?</a:t>
              </a:r>
            </a:p>
          </p:txBody>
        </p:sp>
      </p:grpSp>
      <p:sp>
        <p:nvSpPr>
          <p:cNvPr id="353303" name="Line 23"/>
          <p:cNvSpPr>
            <a:spLocks noChangeShapeType="1"/>
          </p:cNvSpPr>
          <p:nvPr/>
        </p:nvSpPr>
        <p:spPr bwMode="auto">
          <a:xfrm flipV="1">
            <a:off x="7467600" y="4419600"/>
            <a:ext cx="381000" cy="15240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30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Summary</a:t>
            </a:r>
          </a:p>
        </p:txBody>
      </p:sp>
      <p:sp>
        <p:nvSpPr>
          <p:cNvPr id="66563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 Decision making under uncertainty</a:t>
            </a:r>
          </a:p>
          <a:p>
            <a:pPr eaLnBrk="1" hangingPunct="1"/>
            <a:r>
              <a:rPr lang="en-US"/>
              <a:t> Utility function</a:t>
            </a:r>
          </a:p>
          <a:p>
            <a:pPr eaLnBrk="1" hangingPunct="1"/>
            <a:r>
              <a:rPr lang="en-US"/>
              <a:t> Optimal policy</a:t>
            </a:r>
          </a:p>
          <a:p>
            <a:pPr eaLnBrk="1" hangingPunct="1"/>
            <a:r>
              <a:rPr lang="en-US"/>
              <a:t> Maximal expected utility</a:t>
            </a:r>
          </a:p>
          <a:p>
            <a:pPr eaLnBrk="1" hangingPunct="1"/>
            <a:r>
              <a:rPr lang="en-US"/>
              <a:t> Value iteration</a:t>
            </a:r>
          </a:p>
          <a:p>
            <a:pPr eaLnBrk="1" hangingPunct="1"/>
            <a:r>
              <a:rPr lang="en-US"/>
              <a:t> Policy iteration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14075</TotalTime>
  <Words>4422</Words>
  <Application>Microsoft Macintosh PowerPoint</Application>
  <PresentationFormat>นำเสนอทางหน้าจอ (4:3)</PresentationFormat>
  <Paragraphs>944</Paragraphs>
  <Slides>63</Slides>
  <Notes>63</Notes>
  <HiddenSlides>0</HiddenSlides>
  <MMClips>2</MMClips>
  <ScaleCrop>false</ScaleCrop>
  <HeadingPairs>
    <vt:vector size="8" baseType="variant">
      <vt:variant>
        <vt:lpstr>ฟอนต์ที่ถูกใช้</vt:lpstr>
      </vt:variant>
      <vt:variant>
        <vt:i4>9</vt:i4>
      </vt:variant>
      <vt:variant>
        <vt:lpstr>ธีม</vt:lpstr>
      </vt:variant>
      <vt:variant>
        <vt:i4>1</vt:i4>
      </vt:variant>
      <vt:variant>
        <vt:lpstr>เซิร์ฟเวอร์ OLE ฝังตัว</vt:lpstr>
      </vt:variant>
      <vt:variant>
        <vt:i4>1</vt:i4>
      </vt:variant>
      <vt:variant>
        <vt:lpstr>ชื่อเรื่องสไลด์</vt:lpstr>
      </vt:variant>
      <vt:variant>
        <vt:i4>63</vt:i4>
      </vt:variant>
    </vt:vector>
  </HeadingPairs>
  <TitlesOfParts>
    <vt:vector size="74" baseType="lpstr">
      <vt:lpstr>Arial</vt:lpstr>
      <vt:lpstr>Bradley Hand ITC</vt:lpstr>
      <vt:lpstr>Comic Sans MS</vt:lpstr>
      <vt:lpstr>Courier New</vt:lpstr>
      <vt:lpstr>Impact</vt:lpstr>
      <vt:lpstr>Symbol</vt:lpstr>
      <vt:lpstr>Tahoma</vt:lpstr>
      <vt:lpstr>Times New Roman</vt:lpstr>
      <vt:lpstr>Wingdings</vt:lpstr>
      <vt:lpstr>Blueprint</vt:lpstr>
      <vt:lpstr>Equation</vt:lpstr>
      <vt:lpstr> Decision Making Under Uncertainty</vt:lpstr>
      <vt:lpstr>Utility-Based Agent</vt:lpstr>
      <vt:lpstr>Non-deterministic vs. Probabilistic Uncertainty</vt:lpstr>
      <vt:lpstr>Expected Utility</vt:lpstr>
      <vt:lpstr>One State/One Action Example</vt:lpstr>
      <vt:lpstr>One State/Two Actions Example</vt:lpstr>
      <vt:lpstr>Introducing Action Costs</vt:lpstr>
      <vt:lpstr>MEU Principle</vt:lpstr>
      <vt:lpstr>Not quite…</vt:lpstr>
      <vt:lpstr>We’ll look at</vt:lpstr>
      <vt:lpstr>Decision Networks</vt:lpstr>
      <vt:lpstr>Decision Networks cont.</vt:lpstr>
      <vt:lpstr>R&amp;N example</vt:lpstr>
      <vt:lpstr>Umbrella Network</vt:lpstr>
      <vt:lpstr>Evaluating Decision Networks</vt:lpstr>
      <vt:lpstr>Umbrella Network</vt:lpstr>
      <vt:lpstr>Umbrella Network</vt:lpstr>
      <vt:lpstr>Making Decision</vt:lpstr>
      <vt:lpstr>Value of Perfect Information (VPI)</vt:lpstr>
      <vt:lpstr>Umbrella Network</vt:lpstr>
      <vt:lpstr>Evidence P(R|F)</vt:lpstr>
      <vt:lpstr>Umbrella Network</vt:lpstr>
      <vt:lpstr>งานนำเสนอ PowerPoint</vt:lpstr>
      <vt:lpstr>What is the optimal decision?</vt:lpstr>
      <vt:lpstr>Optimal Decisions</vt:lpstr>
      <vt:lpstr>Umbrella Network</vt:lpstr>
      <vt:lpstr>VPI (Value of Information)</vt:lpstr>
      <vt:lpstr>Sequential Decision Making</vt:lpstr>
      <vt:lpstr>Simple Robot Navigation Problem</vt:lpstr>
      <vt:lpstr>Probabilistic Transition Model</vt:lpstr>
      <vt:lpstr>Markov Property</vt:lpstr>
      <vt:lpstr>Sequence of Actions</vt:lpstr>
      <vt:lpstr>Sequence of Actions</vt:lpstr>
      <vt:lpstr>Histories</vt:lpstr>
      <vt:lpstr>Probability of Reaching the Goal</vt:lpstr>
      <vt:lpstr>Utility Function</vt:lpstr>
      <vt:lpstr>Utility Function</vt:lpstr>
      <vt:lpstr>Utility Function</vt:lpstr>
      <vt:lpstr>Utility of a History</vt:lpstr>
      <vt:lpstr>Utility of an Action Sequence</vt:lpstr>
      <vt:lpstr>Utility of an Action Sequence</vt:lpstr>
      <vt:lpstr>Utility of an Action Sequence</vt:lpstr>
      <vt:lpstr>Optimal Action Sequence</vt:lpstr>
      <vt:lpstr>Optimal Action Sequence</vt:lpstr>
      <vt:lpstr>Reactive Agent Algorithm</vt:lpstr>
      <vt:lpstr>Policy (Reactive/Closed-Loop Strategy)</vt:lpstr>
      <vt:lpstr>Reactive Agent Algorithm</vt:lpstr>
      <vt:lpstr>Optimal Policy</vt:lpstr>
      <vt:lpstr>Optimal Policy</vt:lpstr>
      <vt:lpstr>Additive Utility</vt:lpstr>
      <vt:lpstr>Additive Utility</vt:lpstr>
      <vt:lpstr>Principle of Max Expected Utility</vt:lpstr>
      <vt:lpstr>Value Iteration</vt:lpstr>
      <vt:lpstr>Value Iteration</vt:lpstr>
      <vt:lpstr>Policy Iteration</vt:lpstr>
      <vt:lpstr>Example: Tracking a Target</vt:lpstr>
      <vt:lpstr>Example: Tracking a Target</vt:lpstr>
      <vt:lpstr>Example: Tracking a Target</vt:lpstr>
      <vt:lpstr>Infinite Horizon</vt:lpstr>
      <vt:lpstr>POMDP (Partially Observable Markov Decision Problem)</vt:lpstr>
      <vt:lpstr>งานนำเสนอ PowerPoint</vt:lpstr>
      <vt:lpstr>Example: Target Tracking</vt:lpstr>
      <vt:lpstr>Summary</vt:lpstr>
    </vt:vector>
  </TitlesOfParts>
  <Company>University of Maryland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Making Under Uncertainty</dc:title>
  <dc:creator>Lise Getoor</dc:creator>
  <dc:description>based on material from Jean-Claude Latombe, Marie desJardins, Daphne Koller</dc:description>
  <cp:lastModifiedBy>Wisit suwannao</cp:lastModifiedBy>
  <cp:revision>275</cp:revision>
  <cp:lastPrinted>1601-01-01T00:00:00Z</cp:lastPrinted>
  <dcterms:created xsi:type="dcterms:W3CDTF">2000-01-10T15:15:18Z</dcterms:created>
  <dcterms:modified xsi:type="dcterms:W3CDTF">2026-10-28T08:44:40Z</dcterms:modified>
</cp:coreProperties>
</file>